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74720" cy="685800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55680" y="0"/>
            <a:ext cx="1097280" cy="685800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14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DC9E5"/>
                </a:solidFill>
                <a:latin typeface="Consolas"/>
              </a:rPr>
              <a:t>TVS CREDIT EPIC 8.0  ·  IT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7863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AI-Powered Smart</a:t>
            </a:r>
            <a:br/>
            <a:r>
              <a:rPr sz="4400" b="1">
                <a:solidFill>
                  <a:srgbClr val="FFFFFF"/>
                </a:solidFill>
                <a:latin typeface="Georgia"/>
              </a:rPr>
              <a:t>Lending Decision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611880"/>
            <a:ext cx="7589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6E4F2"/>
                </a:solidFill>
                <a:latin typeface="Segoe UI"/>
              </a:rPr>
              <a:t>An integrated lending platform for agriculture-based customers — satellite, weather and crop intelligence, AI credit scoring, fraud detection, a recommendation engine, default prediction, a GenAI assistant, real-time risk dashboards, and early warning for defaulters.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5257800"/>
            <a:ext cx="7589520" cy="95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8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P0 platform → P7 interfaces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23 packages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63,000 lines, stdlib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2,318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green, every commit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4864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16.8M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577900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real loan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PROBLEM BEHIND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A3A68"/>
                </a:solidFill>
                <a:latin typeface="Georgia"/>
              </a:rPr>
              <a:t>A lending model is easy to build</a:t>
            </a:r>
            <a:br/>
            <a:r>
              <a:rPr sz="3000" b="1">
                <a:solidFill>
                  <a:srgbClr val="0A3A68"/>
                </a:solidFill>
                <a:latin typeface="Georgia"/>
              </a:rPr>
              <a:t>and hard to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594360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0">
                <a:solidFill>
                  <a:srgbClr val="101828"/>
                </a:solidFill>
                <a:latin typeface="Segoe UI"/>
              </a:rPr>
              <a:t>Any team can produce a credit score in a weekend. The score is not the hard part — knowing whether you are allowed to believe it is.</a:t>
            </a:r>
          </a:p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16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plausible-looking cutoff that nobody ratified survives code review, ships, and is still in a report a year later. An agri model validated on the wrong agro-zone looks identical to one validated correctly. A default model scored on the window it was trained on reports excellent numbers and fails in production.</a:t>
            </a:r>
          </a:p>
          <a:p>
            <a:pPr algn="l">
              <a:lnSpc>
                <a:spcPct val="14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So this build inverts the usual priority. Every number must trace to one of three sources, and code that cannot find one refuses to run rather than guessing.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148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THE GROUNDING CONTRACT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560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[SPEC]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560320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Written in the specification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75204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formula, a threshold the document fixes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3163824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331012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[DATA]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310128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Computed by a committed 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525012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Rerunnable, versioned, auditable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3913632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40599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[POLICY]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059936"/>
            <a:ext cx="37490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Supplied by a named committee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274820"/>
            <a:ext cx="37490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In writing, with an owner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4663440"/>
            <a:ext cx="457200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0" y="5029200"/>
            <a:ext cx="4572000" cy="96012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5029200"/>
            <a:ext cx="36576" cy="96012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8" y="5148072"/>
            <a:ext cx="418795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Anything else is a build failure. A grounding check scans 350 files on every commit and fails the build on an ungrounded value.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A3A68"/>
                </a:solidFill>
                <a:latin typeface="Georgia"/>
              </a:rPr>
              <a:t>What breaks today, for the farmer</a:t>
            </a:r>
            <a:br/>
            <a:r>
              <a:rPr sz="3000" b="1">
                <a:solidFill>
                  <a:srgbClr val="0A3A68"/>
                </a:solidFill>
                <a:latin typeface="Georgia"/>
              </a:rPr>
              <a:t>and for the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031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Agricultural lending fails on both sides at once, and the two failures cause each other: thin files make banks cautious, and caution pushes farmers to informal credit that leaves no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974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D4A85"/>
                </a:solidFill>
                <a:latin typeface="Consolas"/>
              </a:rPr>
              <a:t>FOR THE CUSTOMER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45536"/>
            <a:ext cx="27432" cy="5486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090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No credit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33756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Income is seasonal and in cash. A bureau score either does not exist or describes someone else's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32504"/>
            <a:ext cx="27432" cy="5486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97764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Weeks to a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224528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Manual field visits and paper appraisal. The sowing window closes while the file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919472"/>
            <a:ext cx="27432" cy="5486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86460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No explanation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11149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A rejection arrives without a reason the borrower can act on, so nothing improves before the next application.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806440"/>
            <a:ext cx="27432" cy="5486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75157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Wrong product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99846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A tenor that ignores the harvest calendar turns a good borrower into a delinquent 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6208" y="26974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54708"/>
                </a:solidFill>
                <a:latin typeface="Consolas"/>
              </a:rPr>
              <a:t>FOR THE BANK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145536"/>
            <a:ext cx="27432" cy="5486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0906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Thin-file underwriting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3337560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Traditional scorecards have little signal, so good farmers are declined alongside bad ones.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6208" y="4032504"/>
            <a:ext cx="27432" cy="5486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397764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Unverifiable collateral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224528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Land records and actual cultivation disagree, and a field visit costs more than the loan earns.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4919472"/>
            <a:ext cx="27432" cy="5486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864608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Fraud rings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511149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Shared devices, addresses and accounts across applications that look independent one at a time.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806440"/>
            <a:ext cx="27432" cy="5486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575157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1828"/>
                </a:solidFill>
                <a:latin typeface="Segoe UI"/>
              </a:rPr>
              <a:t>Late warning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5998464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Distress is visible in behaviour months before a missed EMI, and nobody is watching for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HOW THE PLATFORM ANSWERS EACH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Every problem maps to a module that exists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No credit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83080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Satellite + weather + crop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39112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SPI/SPEI drought indices and vegetation time series make the land itself the evidence when the bureau has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178308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M1 · agri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24328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78608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Weeks to a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578608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Scoring in the serving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3464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A scorecard and a GBM challenger behind one orchestrator, with SHAP reason codes attached to the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257860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M2 · scoring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419856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374136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Fraud rings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374136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Entity resolution and community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630168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Shared phone, device, address and account edges; Louvain finds the dense cluster that no single application shows.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337413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M3 · fraud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215384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169664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Wrong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69664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Feasible set before 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425696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The bandit may only choose inside what policy already permits — affordability is a constraint, never a suggestion.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4169664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M4 · reco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10912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96519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No explanation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965192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Templated reasons and a grounded assistant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22122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Answers carry citations or are refused; decision explanations are selected from approved templates, never composed.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965192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M6 · assistant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806440"/>
            <a:ext cx="27432" cy="603504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7607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C93"/>
                </a:solidFill>
                <a:latin typeface="Segoe UI"/>
              </a:rPr>
              <a:t>Late warning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760720"/>
            <a:ext cx="72237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Change-point detection on behaviour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016752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86% of defaults caught a median 365 days early, measured on 338,210 real account-months.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576072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D4A85"/>
                </a:solidFill>
                <a:latin typeface="Consolas"/>
              </a:rPr>
              <a:t>M8 · ews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One application,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Every step writes to the decision log, and every model-derived value carries its model id, version and decision-log reference the whole way to the screen.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APPLY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Customer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KYC, consent, documents. The consent artifact is logged with the same rigour as the credit decision.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0864" y="338328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DC9E5"/>
                </a:solidFill>
                <a:latin typeface="Segoe UI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8024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78024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24328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4328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ENRICH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4328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agri · bureau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4328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Plot polygon, drought index, vegetation series, bureau pull, cash-flow summary.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38328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DC9E5"/>
                </a:solidFill>
                <a:latin typeface="Segoe U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4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4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4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fraud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4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Entity resolution across phone, device, address; velocity and anomaly layers; graph communities.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38328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DC9E5"/>
                </a:solidFill>
                <a:latin typeface="Segoe U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17336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7336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Scorecard and GBM challenger; SHAP reason codes; the policy band decides approve, review or decline.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9832" y="338328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DC9E5"/>
                </a:solidFill>
                <a:latin typeface="Segoe UI"/>
              </a:rPr>
              <a:t>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36992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36992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83296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83296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OFFER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6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reco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83296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Feasible set from ratified caps, ALM pricing, then the bandit ranks inside what policy permits.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19488" y="338328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DC9E5"/>
                </a:solidFill>
                <a:latin typeface="Segoe UI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756648" y="2331720"/>
            <a:ext cx="1673352" cy="22860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56648" y="2331720"/>
            <a:ext cx="1673352" cy="41148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02952" y="253288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66A3"/>
                </a:solidFill>
                <a:latin typeface="Consolas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2952" y="2807208"/>
            <a:ext cx="139903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3A68"/>
                </a:solidFill>
                <a:latin typeface="Georgia"/>
              </a:rPr>
              <a:t>MONITOR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02952" y="3081528"/>
            <a:ext cx="13990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C93"/>
                </a:solidFill>
                <a:latin typeface="Consolas"/>
              </a:rPr>
              <a:t>portfolio · 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02952" y="3355848"/>
            <a:ext cx="1399032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467"/>
                </a:solidFill>
                <a:latin typeface="Segoe UI"/>
              </a:rPr>
              <a:t>PD/LGD/EAD re-estimated monthly; change-point detection on behaviour raises alerts with an owner.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4892040"/>
            <a:ext cx="10881360" cy="86868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" y="4892040"/>
            <a:ext cx="36576" cy="86868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010912"/>
            <a:ext cx="1049731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 gateway is the only thing the interfaces talk to — never a model service directly. A response that renders a score without its model id and version is rejected by the client rather than displayed, so an unattributable number cannot reach a screen.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5897880"/>
            <a:ext cx="10881360" cy="658368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" y="5897880"/>
            <a:ext cx="36576" cy="658368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9536" y="6016752"/>
            <a:ext cx="1049731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Where a step needs a value nobody has ratified, it stops and names the ticket and its owner. Seventeen of the gateway's twenty-one routes do exactly that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Every module in the brief,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Eight phases, twenty-three packages. The core is standard-library Python throughout — every algorithm is a reference port naming the library it replaces, so a bank swaps in LightGBM or lifelines behind the same interface without touching a call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9748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DECISIONING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127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312724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Credit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WoE scorecard + GBM challenger, SHAP reasons, fairness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730752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2793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427939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Fraud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449427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Entity resolution, velocity, anomaly, documents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88289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5431536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Recommendations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564642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Feasible set, ALM pricing, LinUCB bandit, suitability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035040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1" y="269748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RISK &amp; AGRICULTURE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1" y="3127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1" y="312724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Agri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3791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SPI/SPEI drought, NDVI/EVI, plot registry, yield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1" y="3730752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0831" y="42793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791" y="427939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Portfolio brain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1" y="449427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PD/LGD/EAD, Cox &amp; discrete hazard, IFRS 9 staging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1" y="488289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1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1" y="5431536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Early 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1" y="564642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Signals, velocity, BOCPD change-point, routing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70831" y="6035040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83294" y="2697480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83294" y="3127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254" y="312724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GenAI assistant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6254" y="334213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Hybrid retrieval, citation contract, validator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4" y="3730752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42793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4" y="427939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Learning loops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4" y="449427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Promotion gate, uplift, off-policy, Louvain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83294" y="4882896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294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254" y="5431536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Interfaces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06254" y="564642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Officer workbench, collections console, dashboards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83294" y="6035040"/>
            <a:ext cx="33832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Three tracks, one interface — and only one 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This repository has no bank attached. Pretending otherwise is the easiest way to produce a number that looks like evidence and is not. So every figure in every report is stamped with the track that produced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514600"/>
            <a:ext cx="3383280" cy="25146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514600"/>
            <a:ext cx="3383280" cy="36576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D4A85"/>
                </a:solidFill>
                <a:latin typeface="Consolas"/>
              </a:rPr>
              <a:t>TRACK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Local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Runs on a laptop, stdlib-only, on synthetic fixtures. Proves the code paths: joins, point-in-time correctness, the serving path, audit arithmetic.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1" y="2514600"/>
            <a:ext cx="3383280" cy="25146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2514600"/>
            <a:ext cx="3383280" cy="36576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67647"/>
                </a:solidFill>
                <a:latin typeface="Consolas"/>
              </a:rPr>
              <a:t>TRACK 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Public reference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Real loans, real applications. Proves the code survives what fixtures cannot simulate — real missingness, real class imbalance, real key defects. Real data, but not this bank's.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4" y="2514600"/>
            <a:ext cx="3383280" cy="2514600"/>
          </a:xfrm>
          <a:prstGeom prst="rect">
            <a:avLst/>
          </a:prstGeom>
          <a:noFill/>
          <a:ln w="9525">
            <a:solidFill>
              <a:srgbClr val="DB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4" y="2514600"/>
            <a:ext cx="3383280" cy="36576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4" y="272491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54708"/>
                </a:solidFill>
                <a:latin typeface="Consolas"/>
              </a:rPr>
              <a:t>TRACK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4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1828"/>
                </a:solidFill>
                <a:latin typeface="Georgia"/>
              </a:rPr>
              <a:t>Bank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4" y="3401568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Same interfaces, real backends. The only track that is gate evidence. A Gini on US consumer loans is a fact about US consumer lending.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349240"/>
            <a:ext cx="10881360" cy="96012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349240"/>
            <a:ext cx="36576" cy="96012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468112"/>
            <a:ext cx="10497312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 join rate computed on fixtures is a test of the audit script. A capture rate on a public mortgage panel is a fact about US mortgages. Both are useful. Neither is a gate number, and the reports say so on every 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TRACK P RESULTS  ·  REAL PUBLIC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What the pipelines actually produce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Two full pipelines run end to end on real datasets: 150,000 real credit applications, and a 19-year mortgage panel of 16.8 million performance 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2860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4768" y="2286000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286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TEST GINI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19488" y="2286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TEST 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560320"/>
            <a:ext cx="10789920" cy="12700"/>
          </a:xfrm>
          <a:prstGeom prst="rect">
            <a:avLst/>
          </a:prstGeom>
          <a:solidFill>
            <a:srgbClr val="B9C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7066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WoE scorecard  (champion)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58768" y="27066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Home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7066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150,000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27066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46.86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70662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0.7343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17520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08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GBM  (challenger)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3108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Home 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150,000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108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51.94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3108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0.7597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3419856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51129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Discrete-time hazard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8768" y="35112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Fannie Mae panel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351129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338,210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0688" y="3511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3511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0.6127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3822192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136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Cox proportional hazards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8768" y="3913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Fannie Mae panel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391363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338,210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913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c-idx 0.6967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9488" y="3913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01828"/>
                </a:solidFill>
                <a:latin typeface="Consolas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24528"/>
            <a:ext cx="107899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4480560"/>
            <a:ext cx="10881360" cy="86868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" y="4480560"/>
            <a:ext cx="36576" cy="86868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599432"/>
            <a:ext cx="1049731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 GBM's train Gini is 57.79 against a test Gini of 51.94. That gap is reported rather than tuned away — a challenger whose train and test numbers match exactly has usually been fitted to its own test set.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532120"/>
            <a:ext cx="10881360" cy="68580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532120"/>
            <a:ext cx="36576" cy="68580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536" y="5650992"/>
            <a:ext cx="10497312" cy="448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These are Track P numbers: real loans, real missingness, and not this bank's book. Evidence about the implementation, not gate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EARLY WARNING  ·  THE QUESTION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3A68"/>
                </a:solidFill>
                <a:latin typeface="Georgia"/>
              </a:rPr>
              <a:t>Does deterioration precede default, and by how long?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65960"/>
            <a:ext cx="56692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 early-warning system rests on one premise: an account in trouble shows it before it misses a payment. That premise is testable, and it was tested — on 338,210 real account-months, scoring only the 101 defaults the detector could actually have reached.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At the 95th-percentile threshold the detector catches 86% of reachable defaults with a median lead time of one full year. Tighten to the 99th and capture collapses to 56% — the curve is the operating decision, and it belongs to the Collections Head.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572000"/>
            <a:ext cx="5669280" cy="150876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4572000"/>
            <a:ext cx="36576" cy="150876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90872"/>
            <a:ext cx="5285232" cy="1271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 correction to our own work. The first run reported 11% capture. 726 of 827 defaults fell before the detector's first scoreable snapshot — the number was measuring the train/test split, not the detector. Scoring only reachable defaults moved it 8×.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73736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CAPTURE RATE BY ALERT THRESHOLD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2309683"/>
            <a:ext cx="749808" cy="2582357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2035363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91.1%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562d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6" y="2451415"/>
            <a:ext cx="749808" cy="24406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9016" y="2177095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86.1%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9016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365d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1744" y="2561966"/>
            <a:ext cx="749808" cy="2330074"/>
          </a:xfrm>
          <a:prstGeom prst="rect">
            <a:avLst/>
          </a:prstGeom>
          <a:solidFill>
            <a:srgbClr val="4A8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44584" y="2287646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82.2%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44584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183d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97312" y="3293304"/>
            <a:ext cx="749808" cy="1598736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60152" y="3018984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3A68"/>
                </a:solidFill>
                <a:latin typeface="Consolas"/>
              </a:rPr>
              <a:t>56.4%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0152" y="4946904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Consolas"/>
              </a:rPr>
              <a:t>p99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0152" y="5166360"/>
            <a:ext cx="10241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153d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4892040"/>
            <a:ext cx="4754880" cy="12700"/>
          </a:xfrm>
          <a:prstGeom prst="rect">
            <a:avLst/>
          </a:prstGeom>
          <a:solidFill>
            <a:srgbClr val="B9C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545896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Median lead time to default  ·  Track P  ·  Fannie Mae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THE DIFFERENTIATOR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The system refuses to invent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91640"/>
            <a:ext cx="32004" cy="77724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916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0A3A68"/>
                </a:solidFill>
                <a:latin typeface="Georgia"/>
              </a:rPr>
              <a:t>“A plausible-looking invented cutoff is worse than a build failure, because it survives review.”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The working agreement, enforced by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697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These are not error states. Each is a place where a default value would have become the production value, because nobody ever passed the argument.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3649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33649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expected_income()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579876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Without ratified input costs, the sign of the answer on a smallholder plot is unknown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1148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411480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area_hectares raises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43296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nominal area around a village centroid is not a plot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71830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81328" y="486460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Reward.blended() raises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5079492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bandit rewarded on take-up alone learns to mis-sell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468112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3649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364992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No sentence composed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579876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No code path writes an adverse-action sentence; templates are selected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968496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11480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114800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estimate_uplift() raises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29684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Uplift from an unrandomised log is not a worse estimate — it is a different quantity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18304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P7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86460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No demo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5079492"/>
            <a:ext cx="4389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A fabricated score is indistinguishable from a real one in a screenshot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468112"/>
            <a:ext cx="521208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669280"/>
            <a:ext cx="10881360" cy="777240"/>
          </a:xfrm>
          <a:prstGeom prst="rect">
            <a:avLst/>
          </a:prstGeom>
          <a:solidFill>
            <a:srgbClr val="FD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5669280"/>
            <a:ext cx="36576" cy="777240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788152"/>
            <a:ext cx="10497312" cy="539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98 blocking tickets are registered, each with a named owner and the exact decision required. That register is the honest project plan: it says what a bank must decide before any of this scores a real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Guarantees held by the type system, not by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rule enforced by a code-review comment is a rule that lapses the first busy week. These are enforced by constructors, so the dangerous state cannot be represented at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Bandit propensity completeness — a decision cannot be constructed without one, so off-policy evaluation stays possible later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Uncited numeric claims — the validated answer is the only servable type and strips them before the object exists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2468880"/>
            <a:ext cx="2514600" cy="25603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67647"/>
                </a:solidFill>
                <a:latin typeface="Georgia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Fabricated values served by the API gateway — every route either computes or refuses with a 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468880"/>
            <a:ext cx="2514600" cy="25603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0264" y="259689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D4A85"/>
                </a:solidFill>
                <a:latin typeface="Georgia"/>
              </a:rPr>
              <a:t>2,318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312724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Tests green on every commit, alongside grounding and schema-compatibility gates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709160"/>
            <a:ext cx="10881360" cy="82296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709160"/>
            <a:ext cx="36576" cy="82296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28032"/>
            <a:ext cx="10497312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An alert cannot exist without an owner, an SLA and a recommended action — because an alert missing any of the three is a notification, and the difference stops being visible once it is in a queue.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715000"/>
            <a:ext cx="10881360" cy="731520"/>
          </a:xfrm>
          <a:prstGeom prst="rect">
            <a:avLst/>
          </a:prstGeom>
          <a:solidFill>
            <a:srgbClr val="EE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715000"/>
            <a:ext cx="36576" cy="73152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833872"/>
            <a:ext cx="1049731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The frontend cannot compute an EMI: a build gate fails the project if any screen does arithmetic on a money figure. Every number on screen arrives from the backend carrying its model id and version.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WHAT BUILDING IT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82 findings raised against the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Building against a document is the only reliable way to test it. Each finding is a place where the specification read as complete until code had to produce a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P4-F1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2331720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The change-point instruction names a quantity that is identically the hazard rate under constant hazard — it detects nothing, on any data. The real signal is one index 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233172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Correction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044952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1729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P6-F1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72968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Uplift from observational logs is unidentifiable, not merely unmeasured — more data narrows the interval around a biased number, turning visible uncertainty into invisible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317296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86200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01421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P7-F1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4014216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The frontend phase cites SRS §11.4–§11.8 and UX-1…UX-9 as binding. None exists. The screen inventory it depends on is unrecoverable.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401421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Document defect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727448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8554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P5-F2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8488" y="4855464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Effective dates cannot express partial supersession — two circulars in force, one amending the other in part. Both pass the filter; the model picks.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8554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Gap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568696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69671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D4A85"/>
                </a:solidFill>
                <a:latin typeface="Consolas"/>
              </a:rPr>
              <a:t>P4-F11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5696712"/>
            <a:ext cx="75895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Segoe UI"/>
              </a:rPr>
              <a:t>A correction to our own first result: capture was scored against defaults the detector could never have reached, measuring the split rather than the model.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56967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C93"/>
                </a:solidFill>
                <a:latin typeface="Consolas"/>
              </a:rPr>
              <a:t>Self-correction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409944"/>
            <a:ext cx="1088136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IT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A working stack,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57607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A standard-library HTTP gateway serves the interface surfaces. Four routes return values computed by the engines; seventeen return a structured refusal naming the ticket, its owner and the reason.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The frontend is Next.js and TypeScript, and the attribution triplet is a type: a component cannot be handed a score that does not carry its model id, model version and decision-log reference. The client throws rather than render an unattributable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343400"/>
            <a:ext cx="5760720" cy="169164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4343400"/>
            <a:ext cx="36576" cy="169164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462272"/>
            <a:ext cx="5376672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Verified end to end, not asserted: a headless browser loads the officer queue, the gateway logs the request, and the refusal renders with its ticket and owner. A computed instalment of ₹11,248.97 travels client → HTTP → the pricing engine.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737360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VERIFICATION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488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148840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363724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grounding + registry + 2,318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2752344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93522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935224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gate1…gate6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0108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six evidence packs, generated never written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538728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721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721608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trackp-p1/p3/p4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36492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full pipelines on real public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4325112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450799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make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507992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demo5 / demo6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722876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the assistant controls, and the learning loops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5111496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52943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D4A85"/>
                </a:solidFill>
                <a:latin typeface="Consolas"/>
              </a:rPr>
              <a:t>npm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294376"/>
            <a:ext cx="4023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01828"/>
                </a:solidFill>
                <a:latin typeface="Segoe UI"/>
              </a:rPr>
              <a:t>run 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550926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Segoe UI"/>
              </a:rPr>
              <a:t>typecheck · lint · no-client-math · contracts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0840" y="5897880"/>
            <a:ext cx="4846320" cy="9525"/>
          </a:xfrm>
          <a:prstGeom prst="rect">
            <a:avLst/>
          </a:prstGeom>
          <a:solidFill>
            <a:srgbClr val="DB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38404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C93"/>
                </a:solidFill>
                <a:latin typeface="Consolas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166A3"/>
                </a:solidFill>
                <a:latin typeface="Consolas"/>
              </a:rPr>
              <a:t>STATUS,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A3A68"/>
                </a:solidFill>
                <a:latin typeface="Georgia"/>
              </a:rPr>
              <a:t>Zero of thirty-one exit criteria have gate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Segoe UI"/>
              </a:rPr>
              <a:t>This is the slide most decks leave out. Every phase gate reports Track B evidence: 0 — because Track B is a bank deployment, and there is no bank attached. Saying so is the point.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1 · credit scoring &amp; fraud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2 · agri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3 · portfolio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0264" y="2377440"/>
            <a:ext cx="2514600" cy="25603"/>
          </a:xfrm>
          <a:prstGeom prst="rect">
            <a:avLst/>
          </a:prstGeom>
          <a:solidFill>
            <a:srgbClr val="B547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0264" y="2505456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708"/>
                </a:solidFill>
                <a:latin typeface="Georgia"/>
              </a:rPr>
              <a:t>0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3035808"/>
            <a:ext cx="25146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467"/>
                </a:solidFill>
                <a:latin typeface="Segoe UI"/>
              </a:rPr>
              <a:t>Phase 4 · EWS &amp; recommendations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49039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C93"/>
                </a:solidFill>
                <a:latin typeface="Consolas"/>
              </a:rPr>
              <a:t>THREE GATE STATES, NOT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0624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Not measured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423367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the job has not run — a scheduling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91947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Not 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494690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no reachable data produces it — a sourcing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632704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1828"/>
                </a:solidFill>
                <a:latin typeface="Segoe UI"/>
              </a:rPr>
              <a:t>Unidentifiable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5660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75467"/>
                </a:solidFill>
                <a:latin typeface="Segoe UI"/>
              </a:rPr>
              <a:t>no quantity of data produces it — a design problem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49039"/>
            <a:ext cx="5120640" cy="2103120"/>
          </a:xfrm>
          <a:prstGeom prst="rect">
            <a:avLst/>
          </a:prstGeom>
          <a:solidFill>
            <a:srgbClr val="E8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749039"/>
            <a:ext cx="36576" cy="2103120"/>
          </a:xfrm>
          <a:prstGeom prst="rect">
            <a:avLst/>
          </a:prstGeom>
          <a:solidFill>
            <a:srgbClr val="067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867911"/>
            <a:ext cx="4736592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Segoe UI"/>
              </a:rPr>
              <a:t>What this buys a bank. The boundary is explicit and reviewable. Every deterministic computation in the programme is built and tested; every blocked value has a named owner and a ticket. Nothing has to be unpicked later because someone guessed — the guesses were never made.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A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74720" cy="6858000"/>
          </a:xfrm>
          <a:prstGeom prst="rect">
            <a:avLst/>
          </a:prstGeom>
          <a:solidFill>
            <a:srgbClr val="0D4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155680" y="0"/>
            <a:ext cx="1097280" cy="6858000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DC9E5"/>
                </a:solidFill>
                <a:latin typeface="Consolas"/>
              </a:rPr>
              <a:t>WHY THIS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83080"/>
            <a:ext cx="7772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 model that cannot say what</a:t>
            </a:r>
            <a:br/>
            <a:r>
              <a:rPr sz="3400" b="1">
                <a:solidFill>
                  <a:srgbClr val="FFFFFF"/>
                </a:solidFill>
                <a:latin typeface="Georgia"/>
              </a:rPr>
              <a:t>it does not know is a 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49039"/>
            <a:ext cx="75895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6E4F2"/>
                </a:solidFill>
                <a:latin typeface="Segoe UI"/>
              </a:rPr>
              <a:t>Lending is a regulated activity. A number on a screen becomes a number in a complaint, a number in an audit, and a number in front of a regulator. This build is engineered so every one of those numbers traces to the script that produced it — or does not appear at 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5212080"/>
            <a:ext cx="7589520" cy="9525"/>
          </a:xfrm>
          <a:prstGeom prst="rect">
            <a:avLst/>
          </a:prstGeom>
          <a:solidFill>
            <a:srgbClr val="2166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Refuses, not defaults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Missing policy raises an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896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Stamped,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Every figure names its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Ported, not invented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Each algorithm cites its paper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Registered, not hidden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574243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DC9E5"/>
                </a:solidFill>
                <a:latin typeface="Consolas"/>
              </a:rPr>
              <a:t>98 tickets, each with an owner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Smart Lending Decision Hub</dc:title>
  <dc:subject>TVS Credit EPIC 8.0 IT Challenge</dc:subject>
  <dc:creator/>
  <cp:keywords/>
  <dc:description>Figures from committed, rerunnable scripts. Track P results are on public reference data and are not gate evidence for any bank.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