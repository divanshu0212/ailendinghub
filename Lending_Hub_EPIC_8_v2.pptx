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3A6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778240" y="0"/>
            <a:ext cx="3474720" cy="685800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11155680" y="0"/>
            <a:ext cx="1097280" cy="685800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914400"/>
            <a:ext cx="7863840" cy="274320"/>
          </a:xfrm>
          <a:prstGeom prst="rect">
            <a:avLst/>
          </a:prstGeom>
          <a:noFill/>
        </p:spPr>
        <p:txBody>
          <a:bodyPr wrap="square" lIns="0" rIns="0" tIns="0" bIns="0">
            <a:spAutoFit/>
          </a:bodyPr>
          <a:lstStyle/>
          <a:p>
            <a:pPr algn="l">
              <a:lnSpc>
                <a:spcPct val="100000"/>
              </a:lnSpc>
              <a:spcBef>
                <a:spcPts val="0"/>
              </a:spcBef>
              <a:spcAft>
                <a:spcPts val="0"/>
              </a:spcAft>
            </a:pPr>
            <a:r>
              <a:rPr sz="1100" b="0">
                <a:solidFill>
                  <a:srgbClr val="ADC9E5"/>
                </a:solidFill>
                <a:latin typeface="Consolas"/>
              </a:rPr>
              <a:t>TVS CREDIT EPIC 8.0  ·  IT CHALLENGE</a:t>
            </a:r>
          </a:p>
        </p:txBody>
      </p:sp>
      <p:sp>
        <p:nvSpPr>
          <p:cNvPr id="6" name="TextBox 5"/>
          <p:cNvSpPr txBox="1"/>
          <p:nvPr/>
        </p:nvSpPr>
        <p:spPr>
          <a:xfrm>
            <a:off x="658368" y="1417320"/>
            <a:ext cx="7863840" cy="2011680"/>
          </a:xfrm>
          <a:prstGeom prst="rect">
            <a:avLst/>
          </a:prstGeom>
          <a:noFill/>
        </p:spPr>
        <p:txBody>
          <a:bodyPr wrap="square" lIns="0" rIns="0" tIns="0" bIns="0">
            <a:spAutoFit/>
          </a:bodyPr>
          <a:lstStyle/>
          <a:p>
            <a:pPr algn="l">
              <a:lnSpc>
                <a:spcPct val="98000"/>
              </a:lnSpc>
              <a:spcBef>
                <a:spcPts val="0"/>
              </a:spcBef>
              <a:spcAft>
                <a:spcPts val="0"/>
              </a:spcAft>
            </a:pPr>
            <a:r>
              <a:rPr sz="4400" b="1">
                <a:solidFill>
                  <a:srgbClr val="FFFFFF"/>
                </a:solidFill>
                <a:latin typeface="Georgia"/>
              </a:rPr>
              <a:t>AI-Powered Smart</a:t>
            </a:r>
            <a:br/>
            <a:r>
              <a:rPr sz="4400" b="1">
                <a:solidFill>
                  <a:srgbClr val="FFFFFF"/>
                </a:solidFill>
                <a:latin typeface="Georgia"/>
              </a:rPr>
              <a:t>Lending Decision Hub</a:t>
            </a:r>
          </a:p>
        </p:txBody>
      </p:sp>
      <p:sp>
        <p:nvSpPr>
          <p:cNvPr id="7" name="TextBox 6"/>
          <p:cNvSpPr txBox="1"/>
          <p:nvPr/>
        </p:nvSpPr>
        <p:spPr>
          <a:xfrm>
            <a:off x="658368" y="3611880"/>
            <a:ext cx="7589520" cy="1371600"/>
          </a:xfrm>
          <a:prstGeom prst="rect">
            <a:avLst/>
          </a:prstGeom>
          <a:noFill/>
        </p:spPr>
        <p:txBody>
          <a:bodyPr wrap="square" lIns="0" rIns="0" tIns="0" bIns="0">
            <a:spAutoFit/>
          </a:bodyPr>
          <a:lstStyle/>
          <a:p>
            <a:pPr algn="l">
              <a:lnSpc>
                <a:spcPct val="128000"/>
              </a:lnSpc>
              <a:spcBef>
                <a:spcPts val="0"/>
              </a:spcBef>
              <a:spcAft>
                <a:spcPts val="0"/>
              </a:spcAft>
            </a:pPr>
            <a:r>
              <a:rPr sz="1350" b="0">
                <a:solidFill>
                  <a:srgbClr val="D6E4F2"/>
                </a:solidFill>
                <a:latin typeface="Segoe UI"/>
              </a:rPr>
              <a:t>An integrated lending platform for agriculture-based customers — satellite, weather and crop intelligence, AI credit scoring, fraud detection, a recommendation engine, default prediction, a GenAI assistant, real-time risk dashboards, and early warning for defaulters.</a:t>
            </a:r>
          </a:p>
        </p:txBody>
      </p:sp>
      <p:sp>
        <p:nvSpPr>
          <p:cNvPr id="8" name="Rectangle 7"/>
          <p:cNvSpPr/>
          <p:nvPr/>
        </p:nvSpPr>
        <p:spPr>
          <a:xfrm>
            <a:off x="658368" y="5257800"/>
            <a:ext cx="7589520" cy="9525"/>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548640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FFFFFF"/>
                </a:solidFill>
                <a:latin typeface="Segoe UI"/>
              </a:rPr>
              <a:t>8 phases</a:t>
            </a:r>
          </a:p>
        </p:txBody>
      </p:sp>
      <p:sp>
        <p:nvSpPr>
          <p:cNvPr id="10" name="TextBox 9"/>
          <p:cNvSpPr txBox="1"/>
          <p:nvPr/>
        </p:nvSpPr>
        <p:spPr>
          <a:xfrm>
            <a:off x="658368" y="5779008"/>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P0 platform → P7 interfaces</a:t>
            </a:r>
          </a:p>
        </p:txBody>
      </p:sp>
      <p:sp>
        <p:nvSpPr>
          <p:cNvPr id="11" name="TextBox 10"/>
          <p:cNvSpPr txBox="1"/>
          <p:nvPr/>
        </p:nvSpPr>
        <p:spPr>
          <a:xfrm>
            <a:off x="2596896" y="548640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FFFFFF"/>
                </a:solidFill>
                <a:latin typeface="Segoe UI"/>
              </a:rPr>
              <a:t>23 packages</a:t>
            </a:r>
          </a:p>
        </p:txBody>
      </p:sp>
      <p:sp>
        <p:nvSpPr>
          <p:cNvPr id="12" name="TextBox 11"/>
          <p:cNvSpPr txBox="1"/>
          <p:nvPr/>
        </p:nvSpPr>
        <p:spPr>
          <a:xfrm>
            <a:off x="2596896" y="5779008"/>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63,000 lines, stdlib core</a:t>
            </a:r>
          </a:p>
        </p:txBody>
      </p:sp>
      <p:sp>
        <p:nvSpPr>
          <p:cNvPr id="13" name="TextBox 12"/>
          <p:cNvSpPr txBox="1"/>
          <p:nvPr/>
        </p:nvSpPr>
        <p:spPr>
          <a:xfrm>
            <a:off x="4535424" y="548640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FFFFFF"/>
                </a:solidFill>
                <a:latin typeface="Segoe UI"/>
              </a:rPr>
              <a:t>2,318 tests</a:t>
            </a:r>
          </a:p>
        </p:txBody>
      </p:sp>
      <p:sp>
        <p:nvSpPr>
          <p:cNvPr id="14" name="TextBox 13"/>
          <p:cNvSpPr txBox="1"/>
          <p:nvPr/>
        </p:nvSpPr>
        <p:spPr>
          <a:xfrm>
            <a:off x="4535424" y="5779008"/>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green, every commit</a:t>
            </a:r>
          </a:p>
        </p:txBody>
      </p:sp>
      <p:sp>
        <p:nvSpPr>
          <p:cNvPr id="15" name="TextBox 14"/>
          <p:cNvSpPr txBox="1"/>
          <p:nvPr/>
        </p:nvSpPr>
        <p:spPr>
          <a:xfrm>
            <a:off x="6473952" y="548640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FFFFFF"/>
                </a:solidFill>
                <a:latin typeface="Segoe UI"/>
              </a:rPr>
              <a:t>16.8M rows</a:t>
            </a:r>
          </a:p>
        </p:txBody>
      </p:sp>
      <p:sp>
        <p:nvSpPr>
          <p:cNvPr id="16" name="TextBox 15"/>
          <p:cNvSpPr txBox="1"/>
          <p:nvPr/>
        </p:nvSpPr>
        <p:spPr>
          <a:xfrm>
            <a:off x="6473952" y="5779008"/>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real loan performance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02</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PROBLEM BEHIND THE PROBLEM</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000" b="1">
                <a:solidFill>
                  <a:srgbClr val="0A3A68"/>
                </a:solidFill>
                <a:latin typeface="Georgia"/>
              </a:rPr>
              <a:t>A lending model is easy to build</a:t>
            </a:r>
            <a:br/>
            <a:r>
              <a:rPr sz="3000" b="1">
                <a:solidFill>
                  <a:srgbClr val="0A3A68"/>
                </a:solidFill>
                <a:latin typeface="Georgia"/>
              </a:rPr>
              <a:t>and hard to trust</a:t>
            </a:r>
          </a:p>
        </p:txBody>
      </p:sp>
      <p:sp>
        <p:nvSpPr>
          <p:cNvPr id="5" name="TextBox 4"/>
          <p:cNvSpPr txBox="1"/>
          <p:nvPr/>
        </p:nvSpPr>
        <p:spPr>
          <a:xfrm>
            <a:off x="658368" y="2148840"/>
            <a:ext cx="5943600" cy="3566160"/>
          </a:xfrm>
          <a:prstGeom prst="rect">
            <a:avLst/>
          </a:prstGeom>
          <a:noFill/>
        </p:spPr>
        <p:txBody>
          <a:bodyPr wrap="square" lIns="0" rIns="0" tIns="0" bIns="0">
            <a:spAutoFit/>
          </a:bodyPr>
          <a:lstStyle/>
          <a:p>
            <a:pPr algn="l">
              <a:lnSpc>
                <a:spcPct val="130000"/>
              </a:lnSpc>
              <a:spcBef>
                <a:spcPts val="0"/>
              </a:spcBef>
              <a:spcAft>
                <a:spcPts val="1600"/>
              </a:spcAft>
            </a:pPr>
            <a:r>
              <a:rPr sz="1500" b="0">
                <a:solidFill>
                  <a:srgbClr val="101828"/>
                </a:solidFill>
                <a:latin typeface="Segoe UI"/>
              </a:rPr>
              <a:t>Any team can produce a credit score in a weekend. The score is not the hard part — knowing whether you are allowed to believe it is.</a:t>
            </a:r>
          </a:p>
          <a:p>
            <a:pPr algn="l">
              <a:lnSpc>
                <a:spcPct val="142000"/>
              </a:lnSpc>
              <a:spcBef>
                <a:spcPts val="0"/>
              </a:spcBef>
              <a:spcAft>
                <a:spcPts val="1600"/>
              </a:spcAft>
            </a:pPr>
            <a:r>
              <a:rPr sz="1200" b="0">
                <a:solidFill>
                  <a:srgbClr val="475467"/>
                </a:solidFill>
                <a:latin typeface="Segoe UI"/>
              </a:rPr>
              <a:t>If someone types a cut-off nobody approved, it looks reasonable, passes review, and is still being used a year later. A model tested on the wrong region looks exactly like one tested correctly. A model marked on its own homework scores brilliantly and then fails with real customers.</a:t>
            </a:r>
          </a:p>
          <a:p>
            <a:pPr algn="l">
              <a:lnSpc>
                <a:spcPct val="142000"/>
              </a:lnSpc>
              <a:spcBef>
                <a:spcPts val="0"/>
              </a:spcBef>
              <a:spcAft>
                <a:spcPts val="0"/>
              </a:spcAft>
            </a:pPr>
            <a:r>
              <a:rPr sz="1200" b="0">
                <a:solidFill>
                  <a:srgbClr val="475467"/>
                </a:solidFill>
                <a:latin typeface="Segoe UI"/>
              </a:rPr>
              <a:t>So we flipped the priority. Every number has to come from one of three places. If the code cannot find one, it stops and says so instead of guessing.</a:t>
            </a:r>
          </a:p>
        </p:txBody>
      </p:sp>
      <p:sp>
        <p:nvSpPr>
          <p:cNvPr id="6" name="TextBox 5"/>
          <p:cNvSpPr txBox="1"/>
          <p:nvPr/>
        </p:nvSpPr>
        <p:spPr>
          <a:xfrm>
            <a:off x="6949440" y="2148840"/>
            <a:ext cx="457200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THE GROUNDING CONTRACT</a:t>
            </a:r>
          </a:p>
        </p:txBody>
      </p:sp>
      <p:sp>
        <p:nvSpPr>
          <p:cNvPr id="7" name="TextBox 6"/>
          <p:cNvSpPr txBox="1"/>
          <p:nvPr/>
        </p:nvSpPr>
        <p:spPr>
          <a:xfrm>
            <a:off x="6949440" y="2560320"/>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[SPEC]</a:t>
            </a:r>
          </a:p>
        </p:txBody>
      </p:sp>
      <p:sp>
        <p:nvSpPr>
          <p:cNvPr id="8" name="TextBox 7"/>
          <p:cNvSpPr txBox="1"/>
          <p:nvPr/>
        </p:nvSpPr>
        <p:spPr>
          <a:xfrm>
            <a:off x="7772400" y="2560320"/>
            <a:ext cx="374904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It is in the design document</a:t>
            </a:r>
          </a:p>
        </p:txBody>
      </p:sp>
      <p:sp>
        <p:nvSpPr>
          <p:cNvPr id="9" name="TextBox 8"/>
          <p:cNvSpPr txBox="1"/>
          <p:nvPr/>
        </p:nvSpPr>
        <p:spPr>
          <a:xfrm>
            <a:off x="7772400" y="2775204"/>
            <a:ext cx="374904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 formula or a limit the document already fixes</a:t>
            </a:r>
          </a:p>
        </p:txBody>
      </p:sp>
      <p:sp>
        <p:nvSpPr>
          <p:cNvPr id="10" name="Rectangle 9"/>
          <p:cNvSpPr/>
          <p:nvPr/>
        </p:nvSpPr>
        <p:spPr>
          <a:xfrm>
            <a:off x="6949440" y="3163824"/>
            <a:ext cx="457200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949440" y="331012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[DATA]</a:t>
            </a:r>
          </a:p>
        </p:txBody>
      </p:sp>
      <p:sp>
        <p:nvSpPr>
          <p:cNvPr id="12" name="TextBox 11"/>
          <p:cNvSpPr txBox="1"/>
          <p:nvPr/>
        </p:nvSpPr>
        <p:spPr>
          <a:xfrm>
            <a:off x="7772400" y="3310128"/>
            <a:ext cx="374904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A script worked it out</a:t>
            </a:r>
          </a:p>
        </p:txBody>
      </p:sp>
      <p:sp>
        <p:nvSpPr>
          <p:cNvPr id="13" name="TextBox 12"/>
          <p:cNvSpPr txBox="1"/>
          <p:nvPr/>
        </p:nvSpPr>
        <p:spPr>
          <a:xfrm>
            <a:off x="7772400" y="3525012"/>
            <a:ext cx="374904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Anyone can re-run it and get the same answer</a:t>
            </a:r>
          </a:p>
        </p:txBody>
      </p:sp>
      <p:sp>
        <p:nvSpPr>
          <p:cNvPr id="14" name="Rectangle 13"/>
          <p:cNvSpPr/>
          <p:nvPr/>
        </p:nvSpPr>
        <p:spPr>
          <a:xfrm>
            <a:off x="6949440" y="3913632"/>
            <a:ext cx="457200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949440" y="405993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[POLICY]</a:t>
            </a:r>
          </a:p>
        </p:txBody>
      </p:sp>
      <p:sp>
        <p:nvSpPr>
          <p:cNvPr id="16" name="TextBox 15"/>
          <p:cNvSpPr txBox="1"/>
          <p:nvPr/>
        </p:nvSpPr>
        <p:spPr>
          <a:xfrm>
            <a:off x="7772400" y="4059936"/>
            <a:ext cx="374904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A named team decided it</a:t>
            </a:r>
          </a:p>
        </p:txBody>
      </p:sp>
      <p:sp>
        <p:nvSpPr>
          <p:cNvPr id="17" name="TextBox 16"/>
          <p:cNvSpPr txBox="1"/>
          <p:nvPr/>
        </p:nvSpPr>
        <p:spPr>
          <a:xfrm>
            <a:off x="7772400" y="4274820"/>
            <a:ext cx="374904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In writing, with someone accountable</a:t>
            </a:r>
          </a:p>
        </p:txBody>
      </p:sp>
      <p:sp>
        <p:nvSpPr>
          <p:cNvPr id="18" name="Rectangle 17"/>
          <p:cNvSpPr/>
          <p:nvPr/>
        </p:nvSpPr>
        <p:spPr>
          <a:xfrm>
            <a:off x="6949440" y="4663440"/>
            <a:ext cx="457200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949440" y="5029200"/>
            <a:ext cx="4572000" cy="960120"/>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949440" y="5029200"/>
            <a:ext cx="36576" cy="96012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150608" y="5148072"/>
            <a:ext cx="4187952" cy="7223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Anything else stops the build. An automatic check reads all 350 files every time we save work, and rejects any number that cannot say where it came from.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03</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PROBLEM</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000" b="1">
                <a:solidFill>
                  <a:srgbClr val="0A3A68"/>
                </a:solidFill>
                <a:latin typeface="Georgia"/>
              </a:rPr>
              <a:t>What breaks today, for the farmer</a:t>
            </a:r>
            <a:br/>
            <a:r>
              <a:rPr sz="3000" b="1">
                <a:solidFill>
                  <a:srgbClr val="0A3A68"/>
                </a:solidFill>
                <a:latin typeface="Georgia"/>
              </a:rPr>
              <a:t>and for the bank</a:t>
            </a:r>
          </a:p>
        </p:txBody>
      </p:sp>
      <p:sp>
        <p:nvSpPr>
          <p:cNvPr id="5" name="TextBox 4"/>
          <p:cNvSpPr txBox="1"/>
          <p:nvPr/>
        </p:nvSpPr>
        <p:spPr>
          <a:xfrm>
            <a:off x="658368" y="210312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Farm lending fails on both sides at once, and each side makes the other worse: no credit history makes banks cautious, and caution pushes farmers to moneylenders, which leaves no credit history.</a:t>
            </a:r>
          </a:p>
        </p:txBody>
      </p:sp>
      <p:sp>
        <p:nvSpPr>
          <p:cNvPr id="6" name="TextBox 5"/>
          <p:cNvSpPr txBox="1"/>
          <p:nvPr/>
        </p:nvSpPr>
        <p:spPr>
          <a:xfrm>
            <a:off x="658368" y="2697480"/>
            <a:ext cx="5120640" cy="256032"/>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0D4A85"/>
                </a:solidFill>
                <a:latin typeface="Consolas"/>
              </a:rPr>
              <a:t>FOR THE CUSTOMER</a:t>
            </a:r>
          </a:p>
        </p:txBody>
      </p:sp>
      <p:sp>
        <p:nvSpPr>
          <p:cNvPr id="7" name="Rectangle 6"/>
          <p:cNvSpPr/>
          <p:nvPr/>
        </p:nvSpPr>
        <p:spPr>
          <a:xfrm>
            <a:off x="658368" y="3145536"/>
            <a:ext cx="27432" cy="5486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41248" y="3090672"/>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No credit file</a:t>
            </a:r>
          </a:p>
        </p:txBody>
      </p:sp>
      <p:sp>
        <p:nvSpPr>
          <p:cNvPr id="9" name="TextBox 8"/>
          <p:cNvSpPr txBox="1"/>
          <p:nvPr/>
        </p:nvSpPr>
        <p:spPr>
          <a:xfrm>
            <a:off x="841248" y="3337560"/>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Income is seasonal and in cash. A bureau score either does not exist or describes someone else's risk.</a:t>
            </a:r>
          </a:p>
        </p:txBody>
      </p:sp>
      <p:sp>
        <p:nvSpPr>
          <p:cNvPr id="10" name="Rectangle 9"/>
          <p:cNvSpPr/>
          <p:nvPr/>
        </p:nvSpPr>
        <p:spPr>
          <a:xfrm>
            <a:off x="658368" y="4032504"/>
            <a:ext cx="27432" cy="5486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8" y="3977640"/>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Weeks to a decision</a:t>
            </a:r>
          </a:p>
        </p:txBody>
      </p:sp>
      <p:sp>
        <p:nvSpPr>
          <p:cNvPr id="12" name="TextBox 11"/>
          <p:cNvSpPr txBox="1"/>
          <p:nvPr/>
        </p:nvSpPr>
        <p:spPr>
          <a:xfrm>
            <a:off x="841248" y="4224528"/>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Manual field visits and paper appraisal. The sowing window closes while the file moves.</a:t>
            </a:r>
          </a:p>
        </p:txBody>
      </p:sp>
      <p:sp>
        <p:nvSpPr>
          <p:cNvPr id="13" name="Rectangle 12"/>
          <p:cNvSpPr/>
          <p:nvPr/>
        </p:nvSpPr>
        <p:spPr>
          <a:xfrm>
            <a:off x="658368" y="4919472"/>
            <a:ext cx="27432" cy="5486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41248" y="4864608"/>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No explanation</a:t>
            </a:r>
          </a:p>
        </p:txBody>
      </p:sp>
      <p:sp>
        <p:nvSpPr>
          <p:cNvPr id="15" name="TextBox 14"/>
          <p:cNvSpPr txBox="1"/>
          <p:nvPr/>
        </p:nvSpPr>
        <p:spPr>
          <a:xfrm>
            <a:off x="841248" y="5111496"/>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A rejection arrives without a reason the borrower can act on, so nothing improves before the next application.</a:t>
            </a:r>
          </a:p>
        </p:txBody>
      </p:sp>
      <p:sp>
        <p:nvSpPr>
          <p:cNvPr id="16" name="Rectangle 15"/>
          <p:cNvSpPr/>
          <p:nvPr/>
        </p:nvSpPr>
        <p:spPr>
          <a:xfrm>
            <a:off x="658368" y="5806440"/>
            <a:ext cx="27432" cy="5486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1248" y="5751576"/>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Wrong product</a:t>
            </a:r>
          </a:p>
        </p:txBody>
      </p:sp>
      <p:sp>
        <p:nvSpPr>
          <p:cNvPr id="18" name="TextBox 17"/>
          <p:cNvSpPr txBox="1"/>
          <p:nvPr/>
        </p:nvSpPr>
        <p:spPr>
          <a:xfrm>
            <a:off x="841248" y="5998464"/>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Repayments that ignore the harvest calendar turn a good borrower into a late one.</a:t>
            </a:r>
          </a:p>
        </p:txBody>
      </p:sp>
      <p:sp>
        <p:nvSpPr>
          <p:cNvPr id="19" name="TextBox 18"/>
          <p:cNvSpPr txBox="1"/>
          <p:nvPr/>
        </p:nvSpPr>
        <p:spPr>
          <a:xfrm>
            <a:off x="6236208" y="2697480"/>
            <a:ext cx="5120640" cy="256032"/>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B54708"/>
                </a:solidFill>
                <a:latin typeface="Consolas"/>
              </a:rPr>
              <a:t>FOR THE BANK</a:t>
            </a:r>
          </a:p>
        </p:txBody>
      </p:sp>
      <p:sp>
        <p:nvSpPr>
          <p:cNvPr id="20" name="Rectangle 19"/>
          <p:cNvSpPr/>
          <p:nvPr/>
        </p:nvSpPr>
        <p:spPr>
          <a:xfrm>
            <a:off x="6236208" y="3145536"/>
            <a:ext cx="27432" cy="5486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19088" y="3090672"/>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Too little to go on</a:t>
            </a:r>
          </a:p>
        </p:txBody>
      </p:sp>
      <p:sp>
        <p:nvSpPr>
          <p:cNvPr id="22" name="TextBox 21"/>
          <p:cNvSpPr txBox="1"/>
          <p:nvPr/>
        </p:nvSpPr>
        <p:spPr>
          <a:xfrm>
            <a:off x="6419088" y="3337560"/>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Traditional credit models have almost nothing to work with, so good farmers are declined alongside bad ones.</a:t>
            </a:r>
          </a:p>
        </p:txBody>
      </p:sp>
      <p:sp>
        <p:nvSpPr>
          <p:cNvPr id="23" name="Rectangle 22"/>
          <p:cNvSpPr/>
          <p:nvPr/>
        </p:nvSpPr>
        <p:spPr>
          <a:xfrm>
            <a:off x="6236208" y="4032504"/>
            <a:ext cx="27432" cy="5486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19088" y="3977640"/>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Unverifiable collateral</a:t>
            </a:r>
          </a:p>
        </p:txBody>
      </p:sp>
      <p:sp>
        <p:nvSpPr>
          <p:cNvPr id="25" name="TextBox 24"/>
          <p:cNvSpPr txBox="1"/>
          <p:nvPr/>
        </p:nvSpPr>
        <p:spPr>
          <a:xfrm>
            <a:off x="6419088" y="4224528"/>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Land records and actual cultivation disagree, and a field visit costs more than the loan earns.</a:t>
            </a:r>
          </a:p>
        </p:txBody>
      </p:sp>
      <p:sp>
        <p:nvSpPr>
          <p:cNvPr id="26" name="Rectangle 25"/>
          <p:cNvSpPr/>
          <p:nvPr/>
        </p:nvSpPr>
        <p:spPr>
          <a:xfrm>
            <a:off x="6236208" y="4919472"/>
            <a:ext cx="27432" cy="5486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19088" y="4864608"/>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Fraud rings</a:t>
            </a:r>
          </a:p>
        </p:txBody>
      </p:sp>
      <p:sp>
        <p:nvSpPr>
          <p:cNvPr id="28" name="TextBox 27"/>
          <p:cNvSpPr txBox="1"/>
          <p:nvPr/>
        </p:nvSpPr>
        <p:spPr>
          <a:xfrm>
            <a:off x="6419088" y="5111496"/>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Shared devices, addresses and accounts across applications that look independent one at a time.</a:t>
            </a:r>
          </a:p>
        </p:txBody>
      </p:sp>
      <p:sp>
        <p:nvSpPr>
          <p:cNvPr id="29" name="Rectangle 28"/>
          <p:cNvSpPr/>
          <p:nvPr/>
        </p:nvSpPr>
        <p:spPr>
          <a:xfrm>
            <a:off x="6236208" y="5806440"/>
            <a:ext cx="27432" cy="5486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19088" y="5751576"/>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Late warning</a:t>
            </a:r>
          </a:p>
        </p:txBody>
      </p:sp>
      <p:sp>
        <p:nvSpPr>
          <p:cNvPr id="31" name="TextBox 30"/>
          <p:cNvSpPr txBox="1"/>
          <p:nvPr/>
        </p:nvSpPr>
        <p:spPr>
          <a:xfrm>
            <a:off x="6419088" y="5998464"/>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Trouble is visible in a borrower's behaviour months before a missed payment, and nobody is watching for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04</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HOW THE PLATFORM ANSWERS EACH ONE</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Every problem maps to a module that exists</a:t>
            </a:r>
          </a:p>
        </p:txBody>
      </p:sp>
      <p:sp>
        <p:nvSpPr>
          <p:cNvPr id="5" name="Rectangle 4"/>
          <p:cNvSpPr/>
          <p:nvPr/>
        </p:nvSpPr>
        <p:spPr>
          <a:xfrm>
            <a:off x="658368" y="1828800"/>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1783080"/>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No credit file</a:t>
            </a:r>
          </a:p>
        </p:txBody>
      </p:sp>
      <p:sp>
        <p:nvSpPr>
          <p:cNvPr id="7" name="TextBox 6"/>
          <p:cNvSpPr txBox="1"/>
          <p:nvPr/>
        </p:nvSpPr>
        <p:spPr>
          <a:xfrm>
            <a:off x="3200400" y="1783080"/>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Satellite + weather + crop evidence</a:t>
            </a:r>
          </a:p>
        </p:txBody>
      </p:sp>
      <p:sp>
        <p:nvSpPr>
          <p:cNvPr id="8" name="TextBox 7"/>
          <p:cNvSpPr txBox="1"/>
          <p:nvPr/>
        </p:nvSpPr>
        <p:spPr>
          <a:xfrm>
            <a:off x="3200400" y="2039112"/>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Rainfall shortfall and crop-greenness history make the land itself the evidence when there is no credit record.</a:t>
            </a:r>
          </a:p>
        </p:txBody>
      </p:sp>
      <p:sp>
        <p:nvSpPr>
          <p:cNvPr id="9" name="TextBox 8"/>
          <p:cNvSpPr txBox="1"/>
          <p:nvPr/>
        </p:nvSpPr>
        <p:spPr>
          <a:xfrm>
            <a:off x="10607040" y="1783080"/>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M1 · agri</a:t>
            </a:r>
          </a:p>
        </p:txBody>
      </p:sp>
      <p:sp>
        <p:nvSpPr>
          <p:cNvPr id="10" name="Rectangle 9"/>
          <p:cNvSpPr/>
          <p:nvPr/>
        </p:nvSpPr>
        <p:spPr>
          <a:xfrm>
            <a:off x="658368" y="2624328"/>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8" y="2578608"/>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Weeks to a decision</a:t>
            </a:r>
          </a:p>
        </p:txBody>
      </p:sp>
      <p:sp>
        <p:nvSpPr>
          <p:cNvPr id="12" name="TextBox 11"/>
          <p:cNvSpPr txBox="1"/>
          <p:nvPr/>
        </p:nvSpPr>
        <p:spPr>
          <a:xfrm>
            <a:off x="3200400" y="2578608"/>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Automated scoring, with reasons</a:t>
            </a:r>
          </a:p>
        </p:txBody>
      </p:sp>
      <p:sp>
        <p:nvSpPr>
          <p:cNvPr id="13" name="TextBox 12"/>
          <p:cNvSpPr txBox="1"/>
          <p:nvPr/>
        </p:nvSpPr>
        <p:spPr>
          <a:xfrm>
            <a:off x="3200400" y="2834640"/>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A transparent scorecard plus a stronger model behind it, and every decision arrives with the reasons that drove it.</a:t>
            </a:r>
          </a:p>
        </p:txBody>
      </p:sp>
      <p:sp>
        <p:nvSpPr>
          <p:cNvPr id="14" name="TextBox 13"/>
          <p:cNvSpPr txBox="1"/>
          <p:nvPr/>
        </p:nvSpPr>
        <p:spPr>
          <a:xfrm>
            <a:off x="10607040" y="2578608"/>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M2 · scoring</a:t>
            </a:r>
          </a:p>
        </p:txBody>
      </p:sp>
      <p:sp>
        <p:nvSpPr>
          <p:cNvPr id="15" name="Rectangle 14"/>
          <p:cNvSpPr/>
          <p:nvPr/>
        </p:nvSpPr>
        <p:spPr>
          <a:xfrm>
            <a:off x="658368" y="3419856"/>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1248" y="3374136"/>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Fraud rings</a:t>
            </a:r>
          </a:p>
        </p:txBody>
      </p:sp>
      <p:sp>
        <p:nvSpPr>
          <p:cNvPr id="17" name="TextBox 16"/>
          <p:cNvSpPr txBox="1"/>
          <p:nvPr/>
        </p:nvSpPr>
        <p:spPr>
          <a:xfrm>
            <a:off x="3200400" y="3374136"/>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Spot the hidden connections</a:t>
            </a:r>
          </a:p>
        </p:txBody>
      </p:sp>
      <p:sp>
        <p:nvSpPr>
          <p:cNvPr id="18" name="TextBox 17"/>
          <p:cNvSpPr txBox="1"/>
          <p:nvPr/>
        </p:nvSpPr>
        <p:spPr>
          <a:xfrm>
            <a:off x="3200400" y="3630168"/>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Shared phones, devices, addresses and accounts. Finds the tight cluster that no single application would ever reveal.</a:t>
            </a:r>
          </a:p>
        </p:txBody>
      </p:sp>
      <p:sp>
        <p:nvSpPr>
          <p:cNvPr id="19" name="TextBox 18"/>
          <p:cNvSpPr txBox="1"/>
          <p:nvPr/>
        </p:nvSpPr>
        <p:spPr>
          <a:xfrm>
            <a:off x="10607040" y="3374136"/>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M3 · fraud</a:t>
            </a:r>
          </a:p>
        </p:txBody>
      </p:sp>
      <p:sp>
        <p:nvSpPr>
          <p:cNvPr id="20" name="Rectangle 19"/>
          <p:cNvSpPr/>
          <p:nvPr/>
        </p:nvSpPr>
        <p:spPr>
          <a:xfrm>
            <a:off x="658368" y="4215384"/>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41248" y="4169664"/>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Wrong product</a:t>
            </a:r>
          </a:p>
        </p:txBody>
      </p:sp>
      <p:sp>
        <p:nvSpPr>
          <p:cNvPr id="22" name="TextBox 21"/>
          <p:cNvSpPr txBox="1"/>
          <p:nvPr/>
        </p:nvSpPr>
        <p:spPr>
          <a:xfrm>
            <a:off x="3200400" y="4169664"/>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Work out what fits, then recommend</a:t>
            </a:r>
          </a:p>
        </p:txBody>
      </p:sp>
      <p:sp>
        <p:nvSpPr>
          <p:cNvPr id="23" name="TextBox 22"/>
          <p:cNvSpPr txBox="1"/>
          <p:nvPr/>
        </p:nvSpPr>
        <p:spPr>
          <a:xfrm>
            <a:off x="3200400" y="4425696"/>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The recommender can only pick from what the borrower can actually afford. Affordability is a limit, not advice.</a:t>
            </a:r>
          </a:p>
        </p:txBody>
      </p:sp>
      <p:sp>
        <p:nvSpPr>
          <p:cNvPr id="24" name="TextBox 23"/>
          <p:cNvSpPr txBox="1"/>
          <p:nvPr/>
        </p:nvSpPr>
        <p:spPr>
          <a:xfrm>
            <a:off x="10607040" y="4169664"/>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M4 · reco</a:t>
            </a:r>
          </a:p>
        </p:txBody>
      </p:sp>
      <p:sp>
        <p:nvSpPr>
          <p:cNvPr id="25" name="Rectangle 24"/>
          <p:cNvSpPr/>
          <p:nvPr/>
        </p:nvSpPr>
        <p:spPr>
          <a:xfrm>
            <a:off x="658368" y="5010912"/>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41248" y="4965192"/>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No explanation</a:t>
            </a:r>
          </a:p>
        </p:txBody>
      </p:sp>
      <p:sp>
        <p:nvSpPr>
          <p:cNvPr id="27" name="TextBox 26"/>
          <p:cNvSpPr txBox="1"/>
          <p:nvPr/>
        </p:nvSpPr>
        <p:spPr>
          <a:xfrm>
            <a:off x="3200400" y="4965192"/>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Answers that cite their source</a:t>
            </a:r>
          </a:p>
        </p:txBody>
      </p:sp>
      <p:sp>
        <p:nvSpPr>
          <p:cNvPr id="28" name="TextBox 27"/>
          <p:cNvSpPr txBox="1"/>
          <p:nvPr/>
        </p:nvSpPr>
        <p:spPr>
          <a:xfrm>
            <a:off x="3200400" y="5221224"/>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Every answer shows where it came from or is not shown at all. Decision wording is picked from approved text.</a:t>
            </a:r>
          </a:p>
        </p:txBody>
      </p:sp>
      <p:sp>
        <p:nvSpPr>
          <p:cNvPr id="29" name="TextBox 28"/>
          <p:cNvSpPr txBox="1"/>
          <p:nvPr/>
        </p:nvSpPr>
        <p:spPr>
          <a:xfrm>
            <a:off x="10607040" y="4965192"/>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M6 · assistant</a:t>
            </a:r>
          </a:p>
        </p:txBody>
      </p:sp>
      <p:sp>
        <p:nvSpPr>
          <p:cNvPr id="30" name="Rectangle 29"/>
          <p:cNvSpPr/>
          <p:nvPr/>
        </p:nvSpPr>
        <p:spPr>
          <a:xfrm>
            <a:off x="658368" y="5806440"/>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41248" y="5760720"/>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Late warning</a:t>
            </a:r>
          </a:p>
        </p:txBody>
      </p:sp>
      <p:sp>
        <p:nvSpPr>
          <p:cNvPr id="32" name="TextBox 31"/>
          <p:cNvSpPr txBox="1"/>
          <p:nvPr/>
        </p:nvSpPr>
        <p:spPr>
          <a:xfrm>
            <a:off x="3200400" y="5760720"/>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Notice the change in behaviour early</a:t>
            </a:r>
          </a:p>
        </p:txBody>
      </p:sp>
      <p:sp>
        <p:nvSpPr>
          <p:cNvPr id="33" name="TextBox 32"/>
          <p:cNvSpPr txBox="1"/>
          <p:nvPr/>
        </p:nvSpPr>
        <p:spPr>
          <a:xfrm>
            <a:off x="3200400" y="6016752"/>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Catches 86% of defaults, typically a year before they happen — measured on 338,210 real months of loan history.</a:t>
            </a:r>
          </a:p>
        </p:txBody>
      </p:sp>
      <p:sp>
        <p:nvSpPr>
          <p:cNvPr id="34" name="TextBox 33"/>
          <p:cNvSpPr txBox="1"/>
          <p:nvPr/>
        </p:nvSpPr>
        <p:spPr>
          <a:xfrm>
            <a:off x="10607040" y="5760720"/>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M8 · ews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05</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HOW IT WORKS</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One application, end to end</a:t>
            </a:r>
          </a:p>
        </p:txBody>
      </p:sp>
      <p:sp>
        <p:nvSpPr>
          <p:cNvPr id="5" name="TextBox 4"/>
          <p:cNvSpPr txBox="1"/>
          <p:nvPr/>
        </p:nvSpPr>
        <p:spPr>
          <a:xfrm>
            <a:off x="658368" y="164592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Every step is written to a permanent record, and every number a model produced carries a label saying which model made it — all the way to the screen.</a:t>
            </a:r>
          </a:p>
        </p:txBody>
      </p:sp>
      <p:sp>
        <p:nvSpPr>
          <p:cNvPr id="6" name="Rectangle 5"/>
          <p:cNvSpPr/>
          <p:nvPr/>
        </p:nvSpPr>
        <p:spPr>
          <a:xfrm>
            <a:off x="658368"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1</a:t>
            </a:r>
          </a:p>
        </p:txBody>
      </p:sp>
      <p:sp>
        <p:nvSpPr>
          <p:cNvPr id="9" name="TextBox 8"/>
          <p:cNvSpPr txBox="1"/>
          <p:nvPr/>
        </p:nvSpPr>
        <p:spPr>
          <a:xfrm>
            <a:off x="804672"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APPLY</a:t>
            </a:r>
          </a:p>
        </p:txBody>
      </p:sp>
      <p:sp>
        <p:nvSpPr>
          <p:cNvPr id="10" name="TextBox 9"/>
          <p:cNvSpPr txBox="1"/>
          <p:nvPr/>
        </p:nvSpPr>
        <p:spPr>
          <a:xfrm>
            <a:off x="804672"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Customer app</a:t>
            </a:r>
          </a:p>
        </p:txBody>
      </p:sp>
      <p:sp>
        <p:nvSpPr>
          <p:cNvPr id="11" name="TextBox 10"/>
          <p:cNvSpPr txBox="1"/>
          <p:nvPr/>
        </p:nvSpPr>
        <p:spPr>
          <a:xfrm>
            <a:off x="804672"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Identity, consent and documents. The consent record is kept as carefully as the credit decision.</a:t>
            </a:r>
          </a:p>
        </p:txBody>
      </p:sp>
      <p:sp>
        <p:nvSpPr>
          <p:cNvPr id="12" name="TextBox 11"/>
          <p:cNvSpPr txBox="1"/>
          <p:nvPr/>
        </p:nvSpPr>
        <p:spPr>
          <a:xfrm>
            <a:off x="2340864"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13" name="Rectangle 12"/>
          <p:cNvSpPr/>
          <p:nvPr/>
        </p:nvSpPr>
        <p:spPr>
          <a:xfrm>
            <a:off x="2478024"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478024"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624328"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2</a:t>
            </a:r>
          </a:p>
        </p:txBody>
      </p:sp>
      <p:sp>
        <p:nvSpPr>
          <p:cNvPr id="16" name="TextBox 15"/>
          <p:cNvSpPr txBox="1"/>
          <p:nvPr/>
        </p:nvSpPr>
        <p:spPr>
          <a:xfrm>
            <a:off x="2624328"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ENRICH</a:t>
            </a:r>
          </a:p>
        </p:txBody>
      </p:sp>
      <p:sp>
        <p:nvSpPr>
          <p:cNvPr id="17" name="TextBox 16"/>
          <p:cNvSpPr txBox="1"/>
          <p:nvPr/>
        </p:nvSpPr>
        <p:spPr>
          <a:xfrm>
            <a:off x="2624328"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agri · bureau</a:t>
            </a:r>
          </a:p>
        </p:txBody>
      </p:sp>
      <p:sp>
        <p:nvSpPr>
          <p:cNvPr id="18" name="TextBox 17"/>
          <p:cNvSpPr txBox="1"/>
          <p:nvPr/>
        </p:nvSpPr>
        <p:spPr>
          <a:xfrm>
            <a:off x="2624328"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Field boundary, rainfall shortfall, crop greenness over time, credit record, bank-statement summary.</a:t>
            </a:r>
          </a:p>
        </p:txBody>
      </p:sp>
      <p:sp>
        <p:nvSpPr>
          <p:cNvPr id="19" name="TextBox 18"/>
          <p:cNvSpPr txBox="1"/>
          <p:nvPr/>
        </p:nvSpPr>
        <p:spPr>
          <a:xfrm>
            <a:off x="4160520"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20" name="Rectangle 19"/>
          <p:cNvSpPr/>
          <p:nvPr/>
        </p:nvSpPr>
        <p:spPr>
          <a:xfrm>
            <a:off x="4297680"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297680"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43984"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3</a:t>
            </a:r>
          </a:p>
        </p:txBody>
      </p:sp>
      <p:sp>
        <p:nvSpPr>
          <p:cNvPr id="23" name="TextBox 22"/>
          <p:cNvSpPr txBox="1"/>
          <p:nvPr/>
        </p:nvSpPr>
        <p:spPr>
          <a:xfrm>
            <a:off x="4443984"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SCREEN</a:t>
            </a:r>
          </a:p>
        </p:txBody>
      </p:sp>
      <p:sp>
        <p:nvSpPr>
          <p:cNvPr id="24" name="TextBox 23"/>
          <p:cNvSpPr txBox="1"/>
          <p:nvPr/>
        </p:nvSpPr>
        <p:spPr>
          <a:xfrm>
            <a:off x="4443984"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fraud</a:t>
            </a:r>
          </a:p>
        </p:txBody>
      </p:sp>
      <p:sp>
        <p:nvSpPr>
          <p:cNvPr id="25" name="TextBox 24"/>
          <p:cNvSpPr txBox="1"/>
          <p:nvPr/>
        </p:nvSpPr>
        <p:spPr>
          <a:xfrm>
            <a:off x="4443984"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Match against other applications by phone, device and address. Flag unusual behaviour and hidden clusters.</a:t>
            </a:r>
          </a:p>
        </p:txBody>
      </p:sp>
      <p:sp>
        <p:nvSpPr>
          <p:cNvPr id="26" name="TextBox 25"/>
          <p:cNvSpPr txBox="1"/>
          <p:nvPr/>
        </p:nvSpPr>
        <p:spPr>
          <a:xfrm>
            <a:off x="5980176"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27" name="Rectangle 26"/>
          <p:cNvSpPr/>
          <p:nvPr/>
        </p:nvSpPr>
        <p:spPr>
          <a:xfrm>
            <a:off x="6117336"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117336"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3640"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4</a:t>
            </a:r>
          </a:p>
        </p:txBody>
      </p:sp>
      <p:sp>
        <p:nvSpPr>
          <p:cNvPr id="30" name="TextBox 29"/>
          <p:cNvSpPr txBox="1"/>
          <p:nvPr/>
        </p:nvSpPr>
        <p:spPr>
          <a:xfrm>
            <a:off x="6263640"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SCORE</a:t>
            </a:r>
          </a:p>
        </p:txBody>
      </p:sp>
      <p:sp>
        <p:nvSpPr>
          <p:cNvPr id="31" name="TextBox 30"/>
          <p:cNvSpPr txBox="1"/>
          <p:nvPr/>
        </p:nvSpPr>
        <p:spPr>
          <a:xfrm>
            <a:off x="6263640"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scoring</a:t>
            </a:r>
          </a:p>
        </p:txBody>
      </p:sp>
      <p:sp>
        <p:nvSpPr>
          <p:cNvPr id="32" name="TextBox 31"/>
          <p:cNvSpPr txBox="1"/>
          <p:nvPr/>
        </p:nvSpPr>
        <p:spPr>
          <a:xfrm>
            <a:off x="6263640"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Two models score the application and the reasons are recorded. Policy decides: approve, review or decline.</a:t>
            </a:r>
          </a:p>
        </p:txBody>
      </p:sp>
      <p:sp>
        <p:nvSpPr>
          <p:cNvPr id="33" name="TextBox 32"/>
          <p:cNvSpPr txBox="1"/>
          <p:nvPr/>
        </p:nvSpPr>
        <p:spPr>
          <a:xfrm>
            <a:off x="7799832"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34" name="Rectangle 33"/>
          <p:cNvSpPr/>
          <p:nvPr/>
        </p:nvSpPr>
        <p:spPr>
          <a:xfrm>
            <a:off x="7936992"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936992"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083296"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5</a:t>
            </a:r>
          </a:p>
        </p:txBody>
      </p:sp>
      <p:sp>
        <p:nvSpPr>
          <p:cNvPr id="37" name="TextBox 36"/>
          <p:cNvSpPr txBox="1"/>
          <p:nvPr/>
        </p:nvSpPr>
        <p:spPr>
          <a:xfrm>
            <a:off x="8083296"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OFFER</a:t>
            </a:r>
          </a:p>
        </p:txBody>
      </p:sp>
      <p:sp>
        <p:nvSpPr>
          <p:cNvPr id="38" name="TextBox 37"/>
          <p:cNvSpPr txBox="1"/>
          <p:nvPr/>
        </p:nvSpPr>
        <p:spPr>
          <a:xfrm>
            <a:off x="8083296"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reco</a:t>
            </a:r>
          </a:p>
        </p:txBody>
      </p:sp>
      <p:sp>
        <p:nvSpPr>
          <p:cNvPr id="39" name="TextBox 38"/>
          <p:cNvSpPr txBox="1"/>
          <p:nvPr/>
        </p:nvSpPr>
        <p:spPr>
          <a:xfrm>
            <a:off x="8083296"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Work out what the borrower can afford, price it, then rank the options that policy allows.</a:t>
            </a:r>
          </a:p>
        </p:txBody>
      </p:sp>
      <p:sp>
        <p:nvSpPr>
          <p:cNvPr id="40" name="TextBox 39"/>
          <p:cNvSpPr txBox="1"/>
          <p:nvPr/>
        </p:nvSpPr>
        <p:spPr>
          <a:xfrm>
            <a:off x="9619488"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41" name="Rectangle 40"/>
          <p:cNvSpPr/>
          <p:nvPr/>
        </p:nvSpPr>
        <p:spPr>
          <a:xfrm>
            <a:off x="9756648"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9756648"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902952"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6</a:t>
            </a:r>
          </a:p>
        </p:txBody>
      </p:sp>
      <p:sp>
        <p:nvSpPr>
          <p:cNvPr id="44" name="TextBox 43"/>
          <p:cNvSpPr txBox="1"/>
          <p:nvPr/>
        </p:nvSpPr>
        <p:spPr>
          <a:xfrm>
            <a:off x="9902952"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MONITOR</a:t>
            </a:r>
          </a:p>
        </p:txBody>
      </p:sp>
      <p:sp>
        <p:nvSpPr>
          <p:cNvPr id="45" name="TextBox 44"/>
          <p:cNvSpPr txBox="1"/>
          <p:nvPr/>
        </p:nvSpPr>
        <p:spPr>
          <a:xfrm>
            <a:off x="9902952"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portfolio · ews</a:t>
            </a:r>
          </a:p>
        </p:txBody>
      </p:sp>
      <p:sp>
        <p:nvSpPr>
          <p:cNvPr id="46" name="TextBox 45"/>
          <p:cNvSpPr txBox="1"/>
          <p:nvPr/>
        </p:nvSpPr>
        <p:spPr>
          <a:xfrm>
            <a:off x="9902952"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Risk re-estimated every month. A change in behaviour raises an alert with somebody's name on it.</a:t>
            </a:r>
          </a:p>
        </p:txBody>
      </p:sp>
      <p:sp>
        <p:nvSpPr>
          <p:cNvPr id="47" name="Rectangle 46"/>
          <p:cNvSpPr/>
          <p:nvPr/>
        </p:nvSpPr>
        <p:spPr>
          <a:xfrm>
            <a:off x="658368" y="4892040"/>
            <a:ext cx="10881360" cy="868680"/>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58368" y="4892040"/>
            <a:ext cx="36576" cy="86868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59536" y="5010912"/>
            <a:ext cx="10497312" cy="63093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The screens only ever talk to one backend, never straight to a model. If a score arrives without its label, the app refuses to show it — so a number nobody can trace never reaches a customer.</a:t>
            </a:r>
          </a:p>
        </p:txBody>
      </p:sp>
      <p:sp>
        <p:nvSpPr>
          <p:cNvPr id="50" name="Rectangle 49"/>
          <p:cNvSpPr/>
          <p:nvPr/>
        </p:nvSpPr>
        <p:spPr>
          <a:xfrm>
            <a:off x="658368" y="5897880"/>
            <a:ext cx="10881360" cy="658368"/>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58368" y="5897880"/>
            <a:ext cx="36576" cy="65836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859536" y="6016752"/>
            <a:ext cx="10497312" cy="42062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Where a step needs a number nobody has approved, it stops and says who must approve it. Seventeen of the twenty-one endpoints do exactly that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06</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SCOPE</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Every module in the brief, built</a:t>
            </a:r>
          </a:p>
        </p:txBody>
      </p:sp>
      <p:sp>
        <p:nvSpPr>
          <p:cNvPr id="5" name="TextBox 4"/>
          <p:cNvSpPr txBox="1"/>
          <p:nvPr/>
        </p:nvSpPr>
        <p:spPr>
          <a:xfrm>
            <a:off x="658368" y="1691640"/>
            <a:ext cx="10515600" cy="54864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Eight phases, twenty-three packages. The core is standard-library Python throughout — every algorithm is a reference port naming the library it replaces, so a bank swaps in LightGBM or lifelines behind the same interface without touching a call site.</a:t>
            </a:r>
          </a:p>
        </p:txBody>
      </p:sp>
      <p:sp>
        <p:nvSpPr>
          <p:cNvPr id="6" name="TextBox 5"/>
          <p:cNvSpPr txBox="1"/>
          <p:nvPr/>
        </p:nvSpPr>
        <p:spPr>
          <a:xfrm>
            <a:off x="658368" y="269748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DECISIONING</a:t>
            </a:r>
          </a:p>
        </p:txBody>
      </p:sp>
      <p:sp>
        <p:nvSpPr>
          <p:cNvPr id="7" name="TextBox 6"/>
          <p:cNvSpPr txBox="1"/>
          <p:nvPr/>
        </p:nvSpPr>
        <p:spPr>
          <a:xfrm>
            <a:off x="658368" y="312724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P1</a:t>
            </a:r>
          </a:p>
        </p:txBody>
      </p:sp>
      <p:sp>
        <p:nvSpPr>
          <p:cNvPr id="8" name="TextBox 7"/>
          <p:cNvSpPr txBox="1"/>
          <p:nvPr/>
        </p:nvSpPr>
        <p:spPr>
          <a:xfrm>
            <a:off x="1481328" y="3127248"/>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Credit scoring</a:t>
            </a:r>
          </a:p>
        </p:txBody>
      </p:sp>
      <p:sp>
        <p:nvSpPr>
          <p:cNvPr id="9" name="TextBox 8"/>
          <p:cNvSpPr txBox="1"/>
          <p:nvPr/>
        </p:nvSpPr>
        <p:spPr>
          <a:xfrm>
            <a:off x="1481328" y="3342132"/>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WoE scorecard + GBM challenger, SHAP reasons, fairness</a:t>
            </a:r>
          </a:p>
        </p:txBody>
      </p:sp>
      <p:sp>
        <p:nvSpPr>
          <p:cNvPr id="10" name="Rectangle 9"/>
          <p:cNvSpPr/>
          <p:nvPr/>
        </p:nvSpPr>
        <p:spPr>
          <a:xfrm>
            <a:off x="658368" y="3730752"/>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42793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P1</a:t>
            </a:r>
          </a:p>
        </p:txBody>
      </p:sp>
      <p:sp>
        <p:nvSpPr>
          <p:cNvPr id="12" name="TextBox 11"/>
          <p:cNvSpPr txBox="1"/>
          <p:nvPr/>
        </p:nvSpPr>
        <p:spPr>
          <a:xfrm>
            <a:off x="1481328" y="4279392"/>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Fraud detection</a:t>
            </a:r>
          </a:p>
        </p:txBody>
      </p:sp>
      <p:sp>
        <p:nvSpPr>
          <p:cNvPr id="13" name="TextBox 12"/>
          <p:cNvSpPr txBox="1"/>
          <p:nvPr/>
        </p:nvSpPr>
        <p:spPr>
          <a:xfrm>
            <a:off x="1481328" y="4494276"/>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Entity resolution, velocity, anomaly, documents</a:t>
            </a:r>
          </a:p>
        </p:txBody>
      </p:sp>
      <p:sp>
        <p:nvSpPr>
          <p:cNvPr id="14" name="Rectangle 13"/>
          <p:cNvSpPr/>
          <p:nvPr/>
        </p:nvSpPr>
        <p:spPr>
          <a:xfrm>
            <a:off x="658368" y="4882896"/>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543153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P4</a:t>
            </a:r>
          </a:p>
        </p:txBody>
      </p:sp>
      <p:sp>
        <p:nvSpPr>
          <p:cNvPr id="16" name="TextBox 15"/>
          <p:cNvSpPr txBox="1"/>
          <p:nvPr/>
        </p:nvSpPr>
        <p:spPr>
          <a:xfrm>
            <a:off x="1481328" y="5431536"/>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Recommendations</a:t>
            </a:r>
          </a:p>
        </p:txBody>
      </p:sp>
      <p:sp>
        <p:nvSpPr>
          <p:cNvPr id="17" name="TextBox 16"/>
          <p:cNvSpPr txBox="1"/>
          <p:nvPr/>
        </p:nvSpPr>
        <p:spPr>
          <a:xfrm>
            <a:off x="1481328" y="5646420"/>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Feasible set, ALM pricing, LinUCB bandit, suitability</a:t>
            </a:r>
          </a:p>
        </p:txBody>
      </p:sp>
      <p:sp>
        <p:nvSpPr>
          <p:cNvPr id="18" name="Rectangle 17"/>
          <p:cNvSpPr/>
          <p:nvPr/>
        </p:nvSpPr>
        <p:spPr>
          <a:xfrm>
            <a:off x="658368" y="6035040"/>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70831" y="269748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RISK &amp; AGRICULTURE</a:t>
            </a:r>
          </a:p>
        </p:txBody>
      </p:sp>
      <p:sp>
        <p:nvSpPr>
          <p:cNvPr id="20" name="TextBox 19"/>
          <p:cNvSpPr txBox="1"/>
          <p:nvPr/>
        </p:nvSpPr>
        <p:spPr>
          <a:xfrm>
            <a:off x="4370831" y="312724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P2</a:t>
            </a:r>
          </a:p>
        </p:txBody>
      </p:sp>
      <p:sp>
        <p:nvSpPr>
          <p:cNvPr id="21" name="TextBox 20"/>
          <p:cNvSpPr txBox="1"/>
          <p:nvPr/>
        </p:nvSpPr>
        <p:spPr>
          <a:xfrm>
            <a:off x="5193791" y="3127248"/>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Agri intelligence</a:t>
            </a:r>
          </a:p>
        </p:txBody>
      </p:sp>
      <p:sp>
        <p:nvSpPr>
          <p:cNvPr id="22" name="TextBox 21"/>
          <p:cNvSpPr txBox="1"/>
          <p:nvPr/>
        </p:nvSpPr>
        <p:spPr>
          <a:xfrm>
            <a:off x="5193791" y="3342132"/>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SPI/SPEI drought, NDVI/EVI, plot registry, yield</a:t>
            </a:r>
          </a:p>
        </p:txBody>
      </p:sp>
      <p:sp>
        <p:nvSpPr>
          <p:cNvPr id="23" name="Rectangle 22"/>
          <p:cNvSpPr/>
          <p:nvPr/>
        </p:nvSpPr>
        <p:spPr>
          <a:xfrm>
            <a:off x="4370831" y="3730752"/>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70831" y="42793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P3</a:t>
            </a:r>
          </a:p>
        </p:txBody>
      </p:sp>
      <p:sp>
        <p:nvSpPr>
          <p:cNvPr id="25" name="TextBox 24"/>
          <p:cNvSpPr txBox="1"/>
          <p:nvPr/>
        </p:nvSpPr>
        <p:spPr>
          <a:xfrm>
            <a:off x="5193791" y="4279392"/>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Portfolio brain</a:t>
            </a:r>
          </a:p>
        </p:txBody>
      </p:sp>
      <p:sp>
        <p:nvSpPr>
          <p:cNvPr id="26" name="TextBox 25"/>
          <p:cNvSpPr txBox="1"/>
          <p:nvPr/>
        </p:nvSpPr>
        <p:spPr>
          <a:xfrm>
            <a:off x="5193791" y="4494276"/>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PD/LGD/EAD, Cox &amp; discrete hazard, IFRS 9 staging</a:t>
            </a:r>
          </a:p>
        </p:txBody>
      </p:sp>
      <p:sp>
        <p:nvSpPr>
          <p:cNvPr id="27" name="Rectangle 26"/>
          <p:cNvSpPr/>
          <p:nvPr/>
        </p:nvSpPr>
        <p:spPr>
          <a:xfrm>
            <a:off x="4370831" y="4882896"/>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370831" y="543153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P4</a:t>
            </a:r>
          </a:p>
        </p:txBody>
      </p:sp>
      <p:sp>
        <p:nvSpPr>
          <p:cNvPr id="29" name="TextBox 28"/>
          <p:cNvSpPr txBox="1"/>
          <p:nvPr/>
        </p:nvSpPr>
        <p:spPr>
          <a:xfrm>
            <a:off x="5193791" y="5431536"/>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Early warning</a:t>
            </a:r>
          </a:p>
        </p:txBody>
      </p:sp>
      <p:sp>
        <p:nvSpPr>
          <p:cNvPr id="30" name="TextBox 29"/>
          <p:cNvSpPr txBox="1"/>
          <p:nvPr/>
        </p:nvSpPr>
        <p:spPr>
          <a:xfrm>
            <a:off x="5193791" y="5646420"/>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Signals, velocity, BOCPD change-point, routing</a:t>
            </a:r>
          </a:p>
        </p:txBody>
      </p:sp>
      <p:sp>
        <p:nvSpPr>
          <p:cNvPr id="31" name="Rectangle 30"/>
          <p:cNvSpPr/>
          <p:nvPr/>
        </p:nvSpPr>
        <p:spPr>
          <a:xfrm>
            <a:off x="4370831" y="6035040"/>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083294" y="269748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DELIVERY</a:t>
            </a:r>
          </a:p>
        </p:txBody>
      </p:sp>
      <p:sp>
        <p:nvSpPr>
          <p:cNvPr id="33" name="TextBox 32"/>
          <p:cNvSpPr txBox="1"/>
          <p:nvPr/>
        </p:nvSpPr>
        <p:spPr>
          <a:xfrm>
            <a:off x="8083294" y="312724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P5</a:t>
            </a:r>
          </a:p>
        </p:txBody>
      </p:sp>
      <p:sp>
        <p:nvSpPr>
          <p:cNvPr id="34" name="TextBox 33"/>
          <p:cNvSpPr txBox="1"/>
          <p:nvPr/>
        </p:nvSpPr>
        <p:spPr>
          <a:xfrm>
            <a:off x="8906254" y="3127248"/>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GenAI assistant</a:t>
            </a:r>
          </a:p>
        </p:txBody>
      </p:sp>
      <p:sp>
        <p:nvSpPr>
          <p:cNvPr id="35" name="TextBox 34"/>
          <p:cNvSpPr txBox="1"/>
          <p:nvPr/>
        </p:nvSpPr>
        <p:spPr>
          <a:xfrm>
            <a:off x="8906254" y="3342132"/>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Hybrid retrieval, citation contract, validator</a:t>
            </a:r>
          </a:p>
        </p:txBody>
      </p:sp>
      <p:sp>
        <p:nvSpPr>
          <p:cNvPr id="36" name="Rectangle 35"/>
          <p:cNvSpPr/>
          <p:nvPr/>
        </p:nvSpPr>
        <p:spPr>
          <a:xfrm>
            <a:off x="8083294" y="3730752"/>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083294" y="42793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P6</a:t>
            </a:r>
          </a:p>
        </p:txBody>
      </p:sp>
      <p:sp>
        <p:nvSpPr>
          <p:cNvPr id="38" name="TextBox 37"/>
          <p:cNvSpPr txBox="1"/>
          <p:nvPr/>
        </p:nvSpPr>
        <p:spPr>
          <a:xfrm>
            <a:off x="8906254" y="4279392"/>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Learning loops</a:t>
            </a:r>
          </a:p>
        </p:txBody>
      </p:sp>
      <p:sp>
        <p:nvSpPr>
          <p:cNvPr id="39" name="TextBox 38"/>
          <p:cNvSpPr txBox="1"/>
          <p:nvPr/>
        </p:nvSpPr>
        <p:spPr>
          <a:xfrm>
            <a:off x="8906254" y="4494276"/>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Promotion gate, uplift, off-policy, Louvain</a:t>
            </a:r>
          </a:p>
        </p:txBody>
      </p:sp>
      <p:sp>
        <p:nvSpPr>
          <p:cNvPr id="40" name="Rectangle 39"/>
          <p:cNvSpPr/>
          <p:nvPr/>
        </p:nvSpPr>
        <p:spPr>
          <a:xfrm>
            <a:off x="8083294" y="4882896"/>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083294" y="543153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P7</a:t>
            </a:r>
          </a:p>
        </p:txBody>
      </p:sp>
      <p:sp>
        <p:nvSpPr>
          <p:cNvPr id="42" name="TextBox 41"/>
          <p:cNvSpPr txBox="1"/>
          <p:nvPr/>
        </p:nvSpPr>
        <p:spPr>
          <a:xfrm>
            <a:off x="8906254" y="5431536"/>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Interfaces</a:t>
            </a:r>
          </a:p>
        </p:txBody>
      </p:sp>
      <p:sp>
        <p:nvSpPr>
          <p:cNvPr id="43" name="TextBox 42"/>
          <p:cNvSpPr txBox="1"/>
          <p:nvPr/>
        </p:nvSpPr>
        <p:spPr>
          <a:xfrm>
            <a:off x="8906254" y="5646420"/>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Officer workbench, collections console, dashboards</a:t>
            </a:r>
          </a:p>
        </p:txBody>
      </p:sp>
      <p:sp>
        <p:nvSpPr>
          <p:cNvPr id="44" name="Rectangle 43"/>
          <p:cNvSpPr/>
          <p:nvPr/>
        </p:nvSpPr>
        <p:spPr>
          <a:xfrm>
            <a:off x="8083294" y="6035040"/>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07</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ARCHITECTURE</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One gateway, eight engines, four surfaces</a:t>
            </a:r>
          </a:p>
        </p:txBody>
      </p:sp>
      <p:sp>
        <p:nvSpPr>
          <p:cNvPr id="5" name="TextBox 4"/>
          <p:cNvSpPr txBox="1"/>
          <p:nvPr/>
        </p:nvSpPr>
        <p:spPr>
          <a:xfrm>
            <a:off x="658368" y="1691640"/>
            <a:ext cx="10515600" cy="219456"/>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INTERFACES</a:t>
            </a:r>
          </a:p>
        </p:txBody>
      </p:sp>
      <p:sp>
        <p:nvSpPr>
          <p:cNvPr id="6" name="Rectangle 5"/>
          <p:cNvSpPr/>
          <p:nvPr/>
        </p:nvSpPr>
        <p:spPr>
          <a:xfrm>
            <a:off x="658368" y="1965960"/>
            <a:ext cx="2514600" cy="457200"/>
          </a:xfrm>
          <a:prstGeom prst="rect">
            <a:avLst/>
          </a:prstGeom>
          <a:solidFill>
            <a:srgbClr val="EEF4FA"/>
          </a:solidFill>
          <a:ln w="9525">
            <a:solidFill>
              <a:srgbClr val="ADC9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95528" y="2093976"/>
            <a:ext cx="2286000" cy="219456"/>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Segoe UI"/>
              </a:rPr>
              <a:t>Customer app</a:t>
            </a:r>
          </a:p>
        </p:txBody>
      </p:sp>
      <p:sp>
        <p:nvSpPr>
          <p:cNvPr id="8" name="Rectangle 7"/>
          <p:cNvSpPr/>
          <p:nvPr/>
        </p:nvSpPr>
        <p:spPr>
          <a:xfrm>
            <a:off x="3383280" y="1965960"/>
            <a:ext cx="2514600" cy="457200"/>
          </a:xfrm>
          <a:prstGeom prst="rect">
            <a:avLst/>
          </a:prstGeom>
          <a:solidFill>
            <a:srgbClr val="EEF4FA"/>
          </a:solidFill>
          <a:ln w="9525">
            <a:solidFill>
              <a:srgbClr val="ADC9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520440" y="2093976"/>
            <a:ext cx="2286000" cy="219456"/>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Segoe UI"/>
              </a:rPr>
              <a:t>Officer workbench</a:t>
            </a:r>
          </a:p>
        </p:txBody>
      </p:sp>
      <p:sp>
        <p:nvSpPr>
          <p:cNvPr id="10" name="Rectangle 9"/>
          <p:cNvSpPr/>
          <p:nvPr/>
        </p:nvSpPr>
        <p:spPr>
          <a:xfrm>
            <a:off x="6108192" y="1965960"/>
            <a:ext cx="2514600" cy="457200"/>
          </a:xfrm>
          <a:prstGeom prst="rect">
            <a:avLst/>
          </a:prstGeom>
          <a:solidFill>
            <a:srgbClr val="EEF4FA"/>
          </a:solidFill>
          <a:ln w="9525">
            <a:solidFill>
              <a:srgbClr val="ADC9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45352" y="2093976"/>
            <a:ext cx="2286000" cy="219456"/>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Segoe UI"/>
              </a:rPr>
              <a:t>Risk dashboards</a:t>
            </a:r>
          </a:p>
        </p:txBody>
      </p:sp>
      <p:sp>
        <p:nvSpPr>
          <p:cNvPr id="12" name="Rectangle 11"/>
          <p:cNvSpPr/>
          <p:nvPr/>
        </p:nvSpPr>
        <p:spPr>
          <a:xfrm>
            <a:off x="8833104" y="1965960"/>
            <a:ext cx="2514600" cy="457200"/>
          </a:xfrm>
          <a:prstGeom prst="rect">
            <a:avLst/>
          </a:prstGeom>
          <a:solidFill>
            <a:srgbClr val="EEF4FA"/>
          </a:solidFill>
          <a:ln w="9525">
            <a:solidFill>
              <a:srgbClr val="ADC9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70264" y="2093976"/>
            <a:ext cx="2286000" cy="219456"/>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Segoe UI"/>
              </a:rPr>
              <a:t>Collections</a:t>
            </a:r>
          </a:p>
        </p:txBody>
      </p:sp>
      <p:sp>
        <p:nvSpPr>
          <p:cNvPr id="14" name="Rectangle 13"/>
          <p:cNvSpPr/>
          <p:nvPr/>
        </p:nvSpPr>
        <p:spPr>
          <a:xfrm>
            <a:off x="658368" y="2697480"/>
            <a:ext cx="10881360" cy="56692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86968" y="2798064"/>
            <a:ext cx="10424160" cy="219456"/>
          </a:xfrm>
          <a:prstGeom prst="rect">
            <a:avLst/>
          </a:prstGeom>
          <a:noFill/>
        </p:spPr>
        <p:txBody>
          <a:bodyPr wrap="square" lIns="0" rIns="0" tIns="0" bIns="0">
            <a:spAutoFit/>
          </a:bodyPr>
          <a:lstStyle/>
          <a:p>
            <a:pPr algn="ctr">
              <a:lnSpc>
                <a:spcPct val="100000"/>
              </a:lnSpc>
              <a:spcBef>
                <a:spcPts val="0"/>
              </a:spcBef>
              <a:spcAft>
                <a:spcPts val="0"/>
              </a:spcAft>
            </a:pPr>
            <a:r>
              <a:rPr sz="1150" b="1">
                <a:solidFill>
                  <a:srgbClr val="FFFFFF"/>
                </a:solidFill>
                <a:latin typeface="Segoe UI"/>
              </a:rPr>
              <a:t>DECISION ORCHESTRATOR  ·  every response carries its model id, version and decision-log reference</a:t>
            </a:r>
          </a:p>
        </p:txBody>
      </p:sp>
      <p:sp>
        <p:nvSpPr>
          <p:cNvPr id="16" name="TextBox 15"/>
          <p:cNvSpPr txBox="1"/>
          <p:nvPr/>
        </p:nvSpPr>
        <p:spPr>
          <a:xfrm>
            <a:off x="886968" y="3017520"/>
            <a:ext cx="10424160" cy="201168"/>
          </a:xfrm>
          <a:prstGeom prst="rect">
            <a:avLst/>
          </a:prstGeom>
          <a:noFill/>
        </p:spPr>
        <p:txBody>
          <a:bodyPr wrap="square" lIns="0" rIns="0" tIns="0" bIns="0">
            <a:spAutoFit/>
          </a:bodyPr>
          <a:lstStyle/>
          <a:p>
            <a:pPr algn="ctr">
              <a:lnSpc>
                <a:spcPct val="100000"/>
              </a:lnSpc>
              <a:spcBef>
                <a:spcPts val="0"/>
              </a:spcBef>
              <a:spcAft>
                <a:spcPts val="0"/>
              </a:spcAft>
            </a:pPr>
            <a:r>
              <a:rPr sz="950" b="0">
                <a:solidFill>
                  <a:srgbClr val="ADC9E5"/>
                </a:solidFill>
                <a:latin typeface="Consolas"/>
              </a:rPr>
              <a:t>a screen cannot be handed a number it cannot trace</a:t>
            </a:r>
          </a:p>
        </p:txBody>
      </p:sp>
      <p:sp>
        <p:nvSpPr>
          <p:cNvPr id="17" name="TextBox 16"/>
          <p:cNvSpPr txBox="1"/>
          <p:nvPr/>
        </p:nvSpPr>
        <p:spPr>
          <a:xfrm>
            <a:off x="658368" y="3456432"/>
            <a:ext cx="10515600" cy="219456"/>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ENGINES</a:t>
            </a:r>
          </a:p>
        </p:txBody>
      </p:sp>
      <p:sp>
        <p:nvSpPr>
          <p:cNvPr id="18" name="Rectangle 17"/>
          <p:cNvSpPr/>
          <p:nvPr/>
        </p:nvSpPr>
        <p:spPr>
          <a:xfrm>
            <a:off x="658368" y="3730752"/>
            <a:ext cx="2514600" cy="658368"/>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730752"/>
            <a:ext cx="2514600" cy="320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95528" y="3858768"/>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Segoe UI"/>
              </a:rPr>
              <a:t>Agri</a:t>
            </a:r>
          </a:p>
        </p:txBody>
      </p:sp>
      <p:sp>
        <p:nvSpPr>
          <p:cNvPr id="21" name="TextBox 20"/>
          <p:cNvSpPr txBox="1"/>
          <p:nvPr/>
        </p:nvSpPr>
        <p:spPr>
          <a:xfrm>
            <a:off x="2670048" y="3858768"/>
            <a:ext cx="457200" cy="18288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2166A3"/>
                </a:solidFill>
                <a:latin typeface="Consolas"/>
              </a:rPr>
              <a:t>M1</a:t>
            </a:r>
          </a:p>
        </p:txBody>
      </p:sp>
      <p:sp>
        <p:nvSpPr>
          <p:cNvPr id="22" name="TextBox 21"/>
          <p:cNvSpPr txBox="1"/>
          <p:nvPr/>
        </p:nvSpPr>
        <p:spPr>
          <a:xfrm>
            <a:off x="795528" y="4096512"/>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Segoe UI"/>
              </a:rPr>
              <a:t>drought, crop, plots</a:t>
            </a:r>
          </a:p>
        </p:txBody>
      </p:sp>
      <p:sp>
        <p:nvSpPr>
          <p:cNvPr id="23" name="Rectangle 22"/>
          <p:cNvSpPr/>
          <p:nvPr/>
        </p:nvSpPr>
        <p:spPr>
          <a:xfrm>
            <a:off x="3383280" y="3730752"/>
            <a:ext cx="2514600" cy="658368"/>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383280" y="3730752"/>
            <a:ext cx="2514600" cy="320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20440" y="3858768"/>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Segoe UI"/>
              </a:rPr>
              <a:t>Scoring</a:t>
            </a:r>
          </a:p>
        </p:txBody>
      </p:sp>
      <p:sp>
        <p:nvSpPr>
          <p:cNvPr id="26" name="TextBox 25"/>
          <p:cNvSpPr txBox="1"/>
          <p:nvPr/>
        </p:nvSpPr>
        <p:spPr>
          <a:xfrm>
            <a:off x="5394960" y="3858768"/>
            <a:ext cx="457200" cy="18288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2166A3"/>
                </a:solidFill>
                <a:latin typeface="Consolas"/>
              </a:rPr>
              <a:t>M2</a:t>
            </a:r>
          </a:p>
        </p:txBody>
      </p:sp>
      <p:sp>
        <p:nvSpPr>
          <p:cNvPr id="27" name="TextBox 26"/>
          <p:cNvSpPr txBox="1"/>
          <p:nvPr/>
        </p:nvSpPr>
        <p:spPr>
          <a:xfrm>
            <a:off x="3520440" y="4096512"/>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Segoe UI"/>
              </a:rPr>
              <a:t>scorecard + GBM</a:t>
            </a:r>
          </a:p>
        </p:txBody>
      </p:sp>
      <p:sp>
        <p:nvSpPr>
          <p:cNvPr id="28" name="Rectangle 27"/>
          <p:cNvSpPr/>
          <p:nvPr/>
        </p:nvSpPr>
        <p:spPr>
          <a:xfrm>
            <a:off x="6108192" y="3730752"/>
            <a:ext cx="2514600" cy="658368"/>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08192" y="3730752"/>
            <a:ext cx="2514600" cy="320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245352" y="3858768"/>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Segoe UI"/>
              </a:rPr>
              <a:t>Fraud</a:t>
            </a:r>
          </a:p>
        </p:txBody>
      </p:sp>
      <p:sp>
        <p:nvSpPr>
          <p:cNvPr id="31" name="TextBox 30"/>
          <p:cNvSpPr txBox="1"/>
          <p:nvPr/>
        </p:nvSpPr>
        <p:spPr>
          <a:xfrm>
            <a:off x="8119872" y="3858768"/>
            <a:ext cx="457200" cy="18288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2166A3"/>
                </a:solidFill>
                <a:latin typeface="Consolas"/>
              </a:rPr>
              <a:t>M3</a:t>
            </a:r>
          </a:p>
        </p:txBody>
      </p:sp>
      <p:sp>
        <p:nvSpPr>
          <p:cNvPr id="32" name="TextBox 31"/>
          <p:cNvSpPr txBox="1"/>
          <p:nvPr/>
        </p:nvSpPr>
        <p:spPr>
          <a:xfrm>
            <a:off x="6245352" y="4096512"/>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Segoe UI"/>
              </a:rPr>
              <a:t>graph, velocity, docs</a:t>
            </a:r>
          </a:p>
        </p:txBody>
      </p:sp>
      <p:sp>
        <p:nvSpPr>
          <p:cNvPr id="33" name="Rectangle 32"/>
          <p:cNvSpPr/>
          <p:nvPr/>
        </p:nvSpPr>
        <p:spPr>
          <a:xfrm>
            <a:off x="8833104" y="3730752"/>
            <a:ext cx="2514600" cy="658368"/>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833104" y="3730752"/>
            <a:ext cx="2514600" cy="320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970264" y="3858768"/>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Segoe UI"/>
              </a:rPr>
              <a:t>Offers</a:t>
            </a:r>
          </a:p>
        </p:txBody>
      </p:sp>
      <p:sp>
        <p:nvSpPr>
          <p:cNvPr id="36" name="TextBox 35"/>
          <p:cNvSpPr txBox="1"/>
          <p:nvPr/>
        </p:nvSpPr>
        <p:spPr>
          <a:xfrm>
            <a:off x="10844784" y="3858768"/>
            <a:ext cx="457200" cy="18288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2166A3"/>
                </a:solidFill>
                <a:latin typeface="Consolas"/>
              </a:rPr>
              <a:t>M4</a:t>
            </a:r>
          </a:p>
        </p:txBody>
      </p:sp>
      <p:sp>
        <p:nvSpPr>
          <p:cNvPr id="37" name="TextBox 36"/>
          <p:cNvSpPr txBox="1"/>
          <p:nvPr/>
        </p:nvSpPr>
        <p:spPr>
          <a:xfrm>
            <a:off x="8970264" y="4096512"/>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Segoe UI"/>
              </a:rPr>
              <a:t>feasible set, pricing</a:t>
            </a:r>
          </a:p>
        </p:txBody>
      </p:sp>
      <p:sp>
        <p:nvSpPr>
          <p:cNvPr id="38" name="Rectangle 37"/>
          <p:cNvSpPr/>
          <p:nvPr/>
        </p:nvSpPr>
        <p:spPr>
          <a:xfrm>
            <a:off x="658368" y="4535424"/>
            <a:ext cx="2514600" cy="658368"/>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58368" y="4535424"/>
            <a:ext cx="2514600" cy="320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95528" y="4663440"/>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Segoe UI"/>
              </a:rPr>
              <a:t>Default</a:t>
            </a:r>
          </a:p>
        </p:txBody>
      </p:sp>
      <p:sp>
        <p:nvSpPr>
          <p:cNvPr id="41" name="TextBox 40"/>
          <p:cNvSpPr txBox="1"/>
          <p:nvPr/>
        </p:nvSpPr>
        <p:spPr>
          <a:xfrm>
            <a:off x="2670048" y="4663440"/>
            <a:ext cx="457200" cy="18288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2166A3"/>
                </a:solidFill>
                <a:latin typeface="Consolas"/>
              </a:rPr>
              <a:t>M5</a:t>
            </a:r>
          </a:p>
        </p:txBody>
      </p:sp>
      <p:sp>
        <p:nvSpPr>
          <p:cNvPr id="42" name="TextBox 41"/>
          <p:cNvSpPr txBox="1"/>
          <p:nvPr/>
        </p:nvSpPr>
        <p:spPr>
          <a:xfrm>
            <a:off x="795528" y="4901184"/>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Segoe UI"/>
              </a:rPr>
              <a:t>PD / LGD / EAD</a:t>
            </a:r>
          </a:p>
        </p:txBody>
      </p:sp>
      <p:sp>
        <p:nvSpPr>
          <p:cNvPr id="43" name="Rectangle 42"/>
          <p:cNvSpPr/>
          <p:nvPr/>
        </p:nvSpPr>
        <p:spPr>
          <a:xfrm>
            <a:off x="3383280" y="4535424"/>
            <a:ext cx="2514600" cy="658368"/>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383280" y="4535424"/>
            <a:ext cx="2514600" cy="320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20440" y="4663440"/>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Segoe UI"/>
              </a:rPr>
              <a:t>Assistant</a:t>
            </a:r>
          </a:p>
        </p:txBody>
      </p:sp>
      <p:sp>
        <p:nvSpPr>
          <p:cNvPr id="46" name="TextBox 45"/>
          <p:cNvSpPr txBox="1"/>
          <p:nvPr/>
        </p:nvSpPr>
        <p:spPr>
          <a:xfrm>
            <a:off x="5394960" y="4663440"/>
            <a:ext cx="457200" cy="18288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2166A3"/>
                </a:solidFill>
                <a:latin typeface="Consolas"/>
              </a:rPr>
              <a:t>M6</a:t>
            </a:r>
          </a:p>
        </p:txBody>
      </p:sp>
      <p:sp>
        <p:nvSpPr>
          <p:cNvPr id="47" name="TextBox 46"/>
          <p:cNvSpPr txBox="1"/>
          <p:nvPr/>
        </p:nvSpPr>
        <p:spPr>
          <a:xfrm>
            <a:off x="3520440" y="4901184"/>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Segoe UI"/>
              </a:rPr>
              <a:t>retrieval, citations</a:t>
            </a:r>
          </a:p>
        </p:txBody>
      </p:sp>
      <p:sp>
        <p:nvSpPr>
          <p:cNvPr id="48" name="Rectangle 47"/>
          <p:cNvSpPr/>
          <p:nvPr/>
        </p:nvSpPr>
        <p:spPr>
          <a:xfrm>
            <a:off x="6108192" y="4535424"/>
            <a:ext cx="2514600" cy="658368"/>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6108192" y="4535424"/>
            <a:ext cx="2514600" cy="320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245352" y="4663440"/>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Segoe UI"/>
              </a:rPr>
              <a:t>Dashboards</a:t>
            </a:r>
          </a:p>
        </p:txBody>
      </p:sp>
      <p:sp>
        <p:nvSpPr>
          <p:cNvPr id="51" name="TextBox 50"/>
          <p:cNvSpPr txBox="1"/>
          <p:nvPr/>
        </p:nvSpPr>
        <p:spPr>
          <a:xfrm>
            <a:off x="8119872" y="4663440"/>
            <a:ext cx="457200" cy="18288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2166A3"/>
                </a:solidFill>
                <a:latin typeface="Consolas"/>
              </a:rPr>
              <a:t>M7</a:t>
            </a:r>
          </a:p>
        </p:txBody>
      </p:sp>
      <p:sp>
        <p:nvSpPr>
          <p:cNvPr id="52" name="TextBox 51"/>
          <p:cNvSpPr txBox="1"/>
          <p:nvPr/>
        </p:nvSpPr>
        <p:spPr>
          <a:xfrm>
            <a:off x="6245352" y="4901184"/>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Segoe UI"/>
              </a:rPr>
              <a:t>portfolio metrics</a:t>
            </a:r>
          </a:p>
        </p:txBody>
      </p:sp>
      <p:sp>
        <p:nvSpPr>
          <p:cNvPr id="53" name="Rectangle 52"/>
          <p:cNvSpPr/>
          <p:nvPr/>
        </p:nvSpPr>
        <p:spPr>
          <a:xfrm>
            <a:off x="8833104" y="4535424"/>
            <a:ext cx="2514600" cy="658368"/>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8833104" y="4535424"/>
            <a:ext cx="2514600" cy="320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970264" y="4663440"/>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Segoe UI"/>
              </a:rPr>
              <a:t>Early warning</a:t>
            </a:r>
          </a:p>
        </p:txBody>
      </p:sp>
      <p:sp>
        <p:nvSpPr>
          <p:cNvPr id="56" name="TextBox 55"/>
          <p:cNvSpPr txBox="1"/>
          <p:nvPr/>
        </p:nvSpPr>
        <p:spPr>
          <a:xfrm>
            <a:off x="10844784" y="4663440"/>
            <a:ext cx="457200" cy="18288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2166A3"/>
                </a:solidFill>
                <a:latin typeface="Consolas"/>
              </a:rPr>
              <a:t>M8</a:t>
            </a:r>
          </a:p>
        </p:txBody>
      </p:sp>
      <p:sp>
        <p:nvSpPr>
          <p:cNvPr id="57" name="TextBox 56"/>
          <p:cNvSpPr txBox="1"/>
          <p:nvPr/>
        </p:nvSpPr>
        <p:spPr>
          <a:xfrm>
            <a:off x="8970264" y="4901184"/>
            <a:ext cx="2194560" cy="219456"/>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Segoe UI"/>
              </a:rPr>
              <a:t>change-point, alerts</a:t>
            </a:r>
          </a:p>
        </p:txBody>
      </p:sp>
      <p:sp>
        <p:nvSpPr>
          <p:cNvPr id="58" name="Rectangle 57"/>
          <p:cNvSpPr/>
          <p:nvPr/>
        </p:nvSpPr>
        <p:spPr>
          <a:xfrm>
            <a:off x="658368" y="5413248"/>
            <a:ext cx="10881360" cy="457200"/>
          </a:xfrm>
          <a:prstGeom prst="rect">
            <a:avLst/>
          </a:prstGeom>
          <a:solidFill>
            <a:srgbClr val="EEF4FA"/>
          </a:solidFill>
          <a:ln w="9525">
            <a:solidFill>
              <a:srgbClr val="ADC9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86968" y="5532120"/>
            <a:ext cx="10424160" cy="219456"/>
          </a:xfrm>
          <a:prstGeom prst="rect">
            <a:avLst/>
          </a:prstGeom>
          <a:noFill/>
        </p:spPr>
        <p:txBody>
          <a:bodyPr wrap="square" lIns="0" rIns="0" tIns="0" bIns="0">
            <a:spAutoFit/>
          </a:bodyPr>
          <a:lstStyle/>
          <a:p>
            <a:pPr algn="ctr">
              <a:lnSpc>
                <a:spcPct val="100000"/>
              </a:lnSpc>
              <a:spcBef>
                <a:spcPts val="0"/>
              </a:spcBef>
              <a:spcAft>
                <a:spcPts val="0"/>
              </a:spcAft>
            </a:pPr>
            <a:r>
              <a:rPr sz="1050" b="0">
                <a:solidFill>
                  <a:srgbClr val="0A3A68"/>
                </a:solidFill>
                <a:latin typeface="Segoe UI"/>
              </a:rPr>
              <a:t>PLATFORM  ·  frozen definitions · lakehouse · identity spine · feature store · model registry · decision log · consent</a:t>
            </a:r>
          </a:p>
        </p:txBody>
      </p:sp>
      <p:sp>
        <p:nvSpPr>
          <p:cNvPr id="60" name="Rectangle 59"/>
          <p:cNvSpPr/>
          <p:nvPr/>
        </p:nvSpPr>
        <p:spPr>
          <a:xfrm>
            <a:off x="658368" y="6053328"/>
            <a:ext cx="10881360" cy="566928"/>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658368" y="6053328"/>
            <a:ext cx="36576" cy="566928"/>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859536" y="6172200"/>
            <a:ext cx="10497312" cy="32918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Every definition — what counts as a default, what counts as a cure — is imported from one place. Changing one needs committee approval and an impact analysis on every model that imports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08</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METHOD</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Three tracks, one interface — and only one counts</a:t>
            </a:r>
          </a:p>
        </p:txBody>
      </p:sp>
      <p:sp>
        <p:nvSpPr>
          <p:cNvPr id="5" name="TextBox 4"/>
          <p:cNvSpPr txBox="1"/>
          <p:nvPr/>
        </p:nvSpPr>
        <p:spPr>
          <a:xfrm>
            <a:off x="658368" y="1691640"/>
            <a:ext cx="10515600" cy="54864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We do not have a real bank's data. Pretending we do is the easiest way to show a number that looks like proof and is not. So every figure we report says which kind of data produced it.</a:t>
            </a:r>
          </a:p>
        </p:txBody>
      </p:sp>
      <p:sp>
        <p:nvSpPr>
          <p:cNvPr id="6" name="Rectangle 5"/>
          <p:cNvSpPr/>
          <p:nvPr/>
        </p:nvSpPr>
        <p:spPr>
          <a:xfrm>
            <a:off x="658368" y="2514600"/>
            <a:ext cx="3383280" cy="25146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2514600"/>
            <a:ext cx="3383280" cy="36576"/>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86968" y="2724912"/>
            <a:ext cx="2926080" cy="228600"/>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0D4A85"/>
                </a:solidFill>
                <a:latin typeface="Consolas"/>
              </a:rPr>
              <a:t>TRACK A</a:t>
            </a:r>
          </a:p>
        </p:txBody>
      </p:sp>
      <p:sp>
        <p:nvSpPr>
          <p:cNvPr id="9" name="TextBox 8"/>
          <p:cNvSpPr txBox="1"/>
          <p:nvPr/>
        </p:nvSpPr>
        <p:spPr>
          <a:xfrm>
            <a:off x="886968" y="3017520"/>
            <a:ext cx="292608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101828"/>
                </a:solidFill>
                <a:latin typeface="Georgia"/>
              </a:rPr>
              <a:t>Local reference</a:t>
            </a:r>
          </a:p>
        </p:txBody>
      </p:sp>
      <p:sp>
        <p:nvSpPr>
          <p:cNvPr id="10" name="TextBox 9"/>
          <p:cNvSpPr txBox="1"/>
          <p:nvPr/>
        </p:nvSpPr>
        <p:spPr>
          <a:xfrm>
            <a:off x="886968" y="3401568"/>
            <a:ext cx="2971800" cy="1188720"/>
          </a:xfrm>
          <a:prstGeom prst="rect">
            <a:avLst/>
          </a:prstGeom>
          <a:noFill/>
        </p:spPr>
        <p:txBody>
          <a:bodyPr wrap="square" lIns="0" rIns="0" tIns="0" bIns="0">
            <a:spAutoFit/>
          </a:bodyPr>
          <a:lstStyle/>
          <a:p>
            <a:pPr algn="l">
              <a:lnSpc>
                <a:spcPct val="122000"/>
              </a:lnSpc>
              <a:spcBef>
                <a:spcPts val="0"/>
              </a:spcBef>
              <a:spcAft>
                <a:spcPts val="0"/>
              </a:spcAft>
            </a:pPr>
            <a:r>
              <a:rPr sz="1050" b="0">
                <a:solidFill>
                  <a:srgbClr val="475467"/>
                </a:solidFill>
                <a:latin typeface="Segoe UI"/>
              </a:rPr>
              <a:t>Runs on a laptop with made-up test data. Proves the plumbing works — that the steps connect and the sums add up.</a:t>
            </a:r>
          </a:p>
        </p:txBody>
      </p:sp>
      <p:sp>
        <p:nvSpPr>
          <p:cNvPr id="11" name="Rectangle 10"/>
          <p:cNvSpPr/>
          <p:nvPr/>
        </p:nvSpPr>
        <p:spPr>
          <a:xfrm>
            <a:off x="4370831" y="2514600"/>
            <a:ext cx="3383280" cy="25146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70831" y="2514600"/>
            <a:ext cx="3383280" cy="36576"/>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99431" y="2724912"/>
            <a:ext cx="2926080" cy="228600"/>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067647"/>
                </a:solidFill>
                <a:latin typeface="Consolas"/>
              </a:rPr>
              <a:t>TRACK P</a:t>
            </a:r>
          </a:p>
        </p:txBody>
      </p:sp>
      <p:sp>
        <p:nvSpPr>
          <p:cNvPr id="14" name="TextBox 13"/>
          <p:cNvSpPr txBox="1"/>
          <p:nvPr/>
        </p:nvSpPr>
        <p:spPr>
          <a:xfrm>
            <a:off x="4599431" y="3017520"/>
            <a:ext cx="292608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101828"/>
                </a:solidFill>
                <a:latin typeface="Georgia"/>
              </a:rPr>
              <a:t>Public reference data</a:t>
            </a:r>
          </a:p>
        </p:txBody>
      </p:sp>
      <p:sp>
        <p:nvSpPr>
          <p:cNvPr id="15" name="TextBox 14"/>
          <p:cNvSpPr txBox="1"/>
          <p:nvPr/>
        </p:nvSpPr>
        <p:spPr>
          <a:xfrm>
            <a:off x="4599431" y="3401568"/>
            <a:ext cx="2971800" cy="1188720"/>
          </a:xfrm>
          <a:prstGeom prst="rect">
            <a:avLst/>
          </a:prstGeom>
          <a:noFill/>
        </p:spPr>
        <p:txBody>
          <a:bodyPr wrap="square" lIns="0" rIns="0" tIns="0" bIns="0">
            <a:spAutoFit/>
          </a:bodyPr>
          <a:lstStyle/>
          <a:p>
            <a:pPr algn="l">
              <a:lnSpc>
                <a:spcPct val="122000"/>
              </a:lnSpc>
              <a:spcBef>
                <a:spcPts val="0"/>
              </a:spcBef>
              <a:spcAft>
                <a:spcPts val="0"/>
              </a:spcAft>
            </a:pPr>
            <a:r>
              <a:rPr sz="1050" b="0">
                <a:solidFill>
                  <a:srgbClr val="475467"/>
                </a:solidFill>
                <a:latin typeface="Segoe UI"/>
              </a:rPr>
              <a:t>Real loans and real applications from public datasets. Proves the code copes with messy reality — missing fields, rare events, broken identifiers. Real data, but not this bank's.</a:t>
            </a:r>
          </a:p>
        </p:txBody>
      </p:sp>
      <p:sp>
        <p:nvSpPr>
          <p:cNvPr id="16" name="Rectangle 15"/>
          <p:cNvSpPr/>
          <p:nvPr/>
        </p:nvSpPr>
        <p:spPr>
          <a:xfrm>
            <a:off x="8083294" y="2514600"/>
            <a:ext cx="3383280" cy="25146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83294" y="2514600"/>
            <a:ext cx="3383280" cy="36576"/>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11894" y="2724912"/>
            <a:ext cx="2926080" cy="228600"/>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B54708"/>
                </a:solidFill>
                <a:latin typeface="Consolas"/>
              </a:rPr>
              <a:t>TRACK B</a:t>
            </a:r>
          </a:p>
        </p:txBody>
      </p:sp>
      <p:sp>
        <p:nvSpPr>
          <p:cNvPr id="19" name="TextBox 18"/>
          <p:cNvSpPr txBox="1"/>
          <p:nvPr/>
        </p:nvSpPr>
        <p:spPr>
          <a:xfrm>
            <a:off x="8311894" y="3017520"/>
            <a:ext cx="292608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101828"/>
                </a:solidFill>
                <a:latin typeface="Georgia"/>
              </a:rPr>
              <a:t>Bank deployment</a:t>
            </a:r>
          </a:p>
        </p:txBody>
      </p:sp>
      <p:sp>
        <p:nvSpPr>
          <p:cNvPr id="20" name="TextBox 19"/>
          <p:cNvSpPr txBox="1"/>
          <p:nvPr/>
        </p:nvSpPr>
        <p:spPr>
          <a:xfrm>
            <a:off x="8311894" y="3401568"/>
            <a:ext cx="2971800" cy="1188720"/>
          </a:xfrm>
          <a:prstGeom prst="rect">
            <a:avLst/>
          </a:prstGeom>
          <a:noFill/>
        </p:spPr>
        <p:txBody>
          <a:bodyPr wrap="square" lIns="0" rIns="0" tIns="0" bIns="0">
            <a:spAutoFit/>
          </a:bodyPr>
          <a:lstStyle/>
          <a:p>
            <a:pPr algn="l">
              <a:lnSpc>
                <a:spcPct val="122000"/>
              </a:lnSpc>
              <a:spcBef>
                <a:spcPts val="0"/>
              </a:spcBef>
              <a:spcAft>
                <a:spcPts val="0"/>
              </a:spcAft>
            </a:pPr>
            <a:r>
              <a:rPr sz="1050" b="0">
                <a:solidFill>
                  <a:srgbClr val="475467"/>
                </a:solidFill>
                <a:latin typeface="Segoe UI"/>
              </a:rPr>
              <a:t>The bank's own systems and data. This is the only one that counts as real proof. A score measured on US loans tells you about US loans.</a:t>
            </a:r>
          </a:p>
        </p:txBody>
      </p:sp>
      <p:sp>
        <p:nvSpPr>
          <p:cNvPr id="21" name="Rectangle 20"/>
          <p:cNvSpPr/>
          <p:nvPr/>
        </p:nvSpPr>
        <p:spPr>
          <a:xfrm>
            <a:off x="658368" y="5349240"/>
            <a:ext cx="10881360" cy="960120"/>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5349240"/>
            <a:ext cx="36576" cy="96012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59536" y="5468112"/>
            <a:ext cx="10497312" cy="7223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Both kinds of testing are useful. Neither is proof about this bank's customers — and every report we produce says so, on every 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09</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TRACK P RESULTS  ·  REAL PUBLIC DATA</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What the pipelines actually produce</a:t>
            </a:r>
          </a:p>
        </p:txBody>
      </p:sp>
      <p:sp>
        <p:nvSpPr>
          <p:cNvPr id="5" name="TextBox 4"/>
          <p:cNvSpPr txBox="1"/>
          <p:nvPr/>
        </p:nvSpPr>
        <p:spPr>
          <a:xfrm>
            <a:off x="658368" y="164592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The best model from each family. Nineteen were trained across four families; these are the winners, each selected on a validation split and scored once on data it never saw.</a:t>
            </a:r>
          </a:p>
        </p:txBody>
      </p:sp>
      <p:sp>
        <p:nvSpPr>
          <p:cNvPr id="6" name="TextBox 5"/>
          <p:cNvSpPr txBox="1"/>
          <p:nvPr/>
        </p:nvSpPr>
        <p:spPr>
          <a:xfrm>
            <a:off x="658368" y="2240280"/>
            <a:ext cx="320040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MODULE</a:t>
            </a:r>
          </a:p>
        </p:txBody>
      </p:sp>
      <p:sp>
        <p:nvSpPr>
          <p:cNvPr id="7" name="TextBox 6"/>
          <p:cNvSpPr txBox="1"/>
          <p:nvPr/>
        </p:nvSpPr>
        <p:spPr>
          <a:xfrm>
            <a:off x="3858768" y="2240280"/>
            <a:ext cx="228600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DATASET</a:t>
            </a:r>
          </a:p>
        </p:txBody>
      </p:sp>
      <p:sp>
        <p:nvSpPr>
          <p:cNvPr id="8" name="TextBox 7"/>
          <p:cNvSpPr txBox="1"/>
          <p:nvPr/>
        </p:nvSpPr>
        <p:spPr>
          <a:xfrm>
            <a:off x="6144768" y="2240280"/>
            <a:ext cx="164592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TRAINED ON</a:t>
            </a:r>
          </a:p>
        </p:txBody>
      </p:sp>
      <p:sp>
        <p:nvSpPr>
          <p:cNvPr id="9" name="TextBox 8"/>
          <p:cNvSpPr txBox="1"/>
          <p:nvPr/>
        </p:nvSpPr>
        <p:spPr>
          <a:xfrm>
            <a:off x="7790688" y="2240280"/>
            <a:ext cx="182880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GINI</a:t>
            </a:r>
          </a:p>
        </p:txBody>
      </p:sp>
      <p:sp>
        <p:nvSpPr>
          <p:cNvPr id="10" name="TextBox 9"/>
          <p:cNvSpPr txBox="1"/>
          <p:nvPr/>
        </p:nvSpPr>
        <p:spPr>
          <a:xfrm>
            <a:off x="9619488" y="2240280"/>
            <a:ext cx="182880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TEST AUC</a:t>
            </a:r>
          </a:p>
        </p:txBody>
      </p:sp>
      <p:sp>
        <p:nvSpPr>
          <p:cNvPr id="11" name="Rectangle 10"/>
          <p:cNvSpPr/>
          <p:nvPr/>
        </p:nvSpPr>
        <p:spPr>
          <a:xfrm>
            <a:off x="658368" y="2514600"/>
            <a:ext cx="10789920" cy="12700"/>
          </a:xfrm>
          <a:prstGeom prst="rect">
            <a:avLst/>
          </a:prstGeom>
          <a:solidFill>
            <a:srgbClr val="B9C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2660904"/>
            <a:ext cx="32004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Credit scoring</a:t>
            </a:r>
          </a:p>
        </p:txBody>
      </p:sp>
      <p:sp>
        <p:nvSpPr>
          <p:cNvPr id="13" name="TextBox 12"/>
          <p:cNvSpPr txBox="1"/>
          <p:nvPr/>
        </p:nvSpPr>
        <p:spPr>
          <a:xfrm>
            <a:off x="3858768" y="2660904"/>
            <a:ext cx="22860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Home Credit applications</a:t>
            </a:r>
          </a:p>
        </p:txBody>
      </p:sp>
      <p:sp>
        <p:nvSpPr>
          <p:cNvPr id="14" name="TextBox 13"/>
          <p:cNvSpPr txBox="1"/>
          <p:nvPr/>
        </p:nvSpPr>
        <p:spPr>
          <a:xfrm>
            <a:off x="6144768" y="2660904"/>
            <a:ext cx="164592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307,511</a:t>
            </a:r>
          </a:p>
        </p:txBody>
      </p:sp>
      <p:sp>
        <p:nvSpPr>
          <p:cNvPr id="15" name="TextBox 14"/>
          <p:cNvSpPr txBox="1"/>
          <p:nvPr/>
        </p:nvSpPr>
        <p:spPr>
          <a:xfrm>
            <a:off x="7790688" y="2660904"/>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55.94</a:t>
            </a:r>
          </a:p>
        </p:txBody>
      </p:sp>
      <p:sp>
        <p:nvSpPr>
          <p:cNvPr id="16" name="TextBox 15"/>
          <p:cNvSpPr txBox="1"/>
          <p:nvPr/>
        </p:nvSpPr>
        <p:spPr>
          <a:xfrm>
            <a:off x="9619488" y="2660904"/>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0.7797</a:t>
            </a:r>
          </a:p>
        </p:txBody>
      </p:sp>
      <p:sp>
        <p:nvSpPr>
          <p:cNvPr id="17" name="Rectangle 16"/>
          <p:cNvSpPr/>
          <p:nvPr/>
        </p:nvSpPr>
        <p:spPr>
          <a:xfrm>
            <a:off x="658368" y="2971800"/>
            <a:ext cx="107899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3136392"/>
            <a:ext cx="32004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Fraud detection</a:t>
            </a:r>
          </a:p>
        </p:txBody>
      </p:sp>
      <p:sp>
        <p:nvSpPr>
          <p:cNvPr id="19" name="TextBox 18"/>
          <p:cNvSpPr txBox="1"/>
          <p:nvPr/>
        </p:nvSpPr>
        <p:spPr>
          <a:xfrm>
            <a:off x="3858768" y="3136392"/>
            <a:ext cx="22860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IEEE-CIS card transactions</a:t>
            </a:r>
          </a:p>
        </p:txBody>
      </p:sp>
      <p:sp>
        <p:nvSpPr>
          <p:cNvPr id="20" name="TextBox 19"/>
          <p:cNvSpPr txBox="1"/>
          <p:nvPr/>
        </p:nvSpPr>
        <p:spPr>
          <a:xfrm>
            <a:off x="6144768" y="3136392"/>
            <a:ext cx="164592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590,540</a:t>
            </a:r>
          </a:p>
        </p:txBody>
      </p:sp>
      <p:sp>
        <p:nvSpPr>
          <p:cNvPr id="21" name="TextBox 20"/>
          <p:cNvSpPr txBox="1"/>
          <p:nvPr/>
        </p:nvSpPr>
        <p:spPr>
          <a:xfrm>
            <a:off x="7790688" y="3136392"/>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91.28</a:t>
            </a:r>
          </a:p>
        </p:txBody>
      </p:sp>
      <p:sp>
        <p:nvSpPr>
          <p:cNvPr id="22" name="TextBox 21"/>
          <p:cNvSpPr txBox="1"/>
          <p:nvPr/>
        </p:nvSpPr>
        <p:spPr>
          <a:xfrm>
            <a:off x="9619488" y="3136392"/>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0.9564</a:t>
            </a:r>
          </a:p>
        </p:txBody>
      </p:sp>
      <p:sp>
        <p:nvSpPr>
          <p:cNvPr id="23" name="Rectangle 22"/>
          <p:cNvSpPr/>
          <p:nvPr/>
        </p:nvSpPr>
        <p:spPr>
          <a:xfrm>
            <a:off x="658368" y="3447288"/>
            <a:ext cx="107899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3611880"/>
            <a:ext cx="32004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Default prediction</a:t>
            </a:r>
          </a:p>
        </p:txBody>
      </p:sp>
      <p:sp>
        <p:nvSpPr>
          <p:cNvPr id="25" name="TextBox 24"/>
          <p:cNvSpPr txBox="1"/>
          <p:nvPr/>
        </p:nvSpPr>
        <p:spPr>
          <a:xfrm>
            <a:off x="3858768" y="3611880"/>
            <a:ext cx="22860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Fannie Mae mortgage panel</a:t>
            </a:r>
          </a:p>
        </p:txBody>
      </p:sp>
      <p:sp>
        <p:nvSpPr>
          <p:cNvPr id="26" name="TextBox 25"/>
          <p:cNvSpPr txBox="1"/>
          <p:nvPr/>
        </p:nvSpPr>
        <p:spPr>
          <a:xfrm>
            <a:off x="6144768" y="3611880"/>
            <a:ext cx="164592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230,543</a:t>
            </a:r>
          </a:p>
        </p:txBody>
      </p:sp>
      <p:sp>
        <p:nvSpPr>
          <p:cNvPr id="27" name="TextBox 26"/>
          <p:cNvSpPr txBox="1"/>
          <p:nvPr/>
        </p:nvSpPr>
        <p:spPr>
          <a:xfrm>
            <a:off x="7790688" y="36118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76.35</a:t>
            </a:r>
          </a:p>
        </p:txBody>
      </p:sp>
      <p:sp>
        <p:nvSpPr>
          <p:cNvPr id="28" name="TextBox 27"/>
          <p:cNvSpPr txBox="1"/>
          <p:nvPr/>
        </p:nvSpPr>
        <p:spPr>
          <a:xfrm>
            <a:off x="9619488" y="36118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0.8818</a:t>
            </a:r>
          </a:p>
        </p:txBody>
      </p:sp>
      <p:sp>
        <p:nvSpPr>
          <p:cNvPr id="29" name="Rectangle 28"/>
          <p:cNvSpPr/>
          <p:nvPr/>
        </p:nvSpPr>
        <p:spPr>
          <a:xfrm>
            <a:off x="658368" y="3922776"/>
            <a:ext cx="107899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4087368"/>
            <a:ext cx="32004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Crop classification</a:t>
            </a:r>
          </a:p>
        </p:txBody>
      </p:sp>
      <p:sp>
        <p:nvSpPr>
          <p:cNvPr id="31" name="TextBox 30"/>
          <p:cNvSpPr txBox="1"/>
          <p:nvPr/>
        </p:nvSpPr>
        <p:spPr>
          <a:xfrm>
            <a:off x="3858768" y="4087368"/>
            <a:ext cx="22860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AgriFieldNet India</a:t>
            </a:r>
          </a:p>
        </p:txBody>
      </p:sp>
      <p:sp>
        <p:nvSpPr>
          <p:cNvPr id="32" name="TextBox 31"/>
          <p:cNvSpPr txBox="1"/>
          <p:nvPr/>
        </p:nvSpPr>
        <p:spPr>
          <a:xfrm>
            <a:off x="6144768" y="4087368"/>
            <a:ext cx="164592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147,409 px</a:t>
            </a:r>
          </a:p>
        </p:txBody>
      </p:sp>
      <p:sp>
        <p:nvSpPr>
          <p:cNvPr id="33" name="TextBox 32"/>
          <p:cNvSpPr txBox="1"/>
          <p:nvPr/>
        </p:nvSpPr>
        <p:spPr>
          <a:xfrm>
            <a:off x="7790688" y="4087368"/>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macro-F1 0.52</a:t>
            </a:r>
          </a:p>
        </p:txBody>
      </p:sp>
      <p:sp>
        <p:nvSpPr>
          <p:cNvPr id="34" name="TextBox 33"/>
          <p:cNvSpPr txBox="1"/>
          <p:nvPr/>
        </p:nvSpPr>
        <p:spPr>
          <a:xfrm>
            <a:off x="9619488" y="4087368"/>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a:t>
            </a:r>
          </a:p>
        </p:txBody>
      </p:sp>
      <p:sp>
        <p:nvSpPr>
          <p:cNvPr id="35" name="Rectangle 34"/>
          <p:cNvSpPr/>
          <p:nvPr/>
        </p:nvSpPr>
        <p:spPr>
          <a:xfrm>
            <a:off x="658368" y="4398264"/>
            <a:ext cx="107899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58368" y="4864608"/>
            <a:ext cx="10881360" cy="566928"/>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58368" y="4864608"/>
            <a:ext cx="36576" cy="566928"/>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59536" y="4983480"/>
            <a:ext cx="10497312" cy="32918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Crop classification reports macro-F1 rather than AUC because it has six classes rather than two, and macro-F1 rather than accuracy because its smallest class is 1.7% of the data — an accuracy figure would hide that the model fails on it.</a:t>
            </a:r>
          </a:p>
        </p:txBody>
      </p:sp>
      <p:sp>
        <p:nvSpPr>
          <p:cNvPr id="39" name="Rectangle 38"/>
          <p:cNvSpPr/>
          <p:nvPr/>
        </p:nvSpPr>
        <p:spPr>
          <a:xfrm>
            <a:off x="658368" y="5596128"/>
            <a:ext cx="10881360" cy="566928"/>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58368" y="5596128"/>
            <a:ext cx="36576" cy="56692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59536" y="5715000"/>
            <a:ext cx="10497312" cy="32918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All real public data — US mortgages, card fraud, Indian crop imagery — but not this bank's customers. Proof the software works, not proof about this 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10</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EVERY MODEL, NOT JUST THE WINNERS</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Nineteen models across four families</a:t>
            </a:r>
          </a:p>
        </p:txBody>
      </p:sp>
      <p:sp>
        <p:nvSpPr>
          <p:cNvPr id="5" name="TextBox 4"/>
          <p:cNvSpPr txBox="1"/>
          <p:nvPr/>
        </p:nvSpPr>
        <p:spPr>
          <a:xfrm>
            <a:off x="658368" y="169164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Each family fits several models and keeps the best. Showing all of them is the difference between a result and a claim: a single number could be luck, and a spread shows whether the family agrees with itself.</a:t>
            </a:r>
          </a:p>
        </p:txBody>
      </p:sp>
      <p:sp>
        <p:nvSpPr>
          <p:cNvPr id="6" name="TextBox 5"/>
          <p:cNvSpPr txBox="1"/>
          <p:nvPr/>
        </p:nvSpPr>
        <p:spPr>
          <a:xfrm>
            <a:off x="658368" y="2286000"/>
            <a:ext cx="5120640" cy="237744"/>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2166A3"/>
                </a:solidFill>
                <a:latin typeface="Consolas"/>
              </a:rPr>
              <a:t>CREDIT SCORING · Home Credit, 307,511 applications</a:t>
            </a:r>
          </a:p>
        </p:txBody>
      </p:sp>
      <p:sp>
        <p:nvSpPr>
          <p:cNvPr id="7" name="TextBox 6"/>
          <p:cNvSpPr txBox="1"/>
          <p:nvPr/>
        </p:nvSpPr>
        <p:spPr>
          <a:xfrm>
            <a:off x="749808" y="2633472"/>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xgboost_hist</a:t>
            </a:r>
          </a:p>
        </p:txBody>
      </p:sp>
      <p:sp>
        <p:nvSpPr>
          <p:cNvPr id="8" name="TextBox 7"/>
          <p:cNvSpPr txBox="1"/>
          <p:nvPr/>
        </p:nvSpPr>
        <p:spPr>
          <a:xfrm>
            <a:off x="4133088" y="2633472"/>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0.7794</a:t>
            </a:r>
          </a:p>
        </p:txBody>
      </p:sp>
      <p:sp>
        <p:nvSpPr>
          <p:cNvPr id="9" name="TextBox 8"/>
          <p:cNvSpPr txBox="1"/>
          <p:nvPr/>
        </p:nvSpPr>
        <p:spPr>
          <a:xfrm>
            <a:off x="749808" y="2830068"/>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xgboost_deep</a:t>
            </a:r>
          </a:p>
        </p:txBody>
      </p:sp>
      <p:sp>
        <p:nvSpPr>
          <p:cNvPr id="10" name="TextBox 9"/>
          <p:cNvSpPr txBox="1"/>
          <p:nvPr/>
        </p:nvSpPr>
        <p:spPr>
          <a:xfrm>
            <a:off x="4133088" y="2830068"/>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0.7794</a:t>
            </a:r>
          </a:p>
        </p:txBody>
      </p:sp>
      <p:sp>
        <p:nvSpPr>
          <p:cNvPr id="11" name="TextBox 10"/>
          <p:cNvSpPr txBox="1"/>
          <p:nvPr/>
        </p:nvSpPr>
        <p:spPr>
          <a:xfrm>
            <a:off x="749808" y="3026664"/>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lightgbm_deep</a:t>
            </a:r>
          </a:p>
        </p:txBody>
      </p:sp>
      <p:sp>
        <p:nvSpPr>
          <p:cNvPr id="12" name="TextBox 11"/>
          <p:cNvSpPr txBox="1"/>
          <p:nvPr/>
        </p:nvSpPr>
        <p:spPr>
          <a:xfrm>
            <a:off x="4133088" y="3026664"/>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0.7791</a:t>
            </a:r>
          </a:p>
        </p:txBody>
      </p:sp>
      <p:sp>
        <p:nvSpPr>
          <p:cNvPr id="13" name="TextBox 12"/>
          <p:cNvSpPr txBox="1"/>
          <p:nvPr/>
        </p:nvSpPr>
        <p:spPr>
          <a:xfrm>
            <a:off x="749808" y="3223260"/>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lightgbm_wide</a:t>
            </a:r>
          </a:p>
        </p:txBody>
      </p:sp>
      <p:sp>
        <p:nvSpPr>
          <p:cNvPr id="14" name="TextBox 13"/>
          <p:cNvSpPr txBox="1"/>
          <p:nvPr/>
        </p:nvSpPr>
        <p:spPr>
          <a:xfrm>
            <a:off x="4133088" y="3223260"/>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0.7790</a:t>
            </a:r>
          </a:p>
        </p:txBody>
      </p:sp>
      <p:sp>
        <p:nvSpPr>
          <p:cNvPr id="15" name="TextBox 14"/>
          <p:cNvSpPr txBox="1"/>
          <p:nvPr/>
        </p:nvSpPr>
        <p:spPr>
          <a:xfrm>
            <a:off x="749808" y="3419856"/>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lightgbm_shallow</a:t>
            </a:r>
          </a:p>
        </p:txBody>
      </p:sp>
      <p:sp>
        <p:nvSpPr>
          <p:cNvPr id="16" name="TextBox 15"/>
          <p:cNvSpPr txBox="1"/>
          <p:nvPr/>
        </p:nvSpPr>
        <p:spPr>
          <a:xfrm>
            <a:off x="4133088" y="3419856"/>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0.7783</a:t>
            </a:r>
          </a:p>
        </p:txBody>
      </p:sp>
      <p:sp>
        <p:nvSpPr>
          <p:cNvPr id="17" name="TextBox 16"/>
          <p:cNvSpPr txBox="1"/>
          <p:nvPr/>
        </p:nvSpPr>
        <p:spPr>
          <a:xfrm>
            <a:off x="749808" y="3616452"/>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random_forest</a:t>
            </a:r>
          </a:p>
        </p:txBody>
      </p:sp>
      <p:sp>
        <p:nvSpPr>
          <p:cNvPr id="18" name="TextBox 17"/>
          <p:cNvSpPr txBox="1"/>
          <p:nvPr/>
        </p:nvSpPr>
        <p:spPr>
          <a:xfrm>
            <a:off x="4133088" y="3616452"/>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0.7575</a:t>
            </a:r>
          </a:p>
        </p:txBody>
      </p:sp>
      <p:sp>
        <p:nvSpPr>
          <p:cNvPr id="19" name="TextBox 18"/>
          <p:cNvSpPr txBox="1"/>
          <p:nvPr/>
        </p:nvSpPr>
        <p:spPr>
          <a:xfrm>
            <a:off x="749808" y="3813048"/>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extra_trees</a:t>
            </a:r>
          </a:p>
        </p:txBody>
      </p:sp>
      <p:sp>
        <p:nvSpPr>
          <p:cNvPr id="20" name="TextBox 19"/>
          <p:cNvSpPr txBox="1"/>
          <p:nvPr/>
        </p:nvSpPr>
        <p:spPr>
          <a:xfrm>
            <a:off x="4133088" y="3813048"/>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0.6936</a:t>
            </a:r>
          </a:p>
        </p:txBody>
      </p:sp>
      <p:sp>
        <p:nvSpPr>
          <p:cNvPr id="21" name="TextBox 20"/>
          <p:cNvSpPr txBox="1"/>
          <p:nvPr/>
        </p:nvSpPr>
        <p:spPr>
          <a:xfrm>
            <a:off x="749808" y="4009644"/>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67647"/>
                </a:solidFill>
                <a:latin typeface="Consolas"/>
              </a:rPr>
              <a:t>→ logistic stack</a:t>
            </a:r>
          </a:p>
        </p:txBody>
      </p:sp>
      <p:sp>
        <p:nvSpPr>
          <p:cNvPr id="22" name="TextBox 21"/>
          <p:cNvSpPr txBox="1"/>
          <p:nvPr/>
        </p:nvSpPr>
        <p:spPr>
          <a:xfrm>
            <a:off x="4133088" y="4009644"/>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67647"/>
                </a:solidFill>
                <a:latin typeface="Consolas"/>
              </a:rPr>
              <a:t>0.7797</a:t>
            </a:r>
          </a:p>
        </p:txBody>
      </p:sp>
      <p:sp>
        <p:nvSpPr>
          <p:cNvPr id="23" name="TextBox 22"/>
          <p:cNvSpPr txBox="1"/>
          <p:nvPr/>
        </p:nvSpPr>
        <p:spPr>
          <a:xfrm>
            <a:off x="6236208" y="2286000"/>
            <a:ext cx="5120640" cy="237744"/>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2166A3"/>
                </a:solidFill>
                <a:latin typeface="Consolas"/>
              </a:rPr>
              <a:t>FRAUD · IEEE-CIS, 590,540 transactions</a:t>
            </a:r>
          </a:p>
        </p:txBody>
      </p:sp>
      <p:sp>
        <p:nvSpPr>
          <p:cNvPr id="24" name="TextBox 23"/>
          <p:cNvSpPr txBox="1"/>
          <p:nvPr/>
        </p:nvSpPr>
        <p:spPr>
          <a:xfrm>
            <a:off x="6327648" y="2633472"/>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lightgbm</a:t>
            </a:r>
          </a:p>
        </p:txBody>
      </p:sp>
      <p:sp>
        <p:nvSpPr>
          <p:cNvPr id="25" name="TextBox 24"/>
          <p:cNvSpPr txBox="1"/>
          <p:nvPr/>
        </p:nvSpPr>
        <p:spPr>
          <a:xfrm>
            <a:off x="9710928" y="2633472"/>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0.9555</a:t>
            </a:r>
          </a:p>
        </p:txBody>
      </p:sp>
      <p:sp>
        <p:nvSpPr>
          <p:cNvPr id="26" name="TextBox 25"/>
          <p:cNvSpPr txBox="1"/>
          <p:nvPr/>
        </p:nvSpPr>
        <p:spPr>
          <a:xfrm>
            <a:off x="6327648" y="2830068"/>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xgboost</a:t>
            </a:r>
          </a:p>
        </p:txBody>
      </p:sp>
      <p:sp>
        <p:nvSpPr>
          <p:cNvPr id="27" name="TextBox 26"/>
          <p:cNvSpPr txBox="1"/>
          <p:nvPr/>
        </p:nvSpPr>
        <p:spPr>
          <a:xfrm>
            <a:off x="9710928" y="2830068"/>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0.9542</a:t>
            </a:r>
          </a:p>
        </p:txBody>
      </p:sp>
      <p:sp>
        <p:nvSpPr>
          <p:cNvPr id="28" name="TextBox 27"/>
          <p:cNvSpPr txBox="1"/>
          <p:nvPr/>
        </p:nvSpPr>
        <p:spPr>
          <a:xfrm>
            <a:off x="6327648" y="3026664"/>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catboost</a:t>
            </a:r>
          </a:p>
        </p:txBody>
      </p:sp>
      <p:sp>
        <p:nvSpPr>
          <p:cNvPr id="29" name="TextBox 28"/>
          <p:cNvSpPr txBox="1"/>
          <p:nvPr/>
        </p:nvSpPr>
        <p:spPr>
          <a:xfrm>
            <a:off x="9710928" y="3026664"/>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0.9508</a:t>
            </a:r>
          </a:p>
        </p:txBody>
      </p:sp>
      <p:sp>
        <p:nvSpPr>
          <p:cNvPr id="30" name="TextBox 29"/>
          <p:cNvSpPr txBox="1"/>
          <p:nvPr/>
        </p:nvSpPr>
        <p:spPr>
          <a:xfrm>
            <a:off x="6327648" y="3223260"/>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67647"/>
                </a:solidFill>
                <a:latin typeface="Consolas"/>
              </a:rPr>
              <a:t>→ logistic stack</a:t>
            </a:r>
          </a:p>
        </p:txBody>
      </p:sp>
      <p:sp>
        <p:nvSpPr>
          <p:cNvPr id="31" name="TextBox 30"/>
          <p:cNvSpPr txBox="1"/>
          <p:nvPr/>
        </p:nvSpPr>
        <p:spPr>
          <a:xfrm>
            <a:off x="9710928" y="3223260"/>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67647"/>
                </a:solidFill>
                <a:latin typeface="Consolas"/>
              </a:rPr>
              <a:t>0.9564</a:t>
            </a:r>
          </a:p>
        </p:txBody>
      </p:sp>
      <p:sp>
        <p:nvSpPr>
          <p:cNvPr id="32" name="TextBox 31"/>
          <p:cNvSpPr txBox="1"/>
          <p:nvPr/>
        </p:nvSpPr>
        <p:spPr>
          <a:xfrm>
            <a:off x="658368" y="4434840"/>
            <a:ext cx="5120640" cy="237744"/>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2166A3"/>
                </a:solidFill>
                <a:latin typeface="Consolas"/>
              </a:rPr>
              <a:t>DEFAULT PREDICTION · Fannie Mae, 230,543 accounts</a:t>
            </a:r>
          </a:p>
        </p:txBody>
      </p:sp>
      <p:sp>
        <p:nvSpPr>
          <p:cNvPr id="33" name="TextBox 32"/>
          <p:cNvSpPr txBox="1"/>
          <p:nvPr/>
        </p:nvSpPr>
        <p:spPr>
          <a:xfrm>
            <a:off x="749808" y="4782312"/>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xgboost_pd</a:t>
            </a:r>
          </a:p>
        </p:txBody>
      </p:sp>
      <p:sp>
        <p:nvSpPr>
          <p:cNvPr id="34" name="TextBox 33"/>
          <p:cNvSpPr txBox="1"/>
          <p:nvPr/>
        </p:nvSpPr>
        <p:spPr>
          <a:xfrm>
            <a:off x="4133088" y="4782312"/>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0.8818</a:t>
            </a:r>
          </a:p>
        </p:txBody>
      </p:sp>
      <p:sp>
        <p:nvSpPr>
          <p:cNvPr id="35" name="TextBox 34"/>
          <p:cNvSpPr txBox="1"/>
          <p:nvPr/>
        </p:nvSpPr>
        <p:spPr>
          <a:xfrm>
            <a:off x="749808" y="4978908"/>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lightgbm_pd</a:t>
            </a:r>
          </a:p>
        </p:txBody>
      </p:sp>
      <p:sp>
        <p:nvSpPr>
          <p:cNvPr id="36" name="TextBox 35"/>
          <p:cNvSpPr txBox="1"/>
          <p:nvPr/>
        </p:nvSpPr>
        <p:spPr>
          <a:xfrm>
            <a:off x="4133088" y="4978908"/>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0.8813</a:t>
            </a:r>
          </a:p>
        </p:txBody>
      </p:sp>
      <p:sp>
        <p:nvSpPr>
          <p:cNvPr id="37" name="TextBox 36"/>
          <p:cNvSpPr txBox="1"/>
          <p:nvPr/>
        </p:nvSpPr>
        <p:spPr>
          <a:xfrm>
            <a:off x="749808" y="5175504"/>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lightgbm_pd_deep</a:t>
            </a:r>
          </a:p>
        </p:txBody>
      </p:sp>
      <p:sp>
        <p:nvSpPr>
          <p:cNvPr id="38" name="TextBox 37"/>
          <p:cNvSpPr txBox="1"/>
          <p:nvPr/>
        </p:nvSpPr>
        <p:spPr>
          <a:xfrm>
            <a:off x="4133088" y="5175504"/>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0.8811</a:t>
            </a:r>
          </a:p>
        </p:txBody>
      </p:sp>
      <p:sp>
        <p:nvSpPr>
          <p:cNvPr id="39" name="TextBox 38"/>
          <p:cNvSpPr txBox="1"/>
          <p:nvPr/>
        </p:nvSpPr>
        <p:spPr>
          <a:xfrm>
            <a:off x="749808" y="5372100"/>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gradient_boosting</a:t>
            </a:r>
          </a:p>
        </p:txBody>
      </p:sp>
      <p:sp>
        <p:nvSpPr>
          <p:cNvPr id="40" name="TextBox 39"/>
          <p:cNvSpPr txBox="1"/>
          <p:nvPr/>
        </p:nvSpPr>
        <p:spPr>
          <a:xfrm>
            <a:off x="4133088" y="5372100"/>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0.8789</a:t>
            </a:r>
          </a:p>
        </p:txBody>
      </p:sp>
      <p:sp>
        <p:nvSpPr>
          <p:cNvPr id="41" name="TextBox 40"/>
          <p:cNvSpPr txBox="1"/>
          <p:nvPr/>
        </p:nvSpPr>
        <p:spPr>
          <a:xfrm>
            <a:off x="749808" y="5568696"/>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random_forest_pd</a:t>
            </a:r>
          </a:p>
        </p:txBody>
      </p:sp>
      <p:sp>
        <p:nvSpPr>
          <p:cNvPr id="42" name="TextBox 41"/>
          <p:cNvSpPr txBox="1"/>
          <p:nvPr/>
        </p:nvSpPr>
        <p:spPr>
          <a:xfrm>
            <a:off x="4133088" y="5568696"/>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0.8730</a:t>
            </a:r>
          </a:p>
        </p:txBody>
      </p:sp>
      <p:sp>
        <p:nvSpPr>
          <p:cNvPr id="43" name="TextBox 42"/>
          <p:cNvSpPr txBox="1"/>
          <p:nvPr/>
        </p:nvSpPr>
        <p:spPr>
          <a:xfrm>
            <a:off x="6236208" y="4434840"/>
            <a:ext cx="5120640" cy="237744"/>
          </a:xfrm>
          <a:prstGeom prst="rect">
            <a:avLst/>
          </a:prstGeom>
          <a:noFill/>
        </p:spPr>
        <p:txBody>
          <a:bodyPr wrap="square" lIns="0" rIns="0" tIns="0" bIns="0">
            <a:spAutoFit/>
          </a:bodyPr>
          <a:lstStyle/>
          <a:p>
            <a:pPr algn="l">
              <a:lnSpc>
                <a:spcPct val="100000"/>
              </a:lnSpc>
              <a:spcBef>
                <a:spcPts val="0"/>
              </a:spcBef>
              <a:spcAft>
                <a:spcPts val="0"/>
              </a:spcAft>
            </a:pPr>
            <a:r>
              <a:rPr sz="900" b="1">
                <a:solidFill>
                  <a:srgbClr val="2166A3"/>
                </a:solidFill>
                <a:latin typeface="Consolas"/>
              </a:rPr>
              <a:t>CROP · AgriFieldNet, 147,409 pixels  (macro-F1)</a:t>
            </a:r>
          </a:p>
        </p:txBody>
      </p:sp>
      <p:sp>
        <p:nvSpPr>
          <p:cNvPr id="44" name="TextBox 43"/>
          <p:cNvSpPr txBox="1"/>
          <p:nvPr/>
        </p:nvSpPr>
        <p:spPr>
          <a:xfrm>
            <a:off x="6327648" y="4782312"/>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extra_trees</a:t>
            </a:r>
          </a:p>
        </p:txBody>
      </p:sp>
      <p:sp>
        <p:nvSpPr>
          <p:cNvPr id="45" name="TextBox 44"/>
          <p:cNvSpPr txBox="1"/>
          <p:nvPr/>
        </p:nvSpPr>
        <p:spPr>
          <a:xfrm>
            <a:off x="9710928" y="4782312"/>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0.5249</a:t>
            </a:r>
          </a:p>
        </p:txBody>
      </p:sp>
      <p:sp>
        <p:nvSpPr>
          <p:cNvPr id="46" name="TextBox 45"/>
          <p:cNvSpPr txBox="1"/>
          <p:nvPr/>
        </p:nvSpPr>
        <p:spPr>
          <a:xfrm>
            <a:off x="6327648" y="4978908"/>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random_forest</a:t>
            </a:r>
          </a:p>
        </p:txBody>
      </p:sp>
      <p:sp>
        <p:nvSpPr>
          <p:cNvPr id="47" name="TextBox 46"/>
          <p:cNvSpPr txBox="1"/>
          <p:nvPr/>
        </p:nvSpPr>
        <p:spPr>
          <a:xfrm>
            <a:off x="9710928" y="4978908"/>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0.5163</a:t>
            </a:r>
          </a:p>
        </p:txBody>
      </p:sp>
      <p:sp>
        <p:nvSpPr>
          <p:cNvPr id="48" name="TextBox 47"/>
          <p:cNvSpPr txBox="1"/>
          <p:nvPr/>
        </p:nvSpPr>
        <p:spPr>
          <a:xfrm>
            <a:off x="6327648" y="5175504"/>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lightgbm</a:t>
            </a:r>
          </a:p>
        </p:txBody>
      </p:sp>
      <p:sp>
        <p:nvSpPr>
          <p:cNvPr id="49" name="TextBox 48"/>
          <p:cNvSpPr txBox="1"/>
          <p:nvPr/>
        </p:nvSpPr>
        <p:spPr>
          <a:xfrm>
            <a:off x="9710928" y="5175504"/>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0.5115</a:t>
            </a:r>
          </a:p>
        </p:txBody>
      </p:sp>
      <p:sp>
        <p:nvSpPr>
          <p:cNvPr id="50" name="TextBox 49"/>
          <p:cNvSpPr txBox="1"/>
          <p:nvPr/>
        </p:nvSpPr>
        <p:spPr>
          <a:xfrm>
            <a:off x="6327648" y="5372100"/>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475467"/>
                </a:solidFill>
                <a:latin typeface="Consolas"/>
              </a:rPr>
              <a:t>xgboost</a:t>
            </a:r>
          </a:p>
        </p:txBody>
      </p:sp>
      <p:sp>
        <p:nvSpPr>
          <p:cNvPr id="51" name="TextBox 50"/>
          <p:cNvSpPr txBox="1"/>
          <p:nvPr/>
        </p:nvSpPr>
        <p:spPr>
          <a:xfrm>
            <a:off x="9710928" y="5372100"/>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101828"/>
                </a:solidFill>
                <a:latin typeface="Consolas"/>
              </a:rPr>
              <a:t>0.4966</a:t>
            </a:r>
          </a:p>
        </p:txBody>
      </p:sp>
      <p:sp>
        <p:nvSpPr>
          <p:cNvPr id="52" name="TextBox 51"/>
          <p:cNvSpPr txBox="1"/>
          <p:nvPr/>
        </p:nvSpPr>
        <p:spPr>
          <a:xfrm>
            <a:off x="6327648" y="5568696"/>
            <a:ext cx="3291840" cy="18288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67647"/>
                </a:solidFill>
                <a:latin typeface="Consolas"/>
              </a:rPr>
              <a:t>→ equal-weight blend</a:t>
            </a:r>
          </a:p>
        </p:txBody>
      </p:sp>
      <p:sp>
        <p:nvSpPr>
          <p:cNvPr id="53" name="TextBox 52"/>
          <p:cNvSpPr txBox="1"/>
          <p:nvPr/>
        </p:nvSpPr>
        <p:spPr>
          <a:xfrm>
            <a:off x="9710928" y="5568696"/>
            <a:ext cx="1097280" cy="182880"/>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67647"/>
                </a:solidFill>
                <a:latin typeface="Consolas"/>
              </a:rPr>
              <a:t>0.5225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11</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FRAUD DETECTION · THE STRONGEST RESULT</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0.9564 AUC on 590,540 real card transactions</a:t>
            </a:r>
          </a:p>
        </p:txBody>
      </p:sp>
      <p:sp>
        <p:nvSpPr>
          <p:cNvPr id="5" name="TextBox 4"/>
          <p:cNvSpPr txBox="1"/>
          <p:nvPr/>
        </p:nvSpPr>
        <p:spPr>
          <a:xfrm>
            <a:off x="658368" y="1737360"/>
            <a:ext cx="5577840" cy="1371600"/>
          </a:xfrm>
          <a:prstGeom prst="rect">
            <a:avLst/>
          </a:prstGeom>
          <a:noFill/>
        </p:spPr>
        <p:txBody>
          <a:bodyPr wrap="square" lIns="0" rIns="0" tIns="0" bIns="0">
            <a:spAutoFit/>
          </a:bodyPr>
          <a:lstStyle/>
          <a:p>
            <a:pPr algn="l">
              <a:lnSpc>
                <a:spcPct val="128000"/>
              </a:lnSpc>
              <a:spcBef>
                <a:spcPts val="0"/>
              </a:spcBef>
              <a:spcAft>
                <a:spcPts val="1000"/>
              </a:spcAft>
            </a:pPr>
            <a:r>
              <a:rPr sz="1200" b="0">
                <a:solidFill>
                  <a:srgbClr val="475467"/>
                </a:solidFill>
                <a:latin typeface="Segoe UI"/>
              </a:rPr>
              <a:t>Three model families on identical folds. The folds are by calendar month, so a model never sees a transaction from the month it is scored on — a random split would let a card's January purchases predict its own January purchases, which is the leak this competition is known for.</a:t>
            </a:r>
          </a:p>
          <a:p>
            <a:pPr algn="l">
              <a:lnSpc>
                <a:spcPct val="128000"/>
              </a:lnSpc>
              <a:spcBef>
                <a:spcPts val="0"/>
              </a:spcBef>
              <a:spcAft>
                <a:spcPts val="0"/>
              </a:spcAft>
            </a:pPr>
            <a:r>
              <a:rPr sz="1200" b="0">
                <a:solidFill>
                  <a:srgbClr val="475467"/>
                </a:solidFill>
                <a:latin typeface="Segoe UI"/>
              </a:rPr>
              <a:t>Per-fold AUC runs 0.929 to 0.971. That spread is the honest uncertainty on the headline number.</a:t>
            </a:r>
          </a:p>
        </p:txBody>
      </p:sp>
      <p:sp>
        <p:nvSpPr>
          <p:cNvPr id="6" name="Rectangle 5"/>
          <p:cNvSpPr/>
          <p:nvPr/>
        </p:nvSpPr>
        <p:spPr>
          <a:xfrm>
            <a:off x="658368" y="3383280"/>
            <a:ext cx="5577840" cy="1371600"/>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3383280"/>
            <a:ext cx="36576" cy="137160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59536" y="3502152"/>
            <a:ext cx="5193792" cy="113385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The single biggest feature is a customer id the dataset does not ship. Subtracting a days-since-account-opened counter from the clock leaves a constant per card — which turns 590,540 independent-looking rows into customers with histories. Exactly the entity-resolution step Module 3 performs on shared phone, device and address.</a:t>
            </a:r>
          </a:p>
        </p:txBody>
      </p:sp>
      <p:sp>
        <p:nvSpPr>
          <p:cNvPr id="9" name="TextBox 8"/>
          <p:cNvSpPr txBox="1"/>
          <p:nvPr/>
        </p:nvSpPr>
        <p:spPr>
          <a:xfrm>
            <a:off x="6766560" y="1737360"/>
            <a:ext cx="475488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WHAT A REVIEW DESK WOULD SEE</a:t>
            </a:r>
          </a:p>
        </p:txBody>
      </p:sp>
      <p:sp>
        <p:nvSpPr>
          <p:cNvPr id="10" name="TextBox 9"/>
          <p:cNvSpPr txBox="1"/>
          <p:nvPr/>
        </p:nvSpPr>
        <p:spPr>
          <a:xfrm>
            <a:off x="6766560" y="2148840"/>
            <a:ext cx="914400"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REVIEW</a:t>
            </a:r>
          </a:p>
        </p:txBody>
      </p:sp>
      <p:sp>
        <p:nvSpPr>
          <p:cNvPr id="11" name="TextBox 10"/>
          <p:cNvSpPr txBox="1"/>
          <p:nvPr/>
        </p:nvSpPr>
        <p:spPr>
          <a:xfrm>
            <a:off x="7680960" y="2148840"/>
            <a:ext cx="1097280"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CAUGHT</a:t>
            </a:r>
          </a:p>
        </p:txBody>
      </p:sp>
      <p:sp>
        <p:nvSpPr>
          <p:cNvPr id="12" name="TextBox 11"/>
          <p:cNvSpPr txBox="1"/>
          <p:nvPr/>
        </p:nvSpPr>
        <p:spPr>
          <a:xfrm>
            <a:off x="8778240" y="2148840"/>
            <a:ext cx="1280160"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PRECISION</a:t>
            </a:r>
          </a:p>
        </p:txBody>
      </p:sp>
      <p:sp>
        <p:nvSpPr>
          <p:cNvPr id="13" name="TextBox 12"/>
          <p:cNvSpPr txBox="1"/>
          <p:nvPr/>
        </p:nvSpPr>
        <p:spPr>
          <a:xfrm>
            <a:off x="10058400" y="2148840"/>
            <a:ext cx="1463040"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FALSE ALERTS</a:t>
            </a:r>
          </a:p>
        </p:txBody>
      </p:sp>
      <p:sp>
        <p:nvSpPr>
          <p:cNvPr id="14" name="Rectangle 13"/>
          <p:cNvSpPr/>
          <p:nvPr/>
        </p:nvSpPr>
        <p:spPr>
          <a:xfrm>
            <a:off x="6766560" y="2395728"/>
            <a:ext cx="4754880" cy="12700"/>
          </a:xfrm>
          <a:prstGeom prst="rect">
            <a:avLst/>
          </a:prstGeom>
          <a:solidFill>
            <a:srgbClr val="B9C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766560" y="2542032"/>
            <a:ext cx="91440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0.5%</a:t>
            </a:r>
          </a:p>
        </p:txBody>
      </p:sp>
      <p:sp>
        <p:nvSpPr>
          <p:cNvPr id="16" name="TextBox 15"/>
          <p:cNvSpPr txBox="1"/>
          <p:nvPr/>
        </p:nvSpPr>
        <p:spPr>
          <a:xfrm>
            <a:off x="7680960" y="2542032"/>
            <a:ext cx="109728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14.1%</a:t>
            </a:r>
          </a:p>
        </p:txBody>
      </p:sp>
      <p:sp>
        <p:nvSpPr>
          <p:cNvPr id="17" name="TextBox 16"/>
          <p:cNvSpPr txBox="1"/>
          <p:nvPr/>
        </p:nvSpPr>
        <p:spPr>
          <a:xfrm>
            <a:off x="8778240" y="2542032"/>
            <a:ext cx="128016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98.4%</a:t>
            </a:r>
          </a:p>
        </p:txBody>
      </p:sp>
      <p:sp>
        <p:nvSpPr>
          <p:cNvPr id="18" name="TextBox 17"/>
          <p:cNvSpPr txBox="1"/>
          <p:nvPr/>
        </p:nvSpPr>
        <p:spPr>
          <a:xfrm>
            <a:off x="10058400" y="2542032"/>
            <a:ext cx="146304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46</a:t>
            </a:r>
          </a:p>
        </p:txBody>
      </p:sp>
      <p:sp>
        <p:nvSpPr>
          <p:cNvPr id="19" name="Rectangle 18"/>
          <p:cNvSpPr/>
          <p:nvPr/>
        </p:nvSpPr>
        <p:spPr>
          <a:xfrm>
            <a:off x="6766560" y="2816352"/>
            <a:ext cx="47548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66560" y="2926080"/>
            <a:ext cx="914400" cy="237744"/>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Consolas"/>
              </a:rPr>
              <a:t>1%</a:t>
            </a:r>
          </a:p>
        </p:txBody>
      </p:sp>
      <p:sp>
        <p:nvSpPr>
          <p:cNvPr id="21" name="TextBox 20"/>
          <p:cNvSpPr txBox="1"/>
          <p:nvPr/>
        </p:nvSpPr>
        <p:spPr>
          <a:xfrm>
            <a:off x="7680960" y="2926080"/>
            <a:ext cx="1097280" cy="237744"/>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067647"/>
                </a:solidFill>
                <a:latin typeface="Consolas"/>
              </a:rPr>
              <a:t>27.6%</a:t>
            </a:r>
          </a:p>
        </p:txBody>
      </p:sp>
      <p:sp>
        <p:nvSpPr>
          <p:cNvPr id="22" name="TextBox 21"/>
          <p:cNvSpPr txBox="1"/>
          <p:nvPr/>
        </p:nvSpPr>
        <p:spPr>
          <a:xfrm>
            <a:off x="8778240" y="2926080"/>
            <a:ext cx="1280160" cy="237744"/>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Consolas"/>
              </a:rPr>
              <a:t>96.4%</a:t>
            </a:r>
          </a:p>
        </p:txBody>
      </p:sp>
      <p:sp>
        <p:nvSpPr>
          <p:cNvPr id="23" name="TextBox 22"/>
          <p:cNvSpPr txBox="1"/>
          <p:nvPr/>
        </p:nvSpPr>
        <p:spPr>
          <a:xfrm>
            <a:off x="10058400" y="2926080"/>
            <a:ext cx="1463040" cy="237744"/>
          </a:xfrm>
          <a:prstGeom prst="rect">
            <a:avLst/>
          </a:prstGeom>
          <a:noFill/>
        </p:spPr>
        <p:txBody>
          <a:bodyPr wrap="square" lIns="0" rIns="0" tIns="0" bIns="0">
            <a:spAutoFit/>
          </a:bodyPr>
          <a:lstStyle/>
          <a:p>
            <a:pPr algn="l">
              <a:lnSpc>
                <a:spcPct val="100000"/>
              </a:lnSpc>
              <a:spcBef>
                <a:spcPts val="0"/>
              </a:spcBef>
              <a:spcAft>
                <a:spcPts val="0"/>
              </a:spcAft>
            </a:pPr>
            <a:r>
              <a:rPr sz="1150" b="1">
                <a:solidFill>
                  <a:srgbClr val="101828"/>
                </a:solidFill>
                <a:latin typeface="Consolas"/>
              </a:rPr>
              <a:t>211</a:t>
            </a:r>
          </a:p>
        </p:txBody>
      </p:sp>
      <p:sp>
        <p:nvSpPr>
          <p:cNvPr id="24" name="Rectangle 23"/>
          <p:cNvSpPr/>
          <p:nvPr/>
        </p:nvSpPr>
        <p:spPr>
          <a:xfrm>
            <a:off x="6766560" y="3200400"/>
            <a:ext cx="47548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66560" y="3310128"/>
            <a:ext cx="91440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2%</a:t>
            </a:r>
          </a:p>
        </p:txBody>
      </p:sp>
      <p:sp>
        <p:nvSpPr>
          <p:cNvPr id="26" name="TextBox 25"/>
          <p:cNvSpPr txBox="1"/>
          <p:nvPr/>
        </p:nvSpPr>
        <p:spPr>
          <a:xfrm>
            <a:off x="7680960" y="3310128"/>
            <a:ext cx="109728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51.3%</a:t>
            </a:r>
          </a:p>
        </p:txBody>
      </p:sp>
      <p:sp>
        <p:nvSpPr>
          <p:cNvPr id="27" name="TextBox 26"/>
          <p:cNvSpPr txBox="1"/>
          <p:nvPr/>
        </p:nvSpPr>
        <p:spPr>
          <a:xfrm>
            <a:off x="8778240" y="3310128"/>
            <a:ext cx="128016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89.8%</a:t>
            </a:r>
          </a:p>
        </p:txBody>
      </p:sp>
      <p:sp>
        <p:nvSpPr>
          <p:cNvPr id="28" name="TextBox 27"/>
          <p:cNvSpPr txBox="1"/>
          <p:nvPr/>
        </p:nvSpPr>
        <p:spPr>
          <a:xfrm>
            <a:off x="10058400" y="3310128"/>
            <a:ext cx="146304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1,204</a:t>
            </a:r>
          </a:p>
        </p:txBody>
      </p:sp>
      <p:sp>
        <p:nvSpPr>
          <p:cNvPr id="29" name="Rectangle 28"/>
          <p:cNvSpPr/>
          <p:nvPr/>
        </p:nvSpPr>
        <p:spPr>
          <a:xfrm>
            <a:off x="6766560" y="3584448"/>
            <a:ext cx="47548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766560" y="3694176"/>
            <a:ext cx="91440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5%</a:t>
            </a:r>
          </a:p>
        </p:txBody>
      </p:sp>
      <p:sp>
        <p:nvSpPr>
          <p:cNvPr id="31" name="TextBox 30"/>
          <p:cNvSpPr txBox="1"/>
          <p:nvPr/>
        </p:nvSpPr>
        <p:spPr>
          <a:xfrm>
            <a:off x="7680960" y="3694176"/>
            <a:ext cx="109728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74.1%</a:t>
            </a:r>
          </a:p>
        </p:txBody>
      </p:sp>
      <p:sp>
        <p:nvSpPr>
          <p:cNvPr id="32" name="TextBox 31"/>
          <p:cNvSpPr txBox="1"/>
          <p:nvPr/>
        </p:nvSpPr>
        <p:spPr>
          <a:xfrm>
            <a:off x="8778240" y="3694176"/>
            <a:ext cx="128016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51.9%</a:t>
            </a:r>
          </a:p>
        </p:txBody>
      </p:sp>
      <p:sp>
        <p:nvSpPr>
          <p:cNvPr id="33" name="TextBox 32"/>
          <p:cNvSpPr txBox="1"/>
          <p:nvPr/>
        </p:nvSpPr>
        <p:spPr>
          <a:xfrm>
            <a:off x="10058400" y="3694176"/>
            <a:ext cx="1463040" cy="237744"/>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B54708"/>
                </a:solidFill>
                <a:latin typeface="Consolas"/>
              </a:rPr>
              <a:t>14,214</a:t>
            </a:r>
          </a:p>
        </p:txBody>
      </p:sp>
      <p:sp>
        <p:nvSpPr>
          <p:cNvPr id="34" name="Rectangle 33"/>
          <p:cNvSpPr/>
          <p:nvPr/>
        </p:nvSpPr>
        <p:spPr>
          <a:xfrm>
            <a:off x="6766560" y="3968496"/>
            <a:ext cx="47548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766560" y="4297680"/>
            <a:ext cx="4754880" cy="1417320"/>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766560" y="4297680"/>
            <a:ext cx="36576" cy="141732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67728" y="4416552"/>
            <a:ext cx="4370832" cy="11795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This table is the product, not the AUC. A desk cannot act on a ranking — it acts on a budget. Review 1% of transactions and you catch a quarter of the fraud with 211 wrong stops. Review 5% and you catch three quarters, and stop 14,214 good customers. Where that line sits is a business decision, and it is the one this platform refuses to make on a bank's behalf.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12</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EVIDENCE BASE</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Four real datasets, and the limit of each</a:t>
            </a:r>
          </a:p>
        </p:txBody>
      </p:sp>
      <p:sp>
        <p:nvSpPr>
          <p:cNvPr id="5" name="Rectangle 4"/>
          <p:cNvSpPr/>
          <p:nvPr/>
        </p:nvSpPr>
        <p:spPr>
          <a:xfrm>
            <a:off x="658368" y="2002536"/>
            <a:ext cx="27432" cy="82296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59536" y="1965960"/>
            <a:ext cx="2103120" cy="237744"/>
          </a:xfrm>
          <a:prstGeom prst="rect">
            <a:avLst/>
          </a:prstGeom>
          <a:noFill/>
        </p:spPr>
        <p:txBody>
          <a:bodyPr wrap="square" lIns="0" rIns="0" tIns="0" bIns="0">
            <a:spAutoFit/>
          </a:bodyPr>
          <a:lstStyle/>
          <a:p>
            <a:pPr algn="l">
              <a:lnSpc>
                <a:spcPct val="100000"/>
              </a:lnSpc>
              <a:spcBef>
                <a:spcPts val="0"/>
              </a:spcBef>
              <a:spcAft>
                <a:spcPts val="0"/>
              </a:spcAft>
            </a:pPr>
            <a:r>
              <a:rPr sz="1300" b="1">
                <a:solidFill>
                  <a:srgbClr val="101828"/>
                </a:solidFill>
                <a:latin typeface="Segoe UI"/>
              </a:rPr>
              <a:t>Home Credit</a:t>
            </a:r>
          </a:p>
        </p:txBody>
      </p:sp>
      <p:sp>
        <p:nvSpPr>
          <p:cNvPr id="7" name="TextBox 6"/>
          <p:cNvSpPr txBox="1"/>
          <p:nvPr/>
        </p:nvSpPr>
        <p:spPr>
          <a:xfrm>
            <a:off x="859536" y="2221992"/>
            <a:ext cx="4206240" cy="45720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0D4A85"/>
                </a:solidFill>
                <a:latin typeface="Consolas"/>
              </a:rPr>
              <a:t>307,511 loan applications with repayment outcomes</a:t>
            </a:r>
          </a:p>
        </p:txBody>
      </p:sp>
      <p:sp>
        <p:nvSpPr>
          <p:cNvPr id="8" name="TextBox 7"/>
          <p:cNvSpPr txBox="1"/>
          <p:nvPr/>
        </p:nvSpPr>
        <p:spPr>
          <a:xfrm>
            <a:off x="5394960" y="1965960"/>
            <a:ext cx="6126480" cy="822960"/>
          </a:xfrm>
          <a:prstGeom prst="rect">
            <a:avLst/>
          </a:prstGeom>
          <a:noFill/>
        </p:spPr>
        <p:txBody>
          <a:bodyPr wrap="square" lIns="0" rIns="0" tIns="0" bIns="0">
            <a:spAutoFit/>
          </a:bodyPr>
          <a:lstStyle/>
          <a:p>
            <a:pPr algn="l">
              <a:lnSpc>
                <a:spcPct val="125000"/>
              </a:lnSpc>
              <a:spcBef>
                <a:spcPts val="0"/>
              </a:spcBef>
              <a:spcAft>
                <a:spcPts val="0"/>
              </a:spcAft>
            </a:pPr>
            <a:r>
              <a:rPr sz="1100" b="0">
                <a:solidFill>
                  <a:srgbClr val="475467"/>
                </a:solidFill>
                <a:latin typeface="Segoe UI"/>
              </a:rPr>
              <a:t>Consumer credit, not agricultural. The label is the publisher's definition of payment difficulty, not this bank's default.</a:t>
            </a:r>
          </a:p>
        </p:txBody>
      </p:sp>
      <p:sp>
        <p:nvSpPr>
          <p:cNvPr id="9" name="Rectangle 8"/>
          <p:cNvSpPr/>
          <p:nvPr/>
        </p:nvSpPr>
        <p:spPr>
          <a:xfrm>
            <a:off x="658368" y="3026664"/>
            <a:ext cx="27432" cy="82296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9536" y="2990088"/>
            <a:ext cx="2103120" cy="237744"/>
          </a:xfrm>
          <a:prstGeom prst="rect">
            <a:avLst/>
          </a:prstGeom>
          <a:noFill/>
        </p:spPr>
        <p:txBody>
          <a:bodyPr wrap="square" lIns="0" rIns="0" tIns="0" bIns="0">
            <a:spAutoFit/>
          </a:bodyPr>
          <a:lstStyle/>
          <a:p>
            <a:pPr algn="l">
              <a:lnSpc>
                <a:spcPct val="100000"/>
              </a:lnSpc>
              <a:spcBef>
                <a:spcPts val="0"/>
              </a:spcBef>
              <a:spcAft>
                <a:spcPts val="0"/>
              </a:spcAft>
            </a:pPr>
            <a:r>
              <a:rPr sz="1300" b="1">
                <a:solidFill>
                  <a:srgbClr val="101828"/>
                </a:solidFill>
                <a:latin typeface="Segoe UI"/>
              </a:rPr>
              <a:t>Fannie Mae</a:t>
            </a:r>
          </a:p>
        </p:txBody>
      </p:sp>
      <p:sp>
        <p:nvSpPr>
          <p:cNvPr id="11" name="TextBox 10"/>
          <p:cNvSpPr txBox="1"/>
          <p:nvPr/>
        </p:nvSpPr>
        <p:spPr>
          <a:xfrm>
            <a:off x="859536" y="3246120"/>
            <a:ext cx="4206240" cy="45720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0D4A85"/>
                </a:solidFill>
                <a:latin typeface="Consolas"/>
              </a:rPr>
              <a:t>16.8M monthly rows, 19 years, 230,543 accounts scored</a:t>
            </a:r>
          </a:p>
        </p:txBody>
      </p:sp>
      <p:sp>
        <p:nvSpPr>
          <p:cNvPr id="12" name="TextBox 11"/>
          <p:cNvSpPr txBox="1"/>
          <p:nvPr/>
        </p:nvSpPr>
        <p:spPr>
          <a:xfrm>
            <a:off x="5394960" y="2990088"/>
            <a:ext cx="6126480" cy="822960"/>
          </a:xfrm>
          <a:prstGeom prst="rect">
            <a:avLst/>
          </a:prstGeom>
          <a:noFill/>
        </p:spPr>
        <p:txBody>
          <a:bodyPr wrap="square" lIns="0" rIns="0" tIns="0" bIns="0">
            <a:spAutoFit/>
          </a:bodyPr>
          <a:lstStyle/>
          <a:p>
            <a:pPr algn="l">
              <a:lnSpc>
                <a:spcPct val="125000"/>
              </a:lnSpc>
              <a:spcBef>
                <a:spcPts val="0"/>
              </a:spcBef>
              <a:spcAft>
                <a:spcPts val="0"/>
              </a:spcAft>
            </a:pPr>
            <a:r>
              <a:rPr sz="1100" b="0">
                <a:solidFill>
                  <a:srgbClr val="475467"/>
                </a:solidFill>
                <a:latin typeface="Segoe UI"/>
              </a:rPr>
              <a:t>US mortgages. Real censoring, real seasoning, real crisis — but a different product and a different economy.</a:t>
            </a:r>
          </a:p>
        </p:txBody>
      </p:sp>
      <p:sp>
        <p:nvSpPr>
          <p:cNvPr id="13" name="Rectangle 12"/>
          <p:cNvSpPr/>
          <p:nvPr/>
        </p:nvSpPr>
        <p:spPr>
          <a:xfrm>
            <a:off x="658368" y="4050792"/>
            <a:ext cx="27432" cy="82296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59536" y="4014216"/>
            <a:ext cx="2103120" cy="237744"/>
          </a:xfrm>
          <a:prstGeom prst="rect">
            <a:avLst/>
          </a:prstGeom>
          <a:noFill/>
        </p:spPr>
        <p:txBody>
          <a:bodyPr wrap="square" lIns="0" rIns="0" tIns="0" bIns="0">
            <a:spAutoFit/>
          </a:bodyPr>
          <a:lstStyle/>
          <a:p>
            <a:pPr algn="l">
              <a:lnSpc>
                <a:spcPct val="100000"/>
              </a:lnSpc>
              <a:spcBef>
                <a:spcPts val="0"/>
              </a:spcBef>
              <a:spcAft>
                <a:spcPts val="0"/>
              </a:spcAft>
            </a:pPr>
            <a:r>
              <a:rPr sz="1300" b="1">
                <a:solidFill>
                  <a:srgbClr val="101828"/>
                </a:solidFill>
                <a:latin typeface="Segoe UI"/>
              </a:rPr>
              <a:t>IEEE-CIS</a:t>
            </a:r>
          </a:p>
        </p:txBody>
      </p:sp>
      <p:sp>
        <p:nvSpPr>
          <p:cNvPr id="15" name="TextBox 14"/>
          <p:cNvSpPr txBox="1"/>
          <p:nvPr/>
        </p:nvSpPr>
        <p:spPr>
          <a:xfrm>
            <a:off x="859536" y="4270248"/>
            <a:ext cx="4206240" cy="45720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0D4A85"/>
                </a:solidFill>
                <a:latin typeface="Consolas"/>
              </a:rPr>
              <a:t>590,540 card transactions, 3.5% fraud, 6 months</a:t>
            </a:r>
          </a:p>
        </p:txBody>
      </p:sp>
      <p:sp>
        <p:nvSpPr>
          <p:cNvPr id="16" name="TextBox 15"/>
          <p:cNvSpPr txBox="1"/>
          <p:nvPr/>
        </p:nvSpPr>
        <p:spPr>
          <a:xfrm>
            <a:off x="5394960" y="4014216"/>
            <a:ext cx="6126480" cy="822960"/>
          </a:xfrm>
          <a:prstGeom prst="rect">
            <a:avLst/>
          </a:prstGeom>
          <a:noFill/>
        </p:spPr>
        <p:txBody>
          <a:bodyPr wrap="square" lIns="0" rIns="0" tIns="0" bIns="0">
            <a:spAutoFit/>
          </a:bodyPr>
          <a:lstStyle/>
          <a:p>
            <a:pPr algn="l">
              <a:lnSpc>
                <a:spcPct val="125000"/>
              </a:lnSpc>
              <a:spcBef>
                <a:spcPts val="0"/>
              </a:spcBef>
              <a:spcAft>
                <a:spcPts val="0"/>
              </a:spcAft>
            </a:pPr>
            <a:r>
              <a:rPr sz="1100" b="0">
                <a:solidFill>
                  <a:srgbClr val="475467"/>
                </a:solidFill>
                <a:latin typeface="Segoe UI"/>
              </a:rPr>
              <a:t>E-commerce card fraud, not loan fraud. The graph structure is the transferable part; the fraud patterns are not.</a:t>
            </a:r>
          </a:p>
        </p:txBody>
      </p:sp>
      <p:sp>
        <p:nvSpPr>
          <p:cNvPr id="17" name="Rectangle 16"/>
          <p:cNvSpPr/>
          <p:nvPr/>
        </p:nvSpPr>
        <p:spPr>
          <a:xfrm>
            <a:off x="658368" y="5074920"/>
            <a:ext cx="27432" cy="82296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59536" y="5038344"/>
            <a:ext cx="2103120" cy="237744"/>
          </a:xfrm>
          <a:prstGeom prst="rect">
            <a:avLst/>
          </a:prstGeom>
          <a:noFill/>
        </p:spPr>
        <p:txBody>
          <a:bodyPr wrap="square" lIns="0" rIns="0" tIns="0" bIns="0">
            <a:spAutoFit/>
          </a:bodyPr>
          <a:lstStyle/>
          <a:p>
            <a:pPr algn="l">
              <a:lnSpc>
                <a:spcPct val="100000"/>
              </a:lnSpc>
              <a:spcBef>
                <a:spcPts val="0"/>
              </a:spcBef>
              <a:spcAft>
                <a:spcPts val="0"/>
              </a:spcAft>
            </a:pPr>
            <a:r>
              <a:rPr sz="1300" b="1">
                <a:solidFill>
                  <a:srgbClr val="101828"/>
                </a:solidFill>
                <a:latin typeface="Segoe UI"/>
              </a:rPr>
              <a:t>AgriFieldNet</a:t>
            </a:r>
          </a:p>
        </p:txBody>
      </p:sp>
      <p:sp>
        <p:nvSpPr>
          <p:cNvPr id="19" name="TextBox 18"/>
          <p:cNvSpPr txBox="1"/>
          <p:nvPr/>
        </p:nvSpPr>
        <p:spPr>
          <a:xfrm>
            <a:off x="859536" y="5294376"/>
            <a:ext cx="4206240" cy="45720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0D4A85"/>
                </a:solidFill>
                <a:latin typeface="Consolas"/>
              </a:rPr>
              <a:t>1,173 Sentinel-2 tiles, 147,409 labelled pixels, India</a:t>
            </a:r>
          </a:p>
        </p:txBody>
      </p:sp>
      <p:sp>
        <p:nvSpPr>
          <p:cNvPr id="20" name="TextBox 19"/>
          <p:cNvSpPr txBox="1"/>
          <p:nvPr/>
        </p:nvSpPr>
        <p:spPr>
          <a:xfrm>
            <a:off x="5394960" y="5038344"/>
            <a:ext cx="6126480" cy="822960"/>
          </a:xfrm>
          <a:prstGeom prst="rect">
            <a:avLst/>
          </a:prstGeom>
          <a:noFill/>
        </p:spPr>
        <p:txBody>
          <a:bodyPr wrap="square" lIns="0" rIns="0" tIns="0" bIns="0">
            <a:spAutoFit/>
          </a:bodyPr>
          <a:lstStyle/>
          <a:p>
            <a:pPr algn="l">
              <a:lnSpc>
                <a:spcPct val="125000"/>
              </a:lnSpc>
              <a:spcBef>
                <a:spcPts val="0"/>
              </a:spcBef>
              <a:spcAft>
                <a:spcPts val="0"/>
              </a:spcAft>
            </a:pPr>
            <a:r>
              <a:rPr sz="1100" b="0">
                <a:solidFill>
                  <a:srgbClr val="475467"/>
                </a:solidFill>
                <a:latin typeface="Segoe UI"/>
              </a:rPr>
              <a:t>Real Indian farmland with walked ground truth. Single-date imagery, which caps what any model can separate.</a:t>
            </a:r>
          </a:p>
        </p:txBody>
      </p:sp>
      <p:sp>
        <p:nvSpPr>
          <p:cNvPr id="21" name="Rectangle 20"/>
          <p:cNvSpPr/>
          <p:nvPr/>
        </p:nvSpPr>
        <p:spPr>
          <a:xfrm>
            <a:off x="658368" y="6172200"/>
            <a:ext cx="10881360" cy="566928"/>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6172200"/>
            <a:ext cx="36576" cy="56692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59536" y="6291072"/>
            <a:ext cx="10497312" cy="32918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None of these is this bank's book, and the platform says so on every screen that renders a number from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13</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HOW IT IS BUILT</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The engineering underneath</a:t>
            </a:r>
          </a:p>
        </p:txBody>
      </p:sp>
      <p:sp>
        <p:nvSpPr>
          <p:cNvPr id="5" name="Rectangle 4"/>
          <p:cNvSpPr/>
          <p:nvPr/>
        </p:nvSpPr>
        <p:spPr>
          <a:xfrm>
            <a:off x="658368" y="1783080"/>
            <a:ext cx="3383280"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96596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BACKEND</a:t>
            </a:r>
          </a:p>
        </p:txBody>
      </p:sp>
      <p:sp>
        <p:nvSpPr>
          <p:cNvPr id="7" name="TextBox 6"/>
          <p:cNvSpPr txBox="1"/>
          <p:nvPr/>
        </p:nvSpPr>
        <p:spPr>
          <a:xfrm>
            <a:off x="658368" y="2377440"/>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21 packages</a:t>
            </a:r>
          </a:p>
        </p:txBody>
      </p:sp>
      <p:sp>
        <p:nvSpPr>
          <p:cNvPr id="8" name="TextBox 7"/>
          <p:cNvSpPr txBox="1"/>
          <p:nvPr/>
        </p:nvSpPr>
        <p:spPr>
          <a:xfrm>
            <a:off x="658368" y="2624328"/>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~40,700 lines</a:t>
            </a:r>
          </a:p>
        </p:txBody>
      </p:sp>
      <p:sp>
        <p:nvSpPr>
          <p:cNvPr id="9" name="TextBox 8"/>
          <p:cNvSpPr txBox="1"/>
          <p:nvPr/>
        </p:nvSpPr>
        <p:spPr>
          <a:xfrm>
            <a:off x="658368" y="3163824"/>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Standard-library Python</a:t>
            </a:r>
          </a:p>
        </p:txBody>
      </p:sp>
      <p:sp>
        <p:nvSpPr>
          <p:cNvPr id="10" name="TextBox 9"/>
          <p:cNvSpPr txBox="1"/>
          <p:nvPr/>
        </p:nvSpPr>
        <p:spPr>
          <a:xfrm>
            <a:off x="658368" y="3410712"/>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no framework, runs anywhere</a:t>
            </a:r>
          </a:p>
        </p:txBody>
      </p:sp>
      <p:sp>
        <p:nvSpPr>
          <p:cNvPr id="11" name="TextBox 10"/>
          <p:cNvSpPr txBox="1"/>
          <p:nvPr/>
        </p:nvSpPr>
        <p:spPr>
          <a:xfrm>
            <a:off x="658368" y="3950208"/>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2,331 tests</a:t>
            </a:r>
          </a:p>
        </p:txBody>
      </p:sp>
      <p:sp>
        <p:nvSpPr>
          <p:cNvPr id="12" name="TextBox 11"/>
          <p:cNvSpPr txBox="1"/>
          <p:nvPr/>
        </p:nvSpPr>
        <p:spPr>
          <a:xfrm>
            <a:off x="658368" y="4197096"/>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green on every commit</a:t>
            </a:r>
          </a:p>
        </p:txBody>
      </p:sp>
      <p:sp>
        <p:nvSpPr>
          <p:cNvPr id="13" name="TextBox 12"/>
          <p:cNvSpPr txBox="1"/>
          <p:nvPr/>
        </p:nvSpPr>
        <p:spPr>
          <a:xfrm>
            <a:off x="658368" y="4736592"/>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Every algorithm a port</a:t>
            </a:r>
          </a:p>
        </p:txBody>
      </p:sp>
      <p:sp>
        <p:nvSpPr>
          <p:cNvPr id="14" name="TextBox 13"/>
          <p:cNvSpPr txBox="1"/>
          <p:nvPr/>
        </p:nvSpPr>
        <p:spPr>
          <a:xfrm>
            <a:off x="658368" y="4983480"/>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names the library it replaces</a:t>
            </a:r>
          </a:p>
        </p:txBody>
      </p:sp>
      <p:sp>
        <p:nvSpPr>
          <p:cNvPr id="15" name="Rectangle 14"/>
          <p:cNvSpPr/>
          <p:nvPr/>
        </p:nvSpPr>
        <p:spPr>
          <a:xfrm>
            <a:off x="4370831" y="1783080"/>
            <a:ext cx="3383280" cy="41148"/>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70831" y="196596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2166A3"/>
                </a:solidFill>
                <a:latin typeface="Consolas"/>
              </a:rPr>
              <a:t>INTERFACES</a:t>
            </a:r>
          </a:p>
        </p:txBody>
      </p:sp>
      <p:sp>
        <p:nvSpPr>
          <p:cNvPr id="17" name="TextBox 16"/>
          <p:cNvSpPr txBox="1"/>
          <p:nvPr/>
        </p:nvSpPr>
        <p:spPr>
          <a:xfrm>
            <a:off x="4370831" y="2377440"/>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Next.js + TypeScript</a:t>
            </a:r>
          </a:p>
        </p:txBody>
      </p:sp>
      <p:sp>
        <p:nvSpPr>
          <p:cNvPr id="18" name="TextBox 17"/>
          <p:cNvSpPr txBox="1"/>
          <p:nvPr/>
        </p:nvSpPr>
        <p:spPr>
          <a:xfrm>
            <a:off x="4370831" y="2624328"/>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46 files, ~6,700 lines</a:t>
            </a:r>
          </a:p>
        </p:txBody>
      </p:sp>
      <p:sp>
        <p:nvSpPr>
          <p:cNvPr id="19" name="TextBox 18"/>
          <p:cNvSpPr txBox="1"/>
          <p:nvPr/>
        </p:nvSpPr>
        <p:spPr>
          <a:xfrm>
            <a:off x="4370831" y="3163824"/>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Nine screens</a:t>
            </a:r>
          </a:p>
        </p:txBody>
      </p:sp>
      <p:sp>
        <p:nvSpPr>
          <p:cNvPr id="20" name="TextBox 19"/>
          <p:cNvSpPr txBox="1"/>
          <p:nvPr/>
        </p:nvSpPr>
        <p:spPr>
          <a:xfrm>
            <a:off x="4370831" y="3410712"/>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officer, collections, risk, customer</a:t>
            </a:r>
          </a:p>
        </p:txBody>
      </p:sp>
      <p:sp>
        <p:nvSpPr>
          <p:cNvPr id="21" name="TextBox 20"/>
          <p:cNvSpPr txBox="1"/>
          <p:nvPr/>
        </p:nvSpPr>
        <p:spPr>
          <a:xfrm>
            <a:off x="4370831" y="3950208"/>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One API gateway</a:t>
            </a:r>
          </a:p>
        </p:txBody>
      </p:sp>
      <p:sp>
        <p:nvSpPr>
          <p:cNvPr id="22" name="TextBox 21"/>
          <p:cNvSpPr txBox="1"/>
          <p:nvPr/>
        </p:nvSpPr>
        <p:spPr>
          <a:xfrm>
            <a:off x="4370831" y="4197096"/>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never a model service directly</a:t>
            </a:r>
          </a:p>
        </p:txBody>
      </p:sp>
      <p:sp>
        <p:nvSpPr>
          <p:cNvPr id="23" name="TextBox 22"/>
          <p:cNvSpPr txBox="1"/>
          <p:nvPr/>
        </p:nvSpPr>
        <p:spPr>
          <a:xfrm>
            <a:off x="4370831" y="4736592"/>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Build gate on arithmetic</a:t>
            </a:r>
          </a:p>
        </p:txBody>
      </p:sp>
      <p:sp>
        <p:nvSpPr>
          <p:cNvPr id="24" name="TextBox 23"/>
          <p:cNvSpPr txBox="1"/>
          <p:nvPr/>
        </p:nvSpPr>
        <p:spPr>
          <a:xfrm>
            <a:off x="4370831" y="4983480"/>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the UI cannot compute a rupee</a:t>
            </a:r>
          </a:p>
        </p:txBody>
      </p:sp>
      <p:sp>
        <p:nvSpPr>
          <p:cNvPr id="25" name="Rectangle 24"/>
          <p:cNvSpPr/>
          <p:nvPr/>
        </p:nvSpPr>
        <p:spPr>
          <a:xfrm>
            <a:off x="8083294" y="1783080"/>
            <a:ext cx="3383280" cy="41148"/>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083294" y="196596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67647"/>
                </a:solidFill>
                <a:latin typeface="Consolas"/>
              </a:rPr>
              <a:t>MACHINE LEARNING</a:t>
            </a:r>
          </a:p>
        </p:txBody>
      </p:sp>
      <p:sp>
        <p:nvSpPr>
          <p:cNvPr id="27" name="TextBox 26"/>
          <p:cNvSpPr txBox="1"/>
          <p:nvPr/>
        </p:nvSpPr>
        <p:spPr>
          <a:xfrm>
            <a:off x="8083294" y="2377440"/>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19 models, 4 families</a:t>
            </a:r>
          </a:p>
        </p:txBody>
      </p:sp>
      <p:sp>
        <p:nvSpPr>
          <p:cNvPr id="28" name="TextBox 27"/>
          <p:cNvSpPr txBox="1"/>
          <p:nvPr/>
        </p:nvSpPr>
        <p:spPr>
          <a:xfrm>
            <a:off x="8083294" y="2624328"/>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LightGBM, XGBoost, CatBoost, forests</a:t>
            </a:r>
          </a:p>
        </p:txBody>
      </p:sp>
      <p:sp>
        <p:nvSpPr>
          <p:cNvPr id="29" name="TextBox 28"/>
          <p:cNvSpPr txBox="1"/>
          <p:nvPr/>
        </p:nvSpPr>
        <p:spPr>
          <a:xfrm>
            <a:off x="8083294" y="3163824"/>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Out-of-fold stacking</a:t>
            </a:r>
          </a:p>
        </p:txBody>
      </p:sp>
      <p:sp>
        <p:nvSpPr>
          <p:cNvPr id="30" name="TextBox 29"/>
          <p:cNvSpPr txBox="1"/>
          <p:nvPr/>
        </p:nvSpPr>
        <p:spPr>
          <a:xfrm>
            <a:off x="8083294" y="3410712"/>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blends fitted on unseen rows</a:t>
            </a:r>
          </a:p>
        </p:txBody>
      </p:sp>
      <p:sp>
        <p:nvSpPr>
          <p:cNvPr id="31" name="TextBox 30"/>
          <p:cNvSpPr txBox="1"/>
          <p:nvPr/>
        </p:nvSpPr>
        <p:spPr>
          <a:xfrm>
            <a:off x="8083294" y="3950208"/>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Time-based splits</a:t>
            </a:r>
          </a:p>
        </p:txBody>
      </p:sp>
      <p:sp>
        <p:nvSpPr>
          <p:cNvPr id="32" name="TextBox 31"/>
          <p:cNvSpPr txBox="1"/>
          <p:nvPr/>
        </p:nvSpPr>
        <p:spPr>
          <a:xfrm>
            <a:off x="8083294" y="4197096"/>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never random on a panel</a:t>
            </a:r>
          </a:p>
        </p:txBody>
      </p:sp>
      <p:sp>
        <p:nvSpPr>
          <p:cNvPr id="33" name="TextBox 32"/>
          <p:cNvSpPr txBox="1"/>
          <p:nvPr/>
        </p:nvSpPr>
        <p:spPr>
          <a:xfrm>
            <a:off x="8083294" y="4736592"/>
            <a:ext cx="3291840" cy="237744"/>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A live training monitor</a:t>
            </a:r>
          </a:p>
        </p:txBody>
      </p:sp>
      <p:sp>
        <p:nvSpPr>
          <p:cNvPr id="34" name="TextBox 33"/>
          <p:cNvSpPr txBox="1"/>
          <p:nvPr/>
        </p:nvSpPr>
        <p:spPr>
          <a:xfrm>
            <a:off x="8083294" y="4983480"/>
            <a:ext cx="3291840" cy="41148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watch every fit as it runs</a:t>
            </a:r>
          </a:p>
        </p:txBody>
      </p:sp>
      <p:sp>
        <p:nvSpPr>
          <p:cNvPr id="35" name="Rectangle 34"/>
          <p:cNvSpPr/>
          <p:nvPr/>
        </p:nvSpPr>
        <p:spPr>
          <a:xfrm>
            <a:off x="658368" y="5715000"/>
            <a:ext cx="10881360" cy="658368"/>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58368" y="5715000"/>
            <a:ext cx="36576" cy="658368"/>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59536" y="5833872"/>
            <a:ext cx="10497312" cy="42062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The backend uses no machine-learning library at all: every model is written from the paper so a reviewer can read it. The training harnesses that use LightGBM and XGBoost live outside that boundary and import nothing from it — which is exactly the swap the architecture was designed for.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14</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EARLY WARNING  ·  THE QUESTION THAT MATTERS</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2900" b="1">
                <a:solidFill>
                  <a:srgbClr val="0A3A68"/>
                </a:solidFill>
                <a:latin typeface="Georgia"/>
              </a:rPr>
              <a:t>Does deterioration precede default, and by how long?</a:t>
            </a:r>
          </a:p>
        </p:txBody>
      </p:sp>
      <p:sp>
        <p:nvSpPr>
          <p:cNvPr id="5" name="TextBox 4"/>
          <p:cNvSpPr txBox="1"/>
          <p:nvPr/>
        </p:nvSpPr>
        <p:spPr>
          <a:xfrm>
            <a:off x="658368" y="1965960"/>
            <a:ext cx="5669280" cy="2377440"/>
          </a:xfrm>
          <a:prstGeom prst="rect">
            <a:avLst/>
          </a:prstGeom>
          <a:noFill/>
        </p:spPr>
        <p:txBody>
          <a:bodyPr wrap="square" lIns="0" rIns="0" tIns="0" bIns="0">
            <a:spAutoFit/>
          </a:bodyPr>
          <a:lstStyle/>
          <a:p>
            <a:pPr algn="l">
              <a:lnSpc>
                <a:spcPct val="128000"/>
              </a:lnSpc>
              <a:spcBef>
                <a:spcPts val="0"/>
              </a:spcBef>
              <a:spcAft>
                <a:spcPts val="1100"/>
              </a:spcAft>
            </a:pPr>
            <a:r>
              <a:rPr sz="1200" b="0">
                <a:solidFill>
                  <a:srgbClr val="475467"/>
                </a:solidFill>
                <a:latin typeface="Segoe UI"/>
              </a:rPr>
              <a:t>The whole idea rests on one assumption: a borrower in trouble shows signs before missing a payment. We tested it on 338,210 real months of loan history, and only counted the 101 defaults the system could realistically have caught in time.</a:t>
            </a:r>
          </a:p>
          <a:p>
            <a:pPr algn="l">
              <a:lnSpc>
                <a:spcPct val="128000"/>
              </a:lnSpc>
              <a:spcBef>
                <a:spcPts val="0"/>
              </a:spcBef>
              <a:spcAft>
                <a:spcPts val="0"/>
              </a:spcAft>
            </a:pPr>
            <a:r>
              <a:rPr sz="1200" b="0">
                <a:solidFill>
                  <a:srgbClr val="475467"/>
                </a:solidFill>
                <a:latin typeface="Segoe UI"/>
              </a:rPr>
              <a:t>Set the alert bar at the usual level and it catches 86% of them, a typical full year before the default. Make it much stricter and it only catches 56%. Where to set that bar is a business call, not ours.</a:t>
            </a:r>
          </a:p>
        </p:txBody>
      </p:sp>
      <p:sp>
        <p:nvSpPr>
          <p:cNvPr id="6" name="Rectangle 5"/>
          <p:cNvSpPr/>
          <p:nvPr/>
        </p:nvSpPr>
        <p:spPr>
          <a:xfrm>
            <a:off x="658368" y="4572000"/>
            <a:ext cx="5669280" cy="1508760"/>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4572000"/>
            <a:ext cx="36576" cy="150876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59536" y="4690872"/>
            <a:ext cx="5285232" cy="127101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We corrected our own mistake here. The first run said 11%. It turned out 726 of 827 defaults happened before the system had any data to look at — we were measuring the calendar, not the model. A later, stronger detector on the full panel now catches 61% of defaults a typical 8 months early.</a:t>
            </a:r>
          </a:p>
        </p:txBody>
      </p:sp>
      <p:sp>
        <p:nvSpPr>
          <p:cNvPr id="9" name="TextBox 8"/>
          <p:cNvSpPr txBox="1"/>
          <p:nvPr/>
        </p:nvSpPr>
        <p:spPr>
          <a:xfrm>
            <a:off x="6766560" y="1737360"/>
            <a:ext cx="475488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CAPTURE RATE BY ALERT THRESHOLD</a:t>
            </a:r>
          </a:p>
        </p:txBody>
      </p:sp>
      <p:sp>
        <p:nvSpPr>
          <p:cNvPr id="10" name="Rectangle 9"/>
          <p:cNvSpPr/>
          <p:nvPr/>
        </p:nvSpPr>
        <p:spPr>
          <a:xfrm>
            <a:off x="7150608" y="2309683"/>
            <a:ext cx="749808" cy="2582357"/>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013448" y="2035363"/>
            <a:ext cx="1024128" cy="237744"/>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Consolas"/>
              </a:rPr>
              <a:t>91.1%</a:t>
            </a:r>
          </a:p>
        </p:txBody>
      </p:sp>
      <p:sp>
        <p:nvSpPr>
          <p:cNvPr id="12" name="TextBox 11"/>
          <p:cNvSpPr txBox="1"/>
          <p:nvPr/>
        </p:nvSpPr>
        <p:spPr>
          <a:xfrm>
            <a:off x="7013448" y="4946904"/>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1000" b="0">
                <a:solidFill>
                  <a:srgbClr val="475467"/>
                </a:solidFill>
                <a:latin typeface="Consolas"/>
              </a:rPr>
              <a:t>p90</a:t>
            </a:r>
          </a:p>
        </p:txBody>
      </p:sp>
      <p:sp>
        <p:nvSpPr>
          <p:cNvPr id="13" name="TextBox 12"/>
          <p:cNvSpPr txBox="1"/>
          <p:nvPr/>
        </p:nvSpPr>
        <p:spPr>
          <a:xfrm>
            <a:off x="7013448" y="5166360"/>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900" b="0">
                <a:solidFill>
                  <a:srgbClr val="6B7C93"/>
                </a:solidFill>
                <a:latin typeface="Consolas"/>
              </a:rPr>
              <a:t>562d</a:t>
            </a:r>
          </a:p>
        </p:txBody>
      </p:sp>
      <p:sp>
        <p:nvSpPr>
          <p:cNvPr id="14" name="Rectangle 13"/>
          <p:cNvSpPr/>
          <p:nvPr/>
        </p:nvSpPr>
        <p:spPr>
          <a:xfrm>
            <a:off x="8266176" y="2451415"/>
            <a:ext cx="749808" cy="2440625"/>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129016" y="2177095"/>
            <a:ext cx="1024128" cy="237744"/>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Consolas"/>
              </a:rPr>
              <a:t>86.1%</a:t>
            </a:r>
          </a:p>
        </p:txBody>
      </p:sp>
      <p:sp>
        <p:nvSpPr>
          <p:cNvPr id="16" name="TextBox 15"/>
          <p:cNvSpPr txBox="1"/>
          <p:nvPr/>
        </p:nvSpPr>
        <p:spPr>
          <a:xfrm>
            <a:off x="8129016" y="4946904"/>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1000" b="0">
                <a:solidFill>
                  <a:srgbClr val="475467"/>
                </a:solidFill>
                <a:latin typeface="Consolas"/>
              </a:rPr>
              <a:t>p95</a:t>
            </a:r>
          </a:p>
        </p:txBody>
      </p:sp>
      <p:sp>
        <p:nvSpPr>
          <p:cNvPr id="17" name="TextBox 16"/>
          <p:cNvSpPr txBox="1"/>
          <p:nvPr/>
        </p:nvSpPr>
        <p:spPr>
          <a:xfrm>
            <a:off x="8129016" y="5166360"/>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900" b="0">
                <a:solidFill>
                  <a:srgbClr val="6B7C93"/>
                </a:solidFill>
                <a:latin typeface="Consolas"/>
              </a:rPr>
              <a:t>365d</a:t>
            </a:r>
          </a:p>
        </p:txBody>
      </p:sp>
      <p:sp>
        <p:nvSpPr>
          <p:cNvPr id="18" name="Rectangle 17"/>
          <p:cNvSpPr/>
          <p:nvPr/>
        </p:nvSpPr>
        <p:spPr>
          <a:xfrm>
            <a:off x="9381744" y="2561966"/>
            <a:ext cx="749808" cy="2330074"/>
          </a:xfrm>
          <a:prstGeom prst="rect">
            <a:avLst/>
          </a:prstGeom>
          <a:solidFill>
            <a:srgbClr val="4A83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244584" y="2287646"/>
            <a:ext cx="1024128" cy="237744"/>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Consolas"/>
              </a:rPr>
              <a:t>82.2%</a:t>
            </a:r>
          </a:p>
        </p:txBody>
      </p:sp>
      <p:sp>
        <p:nvSpPr>
          <p:cNvPr id="20" name="TextBox 19"/>
          <p:cNvSpPr txBox="1"/>
          <p:nvPr/>
        </p:nvSpPr>
        <p:spPr>
          <a:xfrm>
            <a:off x="9244584" y="4946904"/>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1000" b="0">
                <a:solidFill>
                  <a:srgbClr val="475467"/>
                </a:solidFill>
                <a:latin typeface="Consolas"/>
              </a:rPr>
              <a:t>p98</a:t>
            </a:r>
          </a:p>
        </p:txBody>
      </p:sp>
      <p:sp>
        <p:nvSpPr>
          <p:cNvPr id="21" name="TextBox 20"/>
          <p:cNvSpPr txBox="1"/>
          <p:nvPr/>
        </p:nvSpPr>
        <p:spPr>
          <a:xfrm>
            <a:off x="9244584" y="5166360"/>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900" b="0">
                <a:solidFill>
                  <a:srgbClr val="6B7C93"/>
                </a:solidFill>
                <a:latin typeface="Consolas"/>
              </a:rPr>
              <a:t>183d</a:t>
            </a:r>
          </a:p>
        </p:txBody>
      </p:sp>
      <p:sp>
        <p:nvSpPr>
          <p:cNvPr id="22" name="Rectangle 21"/>
          <p:cNvSpPr/>
          <p:nvPr/>
        </p:nvSpPr>
        <p:spPr>
          <a:xfrm>
            <a:off x="10497312" y="3293304"/>
            <a:ext cx="749808" cy="1598736"/>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60152" y="3018984"/>
            <a:ext cx="1024128" cy="237744"/>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Consolas"/>
              </a:rPr>
              <a:t>56.4%</a:t>
            </a:r>
          </a:p>
        </p:txBody>
      </p:sp>
      <p:sp>
        <p:nvSpPr>
          <p:cNvPr id="24" name="TextBox 23"/>
          <p:cNvSpPr txBox="1"/>
          <p:nvPr/>
        </p:nvSpPr>
        <p:spPr>
          <a:xfrm>
            <a:off x="10360152" y="4946904"/>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1000" b="0">
                <a:solidFill>
                  <a:srgbClr val="475467"/>
                </a:solidFill>
                <a:latin typeface="Consolas"/>
              </a:rPr>
              <a:t>p99</a:t>
            </a:r>
          </a:p>
        </p:txBody>
      </p:sp>
      <p:sp>
        <p:nvSpPr>
          <p:cNvPr id="25" name="TextBox 24"/>
          <p:cNvSpPr txBox="1"/>
          <p:nvPr/>
        </p:nvSpPr>
        <p:spPr>
          <a:xfrm>
            <a:off x="10360152" y="5166360"/>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900" b="0">
                <a:solidFill>
                  <a:srgbClr val="6B7C93"/>
                </a:solidFill>
                <a:latin typeface="Consolas"/>
              </a:rPr>
              <a:t>153d</a:t>
            </a:r>
          </a:p>
        </p:txBody>
      </p:sp>
      <p:sp>
        <p:nvSpPr>
          <p:cNvPr id="26" name="Rectangle 25"/>
          <p:cNvSpPr/>
          <p:nvPr/>
        </p:nvSpPr>
        <p:spPr>
          <a:xfrm>
            <a:off x="6766560" y="4892040"/>
            <a:ext cx="4754880" cy="12700"/>
          </a:xfrm>
          <a:prstGeom prst="rect">
            <a:avLst/>
          </a:prstGeom>
          <a:solidFill>
            <a:srgbClr val="B9C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766560" y="5458968"/>
            <a:ext cx="4754880" cy="219456"/>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Median lead time to default  ·  Track P  ·  Fannie Mae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15</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DIFFERENTIATOR</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The system refuses to invent numbers</a:t>
            </a:r>
          </a:p>
        </p:txBody>
      </p:sp>
      <p:sp>
        <p:nvSpPr>
          <p:cNvPr id="5" name="Rectangle 4"/>
          <p:cNvSpPr/>
          <p:nvPr/>
        </p:nvSpPr>
        <p:spPr>
          <a:xfrm>
            <a:off x="658368" y="1691640"/>
            <a:ext cx="32004" cy="7772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32688" y="1691640"/>
            <a:ext cx="10058400" cy="822960"/>
          </a:xfrm>
          <a:prstGeom prst="rect">
            <a:avLst/>
          </a:prstGeom>
          <a:noFill/>
        </p:spPr>
        <p:txBody>
          <a:bodyPr wrap="square" lIns="0" rIns="0" tIns="0" bIns="0">
            <a:spAutoFit/>
          </a:bodyPr>
          <a:lstStyle/>
          <a:p>
            <a:pPr algn="l">
              <a:lnSpc>
                <a:spcPct val="118000"/>
              </a:lnSpc>
              <a:spcBef>
                <a:spcPts val="0"/>
              </a:spcBef>
              <a:spcAft>
                <a:spcPts val="600"/>
              </a:spcAft>
            </a:pPr>
            <a:r>
              <a:rPr sz="1700" b="0">
                <a:solidFill>
                  <a:srgbClr val="0A3A68"/>
                </a:solidFill>
                <a:latin typeface="Georgia"/>
              </a:rPr>
              <a:t>“A plausible-looking invented cutoff is worse than a build failure, because it survives review.”</a:t>
            </a:r>
          </a:p>
          <a:p>
            <a:pPr algn="l">
              <a:lnSpc>
                <a:spcPct val="100000"/>
              </a:lnSpc>
              <a:spcBef>
                <a:spcPts val="0"/>
              </a:spcBef>
              <a:spcAft>
                <a:spcPts val="0"/>
              </a:spcAft>
            </a:pPr>
            <a:r>
              <a:rPr sz="950" b="0">
                <a:solidFill>
                  <a:srgbClr val="6B7C93"/>
                </a:solidFill>
                <a:latin typeface="Consolas"/>
              </a:rPr>
              <a:t>The working agreement, enforced by CI</a:t>
            </a:r>
          </a:p>
        </p:txBody>
      </p:sp>
      <p:sp>
        <p:nvSpPr>
          <p:cNvPr id="7" name="TextBox 6"/>
          <p:cNvSpPr txBox="1"/>
          <p:nvPr/>
        </p:nvSpPr>
        <p:spPr>
          <a:xfrm>
            <a:off x="658368" y="269748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None of these is a bug. Each is a spot where an invented number would have quietly become the real one, because nobody would ever have gone back to check it.</a:t>
            </a:r>
          </a:p>
        </p:txBody>
      </p:sp>
      <p:sp>
        <p:nvSpPr>
          <p:cNvPr id="8" name="TextBox 7"/>
          <p:cNvSpPr txBox="1"/>
          <p:nvPr/>
        </p:nvSpPr>
        <p:spPr>
          <a:xfrm>
            <a:off x="658368" y="33649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P2</a:t>
            </a:r>
          </a:p>
        </p:txBody>
      </p:sp>
      <p:sp>
        <p:nvSpPr>
          <p:cNvPr id="9" name="TextBox 8"/>
          <p:cNvSpPr txBox="1"/>
          <p:nvPr/>
        </p:nvSpPr>
        <p:spPr>
          <a:xfrm>
            <a:off x="1481328" y="3364992"/>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expected_income() raises</a:t>
            </a:r>
          </a:p>
        </p:txBody>
      </p:sp>
      <p:sp>
        <p:nvSpPr>
          <p:cNvPr id="10" name="TextBox 9"/>
          <p:cNvSpPr txBox="1"/>
          <p:nvPr/>
        </p:nvSpPr>
        <p:spPr>
          <a:xfrm>
            <a:off x="1481328" y="3579876"/>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Without ratified input costs, the sign of the answer on a smallholder plot is unknown</a:t>
            </a:r>
          </a:p>
        </p:txBody>
      </p:sp>
      <p:sp>
        <p:nvSpPr>
          <p:cNvPr id="11" name="Rectangle 10"/>
          <p:cNvSpPr/>
          <p:nvPr/>
        </p:nvSpPr>
        <p:spPr>
          <a:xfrm>
            <a:off x="658368" y="3968496"/>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4114800"/>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P2</a:t>
            </a:r>
          </a:p>
        </p:txBody>
      </p:sp>
      <p:sp>
        <p:nvSpPr>
          <p:cNvPr id="13" name="TextBox 12"/>
          <p:cNvSpPr txBox="1"/>
          <p:nvPr/>
        </p:nvSpPr>
        <p:spPr>
          <a:xfrm>
            <a:off x="1481328" y="4114800"/>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area_hectares raises</a:t>
            </a:r>
          </a:p>
        </p:txBody>
      </p:sp>
      <p:sp>
        <p:nvSpPr>
          <p:cNvPr id="14" name="TextBox 13"/>
          <p:cNvSpPr txBox="1"/>
          <p:nvPr/>
        </p:nvSpPr>
        <p:spPr>
          <a:xfrm>
            <a:off x="1481328" y="4329684"/>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 nominal area around a village centroid is not a plot</a:t>
            </a:r>
          </a:p>
        </p:txBody>
      </p:sp>
      <p:sp>
        <p:nvSpPr>
          <p:cNvPr id="15" name="Rectangle 14"/>
          <p:cNvSpPr/>
          <p:nvPr/>
        </p:nvSpPr>
        <p:spPr>
          <a:xfrm>
            <a:off x="658368" y="4718304"/>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486460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P4</a:t>
            </a:r>
          </a:p>
        </p:txBody>
      </p:sp>
      <p:sp>
        <p:nvSpPr>
          <p:cNvPr id="17" name="TextBox 16"/>
          <p:cNvSpPr txBox="1"/>
          <p:nvPr/>
        </p:nvSpPr>
        <p:spPr>
          <a:xfrm>
            <a:off x="1481328" y="4864608"/>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Reward.blended() raises</a:t>
            </a:r>
          </a:p>
        </p:txBody>
      </p:sp>
      <p:sp>
        <p:nvSpPr>
          <p:cNvPr id="18" name="TextBox 17"/>
          <p:cNvSpPr txBox="1"/>
          <p:nvPr/>
        </p:nvSpPr>
        <p:spPr>
          <a:xfrm>
            <a:off x="1481328" y="5079492"/>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 bandit rewarded on take-up alone learns to mis-sell</a:t>
            </a:r>
          </a:p>
        </p:txBody>
      </p:sp>
      <p:sp>
        <p:nvSpPr>
          <p:cNvPr id="19" name="Rectangle 18"/>
          <p:cNvSpPr/>
          <p:nvPr/>
        </p:nvSpPr>
        <p:spPr>
          <a:xfrm>
            <a:off x="658368" y="5468112"/>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0" y="33649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P5</a:t>
            </a:r>
          </a:p>
        </p:txBody>
      </p:sp>
      <p:sp>
        <p:nvSpPr>
          <p:cNvPr id="21" name="TextBox 20"/>
          <p:cNvSpPr txBox="1"/>
          <p:nvPr/>
        </p:nvSpPr>
        <p:spPr>
          <a:xfrm>
            <a:off x="7223760" y="3364992"/>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No sentence composed</a:t>
            </a:r>
          </a:p>
        </p:txBody>
      </p:sp>
      <p:sp>
        <p:nvSpPr>
          <p:cNvPr id="22" name="TextBox 21"/>
          <p:cNvSpPr txBox="1"/>
          <p:nvPr/>
        </p:nvSpPr>
        <p:spPr>
          <a:xfrm>
            <a:off x="7223760" y="3579876"/>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No code path writes an adverse-action sentence; templates are selected</a:t>
            </a:r>
          </a:p>
        </p:txBody>
      </p:sp>
      <p:sp>
        <p:nvSpPr>
          <p:cNvPr id="23" name="Rectangle 22"/>
          <p:cNvSpPr/>
          <p:nvPr/>
        </p:nvSpPr>
        <p:spPr>
          <a:xfrm>
            <a:off x="6400800" y="3968496"/>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0" y="4114800"/>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P6</a:t>
            </a:r>
          </a:p>
        </p:txBody>
      </p:sp>
      <p:sp>
        <p:nvSpPr>
          <p:cNvPr id="25" name="TextBox 24"/>
          <p:cNvSpPr txBox="1"/>
          <p:nvPr/>
        </p:nvSpPr>
        <p:spPr>
          <a:xfrm>
            <a:off x="7223760" y="4114800"/>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estimate_uplift() raises</a:t>
            </a:r>
          </a:p>
        </p:txBody>
      </p:sp>
      <p:sp>
        <p:nvSpPr>
          <p:cNvPr id="26" name="TextBox 25"/>
          <p:cNvSpPr txBox="1"/>
          <p:nvPr/>
        </p:nvSpPr>
        <p:spPr>
          <a:xfrm>
            <a:off x="7223760" y="4329684"/>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Uplift from an unrandomised log is not a worse estimate — it is a different quantity</a:t>
            </a:r>
          </a:p>
        </p:txBody>
      </p:sp>
      <p:sp>
        <p:nvSpPr>
          <p:cNvPr id="27" name="Rectangle 26"/>
          <p:cNvSpPr/>
          <p:nvPr/>
        </p:nvSpPr>
        <p:spPr>
          <a:xfrm>
            <a:off x="6400800" y="4718304"/>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0" y="486460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P7</a:t>
            </a:r>
          </a:p>
        </p:txBody>
      </p:sp>
      <p:sp>
        <p:nvSpPr>
          <p:cNvPr id="29" name="TextBox 28"/>
          <p:cNvSpPr txBox="1"/>
          <p:nvPr/>
        </p:nvSpPr>
        <p:spPr>
          <a:xfrm>
            <a:off x="7223760" y="4864608"/>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No demo data</a:t>
            </a:r>
          </a:p>
        </p:txBody>
      </p:sp>
      <p:sp>
        <p:nvSpPr>
          <p:cNvPr id="30" name="TextBox 29"/>
          <p:cNvSpPr txBox="1"/>
          <p:nvPr/>
        </p:nvSpPr>
        <p:spPr>
          <a:xfrm>
            <a:off x="7223760" y="5079492"/>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 fabricated score is indistinguishable from a real one in a screenshot</a:t>
            </a:r>
          </a:p>
        </p:txBody>
      </p:sp>
      <p:sp>
        <p:nvSpPr>
          <p:cNvPr id="31" name="Rectangle 30"/>
          <p:cNvSpPr/>
          <p:nvPr/>
        </p:nvSpPr>
        <p:spPr>
          <a:xfrm>
            <a:off x="6400800" y="5468112"/>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5669280"/>
            <a:ext cx="10881360" cy="777240"/>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5669280"/>
            <a:ext cx="36576" cy="7772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59536" y="5788152"/>
            <a:ext cx="10497312" cy="53949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98 open items, each naming who must decide it and what the decision is. That list is the real project plan — it says exactly what a bank has to settle before any of this touches a customer.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16</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ENGINEERING</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Guarantees held by the type system, not by review</a:t>
            </a:r>
          </a:p>
        </p:txBody>
      </p:sp>
      <p:sp>
        <p:nvSpPr>
          <p:cNvPr id="5" name="TextBox 4"/>
          <p:cNvSpPr txBox="1"/>
          <p:nvPr/>
        </p:nvSpPr>
        <p:spPr>
          <a:xfrm>
            <a:off x="658368" y="169164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A rule that depends on someone remembering it fails the first busy week. These are built into the code itself, so the unsafe version simply cannot be written.</a:t>
            </a:r>
          </a:p>
        </p:txBody>
      </p:sp>
      <p:sp>
        <p:nvSpPr>
          <p:cNvPr id="6" name="Rectangle 5"/>
          <p:cNvSpPr/>
          <p:nvPr/>
        </p:nvSpPr>
        <p:spPr>
          <a:xfrm>
            <a:off x="658368" y="2468880"/>
            <a:ext cx="2514600" cy="25603"/>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59689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067647"/>
                </a:solidFill>
                <a:latin typeface="Georgia"/>
              </a:rPr>
              <a:t>100%</a:t>
            </a:r>
          </a:p>
        </p:txBody>
      </p:sp>
      <p:sp>
        <p:nvSpPr>
          <p:cNvPr id="8" name="TextBox 7"/>
          <p:cNvSpPr txBox="1"/>
          <p:nvPr/>
        </p:nvSpPr>
        <p:spPr>
          <a:xfrm>
            <a:off x="658368" y="312724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Bandit propensity completeness — a decision cannot be constructed without one, so off-policy evaluation stays possible later</a:t>
            </a:r>
          </a:p>
        </p:txBody>
      </p:sp>
      <p:sp>
        <p:nvSpPr>
          <p:cNvPr id="9" name="Rectangle 8"/>
          <p:cNvSpPr/>
          <p:nvPr/>
        </p:nvSpPr>
        <p:spPr>
          <a:xfrm>
            <a:off x="3429000" y="2468880"/>
            <a:ext cx="2514600" cy="25603"/>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429000" y="259689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067647"/>
                </a:solidFill>
                <a:latin typeface="Georgia"/>
              </a:rPr>
              <a:t>0</a:t>
            </a:r>
          </a:p>
        </p:txBody>
      </p:sp>
      <p:sp>
        <p:nvSpPr>
          <p:cNvPr id="11" name="TextBox 10"/>
          <p:cNvSpPr txBox="1"/>
          <p:nvPr/>
        </p:nvSpPr>
        <p:spPr>
          <a:xfrm>
            <a:off x="3429000" y="312724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Uncited numeric claims — the validated answer is the only servable type and strips them before the object exists</a:t>
            </a:r>
          </a:p>
        </p:txBody>
      </p:sp>
      <p:sp>
        <p:nvSpPr>
          <p:cNvPr id="12" name="Rectangle 11"/>
          <p:cNvSpPr/>
          <p:nvPr/>
        </p:nvSpPr>
        <p:spPr>
          <a:xfrm>
            <a:off x="6199632" y="2468880"/>
            <a:ext cx="2514600" cy="25603"/>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99632" y="259689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067647"/>
                </a:solidFill>
                <a:latin typeface="Georgia"/>
              </a:rPr>
              <a:t>0</a:t>
            </a:r>
          </a:p>
        </p:txBody>
      </p:sp>
      <p:sp>
        <p:nvSpPr>
          <p:cNvPr id="14" name="TextBox 13"/>
          <p:cNvSpPr txBox="1"/>
          <p:nvPr/>
        </p:nvSpPr>
        <p:spPr>
          <a:xfrm>
            <a:off x="6199632" y="312724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Fabricated values served by the API gateway — every route either computes or refuses with a ticket</a:t>
            </a:r>
          </a:p>
        </p:txBody>
      </p:sp>
      <p:sp>
        <p:nvSpPr>
          <p:cNvPr id="15" name="Rectangle 14"/>
          <p:cNvSpPr/>
          <p:nvPr/>
        </p:nvSpPr>
        <p:spPr>
          <a:xfrm>
            <a:off x="8970264" y="2468880"/>
            <a:ext cx="2514600" cy="25603"/>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70264" y="259689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0D4A85"/>
                </a:solidFill>
                <a:latin typeface="Georgia"/>
              </a:rPr>
              <a:t>2,318</a:t>
            </a:r>
          </a:p>
        </p:txBody>
      </p:sp>
      <p:sp>
        <p:nvSpPr>
          <p:cNvPr id="17" name="TextBox 16"/>
          <p:cNvSpPr txBox="1"/>
          <p:nvPr/>
        </p:nvSpPr>
        <p:spPr>
          <a:xfrm>
            <a:off x="8970264" y="312724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Tests green on every commit, alongside grounding and schema-compatibility gates</a:t>
            </a:r>
          </a:p>
        </p:txBody>
      </p:sp>
      <p:sp>
        <p:nvSpPr>
          <p:cNvPr id="18" name="Rectangle 17"/>
          <p:cNvSpPr/>
          <p:nvPr/>
        </p:nvSpPr>
        <p:spPr>
          <a:xfrm>
            <a:off x="658368" y="4709160"/>
            <a:ext cx="10881360" cy="822960"/>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4709160"/>
            <a:ext cx="36576" cy="82296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59536" y="4828032"/>
            <a:ext cx="10497312" cy="58521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An alert cannot be created without an owner, a deadline and a recommended action. Without all three it is just a notification — and once it is sitting in a queue, nobody can tell the difference.</a:t>
            </a:r>
          </a:p>
        </p:txBody>
      </p:sp>
      <p:sp>
        <p:nvSpPr>
          <p:cNvPr id="21" name="Rectangle 20"/>
          <p:cNvSpPr/>
          <p:nvPr/>
        </p:nvSpPr>
        <p:spPr>
          <a:xfrm>
            <a:off x="658368" y="5715000"/>
            <a:ext cx="10881360" cy="731520"/>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5715000"/>
            <a:ext cx="36576" cy="73152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59536" y="5833872"/>
            <a:ext cx="10497312" cy="4937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The frontend cannot compute an EMI: a build gate fails the project if any screen does arithmetic on a money figure. Every number on screen arrives from the backend carrying its model id and version.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17</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WHAT BUILDING IT FOUND</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82 findings raised against the specification</a:t>
            </a:r>
          </a:p>
        </p:txBody>
      </p:sp>
      <p:sp>
        <p:nvSpPr>
          <p:cNvPr id="5" name="TextBox 4"/>
          <p:cNvSpPr txBox="1"/>
          <p:nvPr/>
        </p:nvSpPr>
        <p:spPr>
          <a:xfrm>
            <a:off x="658368" y="169164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Writing the code is the only reliable way to test a design document. Each of these is a place the design looked finished until someone had to produce an actual number.</a:t>
            </a:r>
          </a:p>
        </p:txBody>
      </p:sp>
      <p:sp>
        <p:nvSpPr>
          <p:cNvPr id="6" name="TextBox 5"/>
          <p:cNvSpPr txBox="1"/>
          <p:nvPr/>
        </p:nvSpPr>
        <p:spPr>
          <a:xfrm>
            <a:off x="658368" y="2331720"/>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P4-F1</a:t>
            </a:r>
          </a:p>
        </p:txBody>
      </p:sp>
      <p:sp>
        <p:nvSpPr>
          <p:cNvPr id="7" name="TextBox 6"/>
          <p:cNvSpPr txBox="1"/>
          <p:nvPr/>
        </p:nvSpPr>
        <p:spPr>
          <a:xfrm>
            <a:off x="1618488" y="2331720"/>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The design told us to watch a number that never changes, whatever the data does. It could never have detected anything. The real signal was one step away.</a:t>
            </a:r>
          </a:p>
        </p:txBody>
      </p:sp>
      <p:sp>
        <p:nvSpPr>
          <p:cNvPr id="8" name="TextBox 7"/>
          <p:cNvSpPr txBox="1"/>
          <p:nvPr/>
        </p:nvSpPr>
        <p:spPr>
          <a:xfrm>
            <a:off x="9372600" y="2331720"/>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Correction</a:t>
            </a:r>
          </a:p>
        </p:txBody>
      </p:sp>
      <p:sp>
        <p:nvSpPr>
          <p:cNvPr id="9" name="Rectangle 8"/>
          <p:cNvSpPr/>
          <p:nvPr/>
        </p:nvSpPr>
        <p:spPr>
          <a:xfrm>
            <a:off x="658368" y="3044952"/>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3172968"/>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P6-F1</a:t>
            </a:r>
          </a:p>
        </p:txBody>
      </p:sp>
      <p:sp>
        <p:nvSpPr>
          <p:cNvPr id="11" name="TextBox 10"/>
          <p:cNvSpPr txBox="1"/>
          <p:nvPr/>
        </p:nvSpPr>
        <p:spPr>
          <a:xfrm>
            <a:off x="1618488" y="3172968"/>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You cannot tell whether an action helped unless you also left some customers alone. Collecting more data does not fix it — it just makes the wrong answer look confident.</a:t>
            </a:r>
          </a:p>
        </p:txBody>
      </p:sp>
      <p:sp>
        <p:nvSpPr>
          <p:cNvPr id="12" name="TextBox 11"/>
          <p:cNvSpPr txBox="1"/>
          <p:nvPr/>
        </p:nvSpPr>
        <p:spPr>
          <a:xfrm>
            <a:off x="9372600" y="3172968"/>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Method</a:t>
            </a:r>
          </a:p>
        </p:txBody>
      </p:sp>
      <p:sp>
        <p:nvSpPr>
          <p:cNvPr id="13" name="Rectangle 12"/>
          <p:cNvSpPr/>
          <p:nvPr/>
        </p:nvSpPr>
        <p:spPr>
          <a:xfrm>
            <a:off x="658368" y="3886200"/>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4014216"/>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P7-F1</a:t>
            </a:r>
          </a:p>
        </p:txBody>
      </p:sp>
      <p:sp>
        <p:nvSpPr>
          <p:cNvPr id="15" name="TextBox 14"/>
          <p:cNvSpPr txBox="1"/>
          <p:nvPr/>
        </p:nvSpPr>
        <p:spPr>
          <a:xfrm>
            <a:off x="1618488" y="4014216"/>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The screen design brief points at sections of the specification that do not exist. The list of screens it depends on cannot be recovered.</a:t>
            </a:r>
          </a:p>
        </p:txBody>
      </p:sp>
      <p:sp>
        <p:nvSpPr>
          <p:cNvPr id="16" name="TextBox 15"/>
          <p:cNvSpPr txBox="1"/>
          <p:nvPr/>
        </p:nvSpPr>
        <p:spPr>
          <a:xfrm>
            <a:off x="9372600" y="4014216"/>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Document defect</a:t>
            </a:r>
          </a:p>
        </p:txBody>
      </p:sp>
      <p:sp>
        <p:nvSpPr>
          <p:cNvPr id="17" name="Rectangle 16"/>
          <p:cNvSpPr/>
          <p:nvPr/>
        </p:nvSpPr>
        <p:spPr>
          <a:xfrm>
            <a:off x="658368" y="4727448"/>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4855464"/>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P5-F2</a:t>
            </a:r>
          </a:p>
        </p:txBody>
      </p:sp>
      <p:sp>
        <p:nvSpPr>
          <p:cNvPr id="19" name="TextBox 18"/>
          <p:cNvSpPr txBox="1"/>
          <p:nvPr/>
        </p:nvSpPr>
        <p:spPr>
          <a:xfrm>
            <a:off x="1618488" y="4855464"/>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Two policy documents can both be current, with the newer one changing only part of the older. Dates alone cannot express that, so the assistant would pick one at random.</a:t>
            </a:r>
          </a:p>
        </p:txBody>
      </p:sp>
      <p:sp>
        <p:nvSpPr>
          <p:cNvPr id="20" name="TextBox 19"/>
          <p:cNvSpPr txBox="1"/>
          <p:nvPr/>
        </p:nvSpPr>
        <p:spPr>
          <a:xfrm>
            <a:off x="9372600" y="4855464"/>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Gap</a:t>
            </a:r>
          </a:p>
        </p:txBody>
      </p:sp>
      <p:sp>
        <p:nvSpPr>
          <p:cNvPr id="21" name="Rectangle 20"/>
          <p:cNvSpPr/>
          <p:nvPr/>
        </p:nvSpPr>
        <p:spPr>
          <a:xfrm>
            <a:off x="658368" y="5568696"/>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5696712"/>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P4-F11</a:t>
            </a:r>
          </a:p>
        </p:txBody>
      </p:sp>
      <p:sp>
        <p:nvSpPr>
          <p:cNvPr id="23" name="TextBox 22"/>
          <p:cNvSpPr txBox="1"/>
          <p:nvPr/>
        </p:nvSpPr>
        <p:spPr>
          <a:xfrm>
            <a:off x="1618488" y="5696712"/>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We corrected ourselves: our first score counted defaults the system had no chance of seeing, so we were measuring the calendar rather than the model.</a:t>
            </a:r>
          </a:p>
        </p:txBody>
      </p:sp>
      <p:sp>
        <p:nvSpPr>
          <p:cNvPr id="24" name="TextBox 23"/>
          <p:cNvSpPr txBox="1"/>
          <p:nvPr/>
        </p:nvSpPr>
        <p:spPr>
          <a:xfrm>
            <a:off x="9372600" y="5696712"/>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Self-correction</a:t>
            </a:r>
          </a:p>
        </p:txBody>
      </p:sp>
      <p:sp>
        <p:nvSpPr>
          <p:cNvPr id="25" name="Rectangle 24"/>
          <p:cNvSpPr/>
          <p:nvPr/>
        </p:nvSpPr>
        <p:spPr>
          <a:xfrm>
            <a:off x="658368" y="6409944"/>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18</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IT RUNS</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A working stack, end to end</a:t>
            </a:r>
          </a:p>
        </p:txBody>
      </p:sp>
      <p:sp>
        <p:nvSpPr>
          <p:cNvPr id="5" name="TextBox 4"/>
          <p:cNvSpPr txBox="1"/>
          <p:nvPr/>
        </p:nvSpPr>
        <p:spPr>
          <a:xfrm>
            <a:off x="658368" y="1737360"/>
            <a:ext cx="5760720" cy="2377440"/>
          </a:xfrm>
          <a:prstGeom prst="rect">
            <a:avLst/>
          </a:prstGeom>
          <a:noFill/>
        </p:spPr>
        <p:txBody>
          <a:bodyPr wrap="square" lIns="0" rIns="0" tIns="0" bIns="0">
            <a:spAutoFit/>
          </a:bodyPr>
          <a:lstStyle/>
          <a:p>
            <a:pPr algn="l">
              <a:lnSpc>
                <a:spcPct val="128000"/>
              </a:lnSpc>
              <a:spcBef>
                <a:spcPts val="0"/>
              </a:spcBef>
              <a:spcAft>
                <a:spcPts val="1100"/>
              </a:spcAft>
            </a:pPr>
            <a:r>
              <a:rPr sz="1200" b="0">
                <a:solidFill>
                  <a:srgbClr val="475467"/>
                </a:solidFill>
                <a:latin typeface="Segoe UI"/>
              </a:rPr>
              <a:t>One backend serves all the screens. Four of its endpoints return numbers the engines actually worked out. Seventeen politely refuse, naming who has to unblock them and why.</a:t>
            </a:r>
          </a:p>
          <a:p>
            <a:pPr algn="l">
              <a:lnSpc>
                <a:spcPct val="128000"/>
              </a:lnSpc>
              <a:spcBef>
                <a:spcPts val="0"/>
              </a:spcBef>
              <a:spcAft>
                <a:spcPts val="0"/>
              </a:spcAft>
            </a:pPr>
            <a:r>
              <a:rPr sz="1200" b="0">
                <a:solidFill>
                  <a:srgbClr val="475467"/>
                </a:solidFill>
                <a:latin typeface="Segoe UI"/>
              </a:rPr>
              <a:t>Every score arriving at a screen must say which model produced it, which version, and which decision it belongs to. A screen literally cannot be given a number without that label — the app rejects it rather than showing it.</a:t>
            </a:r>
          </a:p>
        </p:txBody>
      </p:sp>
      <p:sp>
        <p:nvSpPr>
          <p:cNvPr id="6" name="Rectangle 5"/>
          <p:cNvSpPr/>
          <p:nvPr/>
        </p:nvSpPr>
        <p:spPr>
          <a:xfrm>
            <a:off x="658368" y="4343400"/>
            <a:ext cx="5760720" cy="1691640"/>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4343400"/>
            <a:ext cx="36576" cy="169164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59536" y="4462272"/>
            <a:ext cx="5376672" cy="145389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We checked this by running it, not by claiming it. A browser opens the officer screen, the backend logs the request, and the refusal appears with its owner. A real instalment of ₹11,248.97 travels the whole way from the screen to the pricing engine and back.</a:t>
            </a:r>
          </a:p>
        </p:txBody>
      </p:sp>
      <p:sp>
        <p:nvSpPr>
          <p:cNvPr id="9" name="TextBox 8"/>
          <p:cNvSpPr txBox="1"/>
          <p:nvPr/>
        </p:nvSpPr>
        <p:spPr>
          <a:xfrm>
            <a:off x="6720840" y="1737360"/>
            <a:ext cx="48463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VERIFICATION PIPELINE</a:t>
            </a:r>
          </a:p>
        </p:txBody>
      </p:sp>
      <p:sp>
        <p:nvSpPr>
          <p:cNvPr id="10" name="TextBox 9"/>
          <p:cNvSpPr txBox="1"/>
          <p:nvPr/>
        </p:nvSpPr>
        <p:spPr>
          <a:xfrm>
            <a:off x="6720840" y="2148840"/>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make</a:t>
            </a:r>
          </a:p>
        </p:txBody>
      </p:sp>
      <p:sp>
        <p:nvSpPr>
          <p:cNvPr id="11" name="TextBox 10"/>
          <p:cNvSpPr txBox="1"/>
          <p:nvPr/>
        </p:nvSpPr>
        <p:spPr>
          <a:xfrm>
            <a:off x="7543800" y="2148840"/>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check</a:t>
            </a:r>
          </a:p>
        </p:txBody>
      </p:sp>
      <p:sp>
        <p:nvSpPr>
          <p:cNvPr id="12" name="TextBox 11"/>
          <p:cNvSpPr txBox="1"/>
          <p:nvPr/>
        </p:nvSpPr>
        <p:spPr>
          <a:xfrm>
            <a:off x="7543800" y="2363724"/>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grounding + registry + 2,318 tests</a:t>
            </a:r>
          </a:p>
        </p:txBody>
      </p:sp>
      <p:sp>
        <p:nvSpPr>
          <p:cNvPr id="13" name="Rectangle 12"/>
          <p:cNvSpPr/>
          <p:nvPr/>
        </p:nvSpPr>
        <p:spPr>
          <a:xfrm>
            <a:off x="6720840" y="2752344"/>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720840" y="2935224"/>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make</a:t>
            </a:r>
          </a:p>
        </p:txBody>
      </p:sp>
      <p:sp>
        <p:nvSpPr>
          <p:cNvPr id="15" name="TextBox 14"/>
          <p:cNvSpPr txBox="1"/>
          <p:nvPr/>
        </p:nvSpPr>
        <p:spPr>
          <a:xfrm>
            <a:off x="7543800" y="2935224"/>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gate1…gate6</a:t>
            </a:r>
          </a:p>
        </p:txBody>
      </p:sp>
      <p:sp>
        <p:nvSpPr>
          <p:cNvPr id="16" name="TextBox 15"/>
          <p:cNvSpPr txBox="1"/>
          <p:nvPr/>
        </p:nvSpPr>
        <p:spPr>
          <a:xfrm>
            <a:off x="7543800" y="3150108"/>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six evidence packs, generated never written</a:t>
            </a:r>
          </a:p>
        </p:txBody>
      </p:sp>
      <p:sp>
        <p:nvSpPr>
          <p:cNvPr id="17" name="Rectangle 16"/>
          <p:cNvSpPr/>
          <p:nvPr/>
        </p:nvSpPr>
        <p:spPr>
          <a:xfrm>
            <a:off x="6720840" y="3538728"/>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20840" y="372160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make</a:t>
            </a:r>
          </a:p>
        </p:txBody>
      </p:sp>
      <p:sp>
        <p:nvSpPr>
          <p:cNvPr id="19" name="TextBox 18"/>
          <p:cNvSpPr txBox="1"/>
          <p:nvPr/>
        </p:nvSpPr>
        <p:spPr>
          <a:xfrm>
            <a:off x="7543800" y="3721608"/>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trackp-p1/p3/p4</a:t>
            </a:r>
          </a:p>
        </p:txBody>
      </p:sp>
      <p:sp>
        <p:nvSpPr>
          <p:cNvPr id="20" name="TextBox 19"/>
          <p:cNvSpPr txBox="1"/>
          <p:nvPr/>
        </p:nvSpPr>
        <p:spPr>
          <a:xfrm>
            <a:off x="7543800" y="3936492"/>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full pipelines on real public data</a:t>
            </a:r>
          </a:p>
        </p:txBody>
      </p:sp>
      <p:sp>
        <p:nvSpPr>
          <p:cNvPr id="21" name="Rectangle 20"/>
          <p:cNvSpPr/>
          <p:nvPr/>
        </p:nvSpPr>
        <p:spPr>
          <a:xfrm>
            <a:off x="6720840" y="4325112"/>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0840" y="45079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make</a:t>
            </a:r>
          </a:p>
        </p:txBody>
      </p:sp>
      <p:sp>
        <p:nvSpPr>
          <p:cNvPr id="23" name="TextBox 22"/>
          <p:cNvSpPr txBox="1"/>
          <p:nvPr/>
        </p:nvSpPr>
        <p:spPr>
          <a:xfrm>
            <a:off x="7543800" y="4507992"/>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demo5 / demo6</a:t>
            </a:r>
          </a:p>
        </p:txBody>
      </p:sp>
      <p:sp>
        <p:nvSpPr>
          <p:cNvPr id="24" name="TextBox 23"/>
          <p:cNvSpPr txBox="1"/>
          <p:nvPr/>
        </p:nvSpPr>
        <p:spPr>
          <a:xfrm>
            <a:off x="7543800" y="4722876"/>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the assistant controls, and the learning loops</a:t>
            </a:r>
          </a:p>
        </p:txBody>
      </p:sp>
      <p:sp>
        <p:nvSpPr>
          <p:cNvPr id="25" name="Rectangle 24"/>
          <p:cNvSpPr/>
          <p:nvPr/>
        </p:nvSpPr>
        <p:spPr>
          <a:xfrm>
            <a:off x="6720840" y="5111496"/>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720840" y="529437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npm</a:t>
            </a:r>
          </a:p>
        </p:txBody>
      </p:sp>
      <p:sp>
        <p:nvSpPr>
          <p:cNvPr id="27" name="TextBox 26"/>
          <p:cNvSpPr txBox="1"/>
          <p:nvPr/>
        </p:nvSpPr>
        <p:spPr>
          <a:xfrm>
            <a:off x="7543800" y="5294376"/>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run verify</a:t>
            </a:r>
          </a:p>
        </p:txBody>
      </p:sp>
      <p:sp>
        <p:nvSpPr>
          <p:cNvPr id="28" name="TextBox 27"/>
          <p:cNvSpPr txBox="1"/>
          <p:nvPr/>
        </p:nvSpPr>
        <p:spPr>
          <a:xfrm>
            <a:off x="7543800" y="5509260"/>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typecheck · lint · no-client-math · contracts</a:t>
            </a:r>
          </a:p>
        </p:txBody>
      </p:sp>
      <p:sp>
        <p:nvSpPr>
          <p:cNvPr id="29" name="Rectangle 28"/>
          <p:cNvSpPr/>
          <p:nvPr/>
        </p:nvSpPr>
        <p:spPr>
          <a:xfrm>
            <a:off x="6720840" y="5897880"/>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19</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WHAT HAPPENS NEXT</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From here to a customer</a:t>
            </a:r>
          </a:p>
        </p:txBody>
      </p:sp>
      <p:sp>
        <p:nvSpPr>
          <p:cNvPr id="5" name="Rectangle 4"/>
          <p:cNvSpPr/>
          <p:nvPr/>
        </p:nvSpPr>
        <p:spPr>
          <a:xfrm>
            <a:off x="658368" y="1828800"/>
            <a:ext cx="2514600" cy="4572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2029968"/>
            <a:ext cx="2377440" cy="219456"/>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67647"/>
                </a:solidFill>
                <a:latin typeface="Consolas"/>
              </a:rPr>
              <a:t>NOW</a:t>
            </a:r>
          </a:p>
        </p:txBody>
      </p:sp>
      <p:sp>
        <p:nvSpPr>
          <p:cNvPr id="7" name="TextBox 6"/>
          <p:cNvSpPr txBox="1"/>
          <p:nvPr/>
        </p:nvSpPr>
        <p:spPr>
          <a:xfrm>
            <a:off x="658368" y="2286000"/>
            <a:ext cx="2377440" cy="274320"/>
          </a:xfrm>
          <a:prstGeom prst="rect">
            <a:avLst/>
          </a:prstGeom>
          <a:noFill/>
        </p:spPr>
        <p:txBody>
          <a:bodyPr wrap="square" lIns="0" rIns="0" tIns="0" bIns="0">
            <a:spAutoFit/>
          </a:bodyPr>
          <a:lstStyle/>
          <a:p>
            <a:pPr algn="l">
              <a:lnSpc>
                <a:spcPct val="100000"/>
              </a:lnSpc>
              <a:spcBef>
                <a:spcPts val="0"/>
              </a:spcBef>
              <a:spcAft>
                <a:spcPts val="0"/>
              </a:spcAft>
            </a:pPr>
            <a:r>
              <a:rPr sz="1300" b="1">
                <a:solidFill>
                  <a:srgbClr val="101828"/>
                </a:solidFill>
                <a:latin typeface="Georgia"/>
              </a:rPr>
              <a:t>Built and measured</a:t>
            </a:r>
          </a:p>
        </p:txBody>
      </p:sp>
      <p:sp>
        <p:nvSpPr>
          <p:cNvPr id="8" name="TextBox 7"/>
          <p:cNvSpPr txBox="1"/>
          <p:nvPr/>
        </p:nvSpPr>
        <p:spPr>
          <a:xfrm>
            <a:off x="658368" y="2697480"/>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Nineteen models on real data</a:t>
            </a:r>
          </a:p>
        </p:txBody>
      </p:sp>
      <p:sp>
        <p:nvSpPr>
          <p:cNvPr id="9" name="TextBox 8"/>
          <p:cNvSpPr txBox="1"/>
          <p:nvPr/>
        </p:nvSpPr>
        <p:spPr>
          <a:xfrm>
            <a:off x="658368" y="3264408"/>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Nine screens over one gateway</a:t>
            </a:r>
          </a:p>
        </p:txBody>
      </p:sp>
      <p:sp>
        <p:nvSpPr>
          <p:cNvPr id="10" name="TextBox 9"/>
          <p:cNvSpPr txBox="1"/>
          <p:nvPr/>
        </p:nvSpPr>
        <p:spPr>
          <a:xfrm>
            <a:off x="658368" y="3831336"/>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2,331 tests, every commit</a:t>
            </a:r>
          </a:p>
        </p:txBody>
      </p:sp>
      <p:sp>
        <p:nvSpPr>
          <p:cNvPr id="11" name="TextBox 10"/>
          <p:cNvSpPr txBox="1"/>
          <p:nvPr/>
        </p:nvSpPr>
        <p:spPr>
          <a:xfrm>
            <a:off x="658368" y="4398264"/>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98 blockers named with owners</a:t>
            </a:r>
          </a:p>
        </p:txBody>
      </p:sp>
      <p:sp>
        <p:nvSpPr>
          <p:cNvPr id="12" name="Rectangle 11"/>
          <p:cNvSpPr/>
          <p:nvPr/>
        </p:nvSpPr>
        <p:spPr>
          <a:xfrm>
            <a:off x="3429000" y="1828800"/>
            <a:ext cx="2514600" cy="4572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429000" y="2029968"/>
            <a:ext cx="2377440" cy="219456"/>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B54708"/>
                </a:solidFill>
                <a:latin typeface="Consolas"/>
              </a:rPr>
              <a:t>NEXT</a:t>
            </a:r>
          </a:p>
        </p:txBody>
      </p:sp>
      <p:sp>
        <p:nvSpPr>
          <p:cNvPr id="14" name="TextBox 13"/>
          <p:cNvSpPr txBox="1"/>
          <p:nvPr/>
        </p:nvSpPr>
        <p:spPr>
          <a:xfrm>
            <a:off x="3429000" y="2286000"/>
            <a:ext cx="2377440" cy="274320"/>
          </a:xfrm>
          <a:prstGeom prst="rect">
            <a:avLst/>
          </a:prstGeom>
          <a:noFill/>
        </p:spPr>
        <p:txBody>
          <a:bodyPr wrap="square" lIns="0" rIns="0" tIns="0" bIns="0">
            <a:spAutoFit/>
          </a:bodyPr>
          <a:lstStyle/>
          <a:p>
            <a:pPr algn="l">
              <a:lnSpc>
                <a:spcPct val="100000"/>
              </a:lnSpc>
              <a:spcBef>
                <a:spcPts val="0"/>
              </a:spcBef>
              <a:spcAft>
                <a:spcPts val="0"/>
              </a:spcAft>
            </a:pPr>
            <a:r>
              <a:rPr sz="1300" b="1">
                <a:solidFill>
                  <a:srgbClr val="101828"/>
                </a:solidFill>
                <a:latin typeface="Georgia"/>
              </a:rPr>
              <a:t>Needs a decision, not code</a:t>
            </a:r>
          </a:p>
        </p:txBody>
      </p:sp>
      <p:sp>
        <p:nvSpPr>
          <p:cNvPr id="15" name="TextBox 14"/>
          <p:cNvSpPr txBox="1"/>
          <p:nvPr/>
        </p:nvSpPr>
        <p:spPr>
          <a:xfrm>
            <a:off x="3429000" y="2697480"/>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Ratify cutoffs and risk bands</a:t>
            </a:r>
          </a:p>
        </p:txBody>
      </p:sp>
      <p:sp>
        <p:nvSpPr>
          <p:cNvPr id="16" name="TextBox 15"/>
          <p:cNvSpPr txBox="1"/>
          <p:nvPr/>
        </p:nvSpPr>
        <p:spPr>
          <a:xfrm>
            <a:off x="3429000" y="3264408"/>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Set the alert budget</a:t>
            </a:r>
          </a:p>
        </p:txBody>
      </p:sp>
      <p:sp>
        <p:nvSpPr>
          <p:cNvPr id="17" name="TextBox 16"/>
          <p:cNvSpPr txBox="1"/>
          <p:nvPr/>
        </p:nvSpPr>
        <p:spPr>
          <a:xfrm>
            <a:off x="3429000" y="3831336"/>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Supply the crop calendar</a:t>
            </a:r>
          </a:p>
        </p:txBody>
      </p:sp>
      <p:sp>
        <p:nvSpPr>
          <p:cNvPr id="18" name="TextBox 17"/>
          <p:cNvSpPr txBox="1"/>
          <p:nvPr/>
        </p:nvSpPr>
        <p:spPr>
          <a:xfrm>
            <a:off x="3429000" y="4398264"/>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Approve reason-code wording</a:t>
            </a:r>
          </a:p>
        </p:txBody>
      </p:sp>
      <p:sp>
        <p:nvSpPr>
          <p:cNvPr id="19" name="Rectangle 18"/>
          <p:cNvSpPr/>
          <p:nvPr/>
        </p:nvSpPr>
        <p:spPr>
          <a:xfrm>
            <a:off x="6199632" y="1828800"/>
            <a:ext cx="2514600" cy="4572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199632" y="2029968"/>
            <a:ext cx="2377440" cy="219456"/>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2166A3"/>
                </a:solidFill>
                <a:latin typeface="Consolas"/>
              </a:rPr>
              <a:t>THEN</a:t>
            </a:r>
          </a:p>
        </p:txBody>
      </p:sp>
      <p:sp>
        <p:nvSpPr>
          <p:cNvPr id="21" name="TextBox 20"/>
          <p:cNvSpPr txBox="1"/>
          <p:nvPr/>
        </p:nvSpPr>
        <p:spPr>
          <a:xfrm>
            <a:off x="6199632" y="2286000"/>
            <a:ext cx="2377440" cy="274320"/>
          </a:xfrm>
          <a:prstGeom prst="rect">
            <a:avLst/>
          </a:prstGeom>
          <a:noFill/>
        </p:spPr>
        <p:txBody>
          <a:bodyPr wrap="square" lIns="0" rIns="0" tIns="0" bIns="0">
            <a:spAutoFit/>
          </a:bodyPr>
          <a:lstStyle/>
          <a:p>
            <a:pPr algn="l">
              <a:lnSpc>
                <a:spcPct val="100000"/>
              </a:lnSpc>
              <a:spcBef>
                <a:spcPts val="0"/>
              </a:spcBef>
              <a:spcAft>
                <a:spcPts val="0"/>
              </a:spcAft>
            </a:pPr>
            <a:r>
              <a:rPr sz="1300" b="1">
                <a:solidFill>
                  <a:srgbClr val="101828"/>
                </a:solidFill>
                <a:latin typeface="Georgia"/>
              </a:rPr>
              <a:t>Needs the bank's own data</a:t>
            </a:r>
          </a:p>
        </p:txBody>
      </p:sp>
      <p:sp>
        <p:nvSpPr>
          <p:cNvPr id="22" name="TextBox 21"/>
          <p:cNvSpPr txBox="1"/>
          <p:nvPr/>
        </p:nvSpPr>
        <p:spPr>
          <a:xfrm>
            <a:off x="6199632" y="2697480"/>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Retrain on this book</a:t>
            </a:r>
          </a:p>
        </p:txBody>
      </p:sp>
      <p:sp>
        <p:nvSpPr>
          <p:cNvPr id="23" name="TextBox 22"/>
          <p:cNvSpPr txBox="1"/>
          <p:nvPr/>
        </p:nvSpPr>
        <p:spPr>
          <a:xfrm>
            <a:off x="6199632" y="3264408"/>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Shadow-run beside the current process</a:t>
            </a:r>
          </a:p>
        </p:txBody>
      </p:sp>
      <p:sp>
        <p:nvSpPr>
          <p:cNvPr id="24" name="TextBox 23"/>
          <p:cNvSpPr txBox="1"/>
          <p:nvPr/>
        </p:nvSpPr>
        <p:spPr>
          <a:xfrm>
            <a:off x="6199632" y="3831336"/>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Independent model validation</a:t>
            </a:r>
          </a:p>
        </p:txBody>
      </p:sp>
      <p:sp>
        <p:nvSpPr>
          <p:cNvPr id="25" name="TextBox 24"/>
          <p:cNvSpPr txBox="1"/>
          <p:nvPr/>
        </p:nvSpPr>
        <p:spPr>
          <a:xfrm>
            <a:off x="6199632" y="4398264"/>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Fairness audit before any live decision</a:t>
            </a:r>
          </a:p>
        </p:txBody>
      </p:sp>
      <p:sp>
        <p:nvSpPr>
          <p:cNvPr id="26" name="Rectangle 25"/>
          <p:cNvSpPr/>
          <p:nvPr/>
        </p:nvSpPr>
        <p:spPr>
          <a:xfrm>
            <a:off x="8970264" y="1828800"/>
            <a:ext cx="2514600" cy="4572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970264" y="2029968"/>
            <a:ext cx="2377440" cy="219456"/>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LIVE</a:t>
            </a:r>
          </a:p>
        </p:txBody>
      </p:sp>
      <p:sp>
        <p:nvSpPr>
          <p:cNvPr id="28" name="TextBox 27"/>
          <p:cNvSpPr txBox="1"/>
          <p:nvPr/>
        </p:nvSpPr>
        <p:spPr>
          <a:xfrm>
            <a:off x="8970264" y="2286000"/>
            <a:ext cx="2377440" cy="274320"/>
          </a:xfrm>
          <a:prstGeom prst="rect">
            <a:avLst/>
          </a:prstGeom>
          <a:noFill/>
        </p:spPr>
        <p:txBody>
          <a:bodyPr wrap="square" lIns="0" rIns="0" tIns="0" bIns="0">
            <a:spAutoFit/>
          </a:bodyPr>
          <a:lstStyle/>
          <a:p>
            <a:pPr algn="l">
              <a:lnSpc>
                <a:spcPct val="100000"/>
              </a:lnSpc>
              <a:spcBef>
                <a:spcPts val="0"/>
              </a:spcBef>
              <a:spcAft>
                <a:spcPts val="0"/>
              </a:spcAft>
            </a:pPr>
            <a:r>
              <a:rPr sz="1300" b="1">
                <a:solidFill>
                  <a:srgbClr val="101828"/>
                </a:solidFill>
                <a:latin typeface="Georgia"/>
              </a:rPr>
              <a:t>Steady state</a:t>
            </a:r>
          </a:p>
        </p:txBody>
      </p:sp>
      <p:sp>
        <p:nvSpPr>
          <p:cNvPr id="29" name="TextBox 28"/>
          <p:cNvSpPr txBox="1"/>
          <p:nvPr/>
        </p:nvSpPr>
        <p:spPr>
          <a:xfrm>
            <a:off x="8970264" y="2697480"/>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Champion / challenger, forever</a:t>
            </a:r>
          </a:p>
        </p:txBody>
      </p:sp>
      <p:sp>
        <p:nvSpPr>
          <p:cNvPr id="30" name="TextBox 29"/>
          <p:cNvSpPr txBox="1"/>
          <p:nvPr/>
        </p:nvSpPr>
        <p:spPr>
          <a:xfrm>
            <a:off x="8970264" y="3264408"/>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Weekly drift and calibration checks</a:t>
            </a:r>
          </a:p>
        </p:txBody>
      </p:sp>
      <p:sp>
        <p:nvSpPr>
          <p:cNvPr id="31" name="TextBox 30"/>
          <p:cNvSpPr txBox="1"/>
          <p:nvPr/>
        </p:nvSpPr>
        <p:spPr>
          <a:xfrm>
            <a:off x="8970264" y="3831336"/>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Randomised holdouts for uplift</a:t>
            </a:r>
          </a:p>
        </p:txBody>
      </p:sp>
      <p:sp>
        <p:nvSpPr>
          <p:cNvPr id="32" name="TextBox 31"/>
          <p:cNvSpPr txBox="1"/>
          <p:nvPr/>
        </p:nvSpPr>
        <p:spPr>
          <a:xfrm>
            <a:off x="8970264" y="4398264"/>
            <a:ext cx="2423160" cy="457200"/>
          </a:xfrm>
          <a:prstGeom prst="rect">
            <a:avLst/>
          </a:prstGeom>
          <a:noFill/>
        </p:spPr>
        <p:txBody>
          <a:bodyPr wrap="square" lIns="0" rIns="0" tIns="0" bIns="0">
            <a:spAutoFit/>
          </a:bodyPr>
          <a:lstStyle/>
          <a:p>
            <a:pPr algn="l">
              <a:lnSpc>
                <a:spcPct val="120000"/>
              </a:lnSpc>
              <a:spcBef>
                <a:spcPts val="0"/>
              </a:spcBef>
              <a:spcAft>
                <a:spcPts val="0"/>
              </a:spcAft>
            </a:pPr>
            <a:r>
              <a:rPr sz="1050" b="0">
                <a:solidFill>
                  <a:srgbClr val="475467"/>
                </a:solidFill>
                <a:latin typeface="Segoe UI"/>
              </a:rPr>
              <a:t>· Annual revalidation</a:t>
            </a:r>
          </a:p>
        </p:txBody>
      </p:sp>
      <p:sp>
        <p:nvSpPr>
          <p:cNvPr id="33" name="Rectangle 32"/>
          <p:cNvSpPr/>
          <p:nvPr/>
        </p:nvSpPr>
        <p:spPr>
          <a:xfrm>
            <a:off x="658368" y="5257800"/>
            <a:ext cx="10881360" cy="777240"/>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58368" y="5257800"/>
            <a:ext cx="36576" cy="7772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5376672"/>
            <a:ext cx="10497312" cy="53949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The second column is the honest bottleneck. None of it is engineering work — it is four committees writing down numbers they already have opinions about. Every one is registered with a named owner, which is why the platform can say precisely what it is waiting for.</a:t>
            </a:r>
          </a:p>
        </p:txBody>
      </p:sp>
      <p:sp>
        <p:nvSpPr>
          <p:cNvPr id="36" name="Rectangle 35"/>
          <p:cNvSpPr/>
          <p:nvPr/>
        </p:nvSpPr>
        <p:spPr>
          <a:xfrm>
            <a:off x="658368" y="6172200"/>
            <a:ext cx="10881360" cy="566928"/>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58368" y="6172200"/>
            <a:ext cx="36576" cy="566928"/>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59536" y="6291072"/>
            <a:ext cx="10497312" cy="32918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Nothing in the first column has to be unpicked to reach the fourth. The interfaces, the gateway and the definitions do not change when a cutoff is ratified — the value simply arrives.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20</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STATUS, STATED PLAINLY</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Zero of thirty-one exit criteria have gate evidence</a:t>
            </a:r>
          </a:p>
        </p:txBody>
      </p:sp>
      <p:sp>
        <p:nvSpPr>
          <p:cNvPr id="5" name="TextBox 4"/>
          <p:cNvSpPr txBox="1"/>
          <p:nvPr/>
        </p:nvSpPr>
        <p:spPr>
          <a:xfrm>
            <a:off x="658368" y="169164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Most teams leave this slide out. Every stage reports zero verified results, because verification needs the bank's own systems and data, which we do not have. Saying so plainly is the point.</a:t>
            </a:r>
          </a:p>
        </p:txBody>
      </p:sp>
      <p:sp>
        <p:nvSpPr>
          <p:cNvPr id="6" name="Rectangle 5"/>
          <p:cNvSpPr/>
          <p:nvPr/>
        </p:nvSpPr>
        <p:spPr>
          <a:xfrm>
            <a:off x="658368" y="2377440"/>
            <a:ext cx="2514600"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50545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B54708"/>
                </a:solidFill>
                <a:latin typeface="Georgia"/>
              </a:rPr>
              <a:t>0 / 8</a:t>
            </a:r>
          </a:p>
        </p:txBody>
      </p:sp>
      <p:sp>
        <p:nvSpPr>
          <p:cNvPr id="8" name="TextBox 7"/>
          <p:cNvSpPr txBox="1"/>
          <p:nvPr/>
        </p:nvSpPr>
        <p:spPr>
          <a:xfrm>
            <a:off x="658368" y="303580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Phase 1 · credit scoring &amp; fraud</a:t>
            </a:r>
          </a:p>
        </p:txBody>
      </p:sp>
      <p:sp>
        <p:nvSpPr>
          <p:cNvPr id="9" name="Rectangle 8"/>
          <p:cNvSpPr/>
          <p:nvPr/>
        </p:nvSpPr>
        <p:spPr>
          <a:xfrm>
            <a:off x="3429000" y="2377440"/>
            <a:ext cx="2514600"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429000" y="250545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B54708"/>
                </a:solidFill>
                <a:latin typeface="Georgia"/>
              </a:rPr>
              <a:t>0 / 6</a:t>
            </a:r>
          </a:p>
        </p:txBody>
      </p:sp>
      <p:sp>
        <p:nvSpPr>
          <p:cNvPr id="11" name="TextBox 10"/>
          <p:cNvSpPr txBox="1"/>
          <p:nvPr/>
        </p:nvSpPr>
        <p:spPr>
          <a:xfrm>
            <a:off x="3429000" y="303580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Phase 2 · agri intelligence</a:t>
            </a:r>
          </a:p>
        </p:txBody>
      </p:sp>
      <p:sp>
        <p:nvSpPr>
          <p:cNvPr id="12" name="Rectangle 11"/>
          <p:cNvSpPr/>
          <p:nvPr/>
        </p:nvSpPr>
        <p:spPr>
          <a:xfrm>
            <a:off x="6199632" y="2377440"/>
            <a:ext cx="2514600"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99632" y="250545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B54708"/>
                </a:solidFill>
                <a:latin typeface="Georgia"/>
              </a:rPr>
              <a:t>0 / 6</a:t>
            </a:r>
          </a:p>
        </p:txBody>
      </p:sp>
      <p:sp>
        <p:nvSpPr>
          <p:cNvPr id="14" name="TextBox 13"/>
          <p:cNvSpPr txBox="1"/>
          <p:nvPr/>
        </p:nvSpPr>
        <p:spPr>
          <a:xfrm>
            <a:off x="6199632" y="303580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Phase 3 · portfolio risk</a:t>
            </a:r>
          </a:p>
        </p:txBody>
      </p:sp>
      <p:sp>
        <p:nvSpPr>
          <p:cNvPr id="15" name="Rectangle 14"/>
          <p:cNvSpPr/>
          <p:nvPr/>
        </p:nvSpPr>
        <p:spPr>
          <a:xfrm>
            <a:off x="8970264" y="2377440"/>
            <a:ext cx="2514600"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70264" y="250545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B54708"/>
                </a:solidFill>
                <a:latin typeface="Georgia"/>
              </a:rPr>
              <a:t>0 / 5</a:t>
            </a:r>
          </a:p>
        </p:txBody>
      </p:sp>
      <p:sp>
        <p:nvSpPr>
          <p:cNvPr id="17" name="TextBox 16"/>
          <p:cNvSpPr txBox="1"/>
          <p:nvPr/>
        </p:nvSpPr>
        <p:spPr>
          <a:xfrm>
            <a:off x="8970264" y="303580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Phase 4 · EWS &amp; recommendations</a:t>
            </a:r>
          </a:p>
        </p:txBody>
      </p:sp>
      <p:sp>
        <p:nvSpPr>
          <p:cNvPr id="18" name="TextBox 17"/>
          <p:cNvSpPr txBox="1"/>
          <p:nvPr/>
        </p:nvSpPr>
        <p:spPr>
          <a:xfrm>
            <a:off x="658368" y="3749039"/>
            <a:ext cx="5394960" cy="274320"/>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THREE GATE STATES, NOT TWO</a:t>
            </a:r>
          </a:p>
        </p:txBody>
      </p:sp>
      <p:sp>
        <p:nvSpPr>
          <p:cNvPr id="19" name="TextBox 18"/>
          <p:cNvSpPr txBox="1"/>
          <p:nvPr/>
        </p:nvSpPr>
        <p:spPr>
          <a:xfrm>
            <a:off x="658368" y="4206240"/>
            <a:ext cx="17373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Not measured</a:t>
            </a:r>
          </a:p>
        </p:txBody>
      </p:sp>
      <p:sp>
        <p:nvSpPr>
          <p:cNvPr id="20" name="TextBox 19"/>
          <p:cNvSpPr txBox="1"/>
          <p:nvPr/>
        </p:nvSpPr>
        <p:spPr>
          <a:xfrm>
            <a:off x="2441448" y="4233672"/>
            <a:ext cx="3566160" cy="36576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475467"/>
                </a:solidFill>
                <a:latin typeface="Segoe UI"/>
              </a:rPr>
              <a:t>the job has not run — a scheduling problem</a:t>
            </a:r>
          </a:p>
        </p:txBody>
      </p:sp>
      <p:sp>
        <p:nvSpPr>
          <p:cNvPr id="21" name="TextBox 20"/>
          <p:cNvSpPr txBox="1"/>
          <p:nvPr/>
        </p:nvSpPr>
        <p:spPr>
          <a:xfrm>
            <a:off x="658368" y="4919472"/>
            <a:ext cx="17373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Not measurable</a:t>
            </a:r>
          </a:p>
        </p:txBody>
      </p:sp>
      <p:sp>
        <p:nvSpPr>
          <p:cNvPr id="22" name="TextBox 21"/>
          <p:cNvSpPr txBox="1"/>
          <p:nvPr/>
        </p:nvSpPr>
        <p:spPr>
          <a:xfrm>
            <a:off x="2441448" y="4946904"/>
            <a:ext cx="3566160" cy="36576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475467"/>
                </a:solidFill>
                <a:latin typeface="Segoe UI"/>
              </a:rPr>
              <a:t>no reachable data produces it — a sourcing problem</a:t>
            </a:r>
          </a:p>
        </p:txBody>
      </p:sp>
      <p:sp>
        <p:nvSpPr>
          <p:cNvPr id="23" name="TextBox 22"/>
          <p:cNvSpPr txBox="1"/>
          <p:nvPr/>
        </p:nvSpPr>
        <p:spPr>
          <a:xfrm>
            <a:off x="658368" y="5632704"/>
            <a:ext cx="17373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Unidentifiable</a:t>
            </a:r>
          </a:p>
        </p:txBody>
      </p:sp>
      <p:sp>
        <p:nvSpPr>
          <p:cNvPr id="24" name="TextBox 23"/>
          <p:cNvSpPr txBox="1"/>
          <p:nvPr/>
        </p:nvSpPr>
        <p:spPr>
          <a:xfrm>
            <a:off x="2441448" y="5660136"/>
            <a:ext cx="3566160" cy="36576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475467"/>
                </a:solidFill>
                <a:latin typeface="Segoe UI"/>
              </a:rPr>
              <a:t>no quantity of data produces it — a design problem</a:t>
            </a:r>
          </a:p>
        </p:txBody>
      </p:sp>
      <p:sp>
        <p:nvSpPr>
          <p:cNvPr id="25" name="Rectangle 24"/>
          <p:cNvSpPr/>
          <p:nvPr/>
        </p:nvSpPr>
        <p:spPr>
          <a:xfrm>
            <a:off x="6400800" y="3749039"/>
            <a:ext cx="5120640" cy="2103120"/>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400800" y="3749039"/>
            <a:ext cx="36576" cy="210312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601968" y="3867911"/>
            <a:ext cx="4736592" cy="18653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What a bank gets from this. Everything that can be built is built and tested. Everything that cannot names who must decide it. Nothing has to be torn out later because somebody guessed — because nobody guessed.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3A6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778240" y="0"/>
            <a:ext cx="3474720" cy="685800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11155680" y="0"/>
            <a:ext cx="1097280" cy="685800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280160"/>
            <a:ext cx="7863840" cy="274320"/>
          </a:xfrm>
          <a:prstGeom prst="rect">
            <a:avLst/>
          </a:prstGeom>
          <a:noFill/>
        </p:spPr>
        <p:txBody>
          <a:bodyPr wrap="square" lIns="0" rIns="0" tIns="0" bIns="0">
            <a:spAutoFit/>
          </a:bodyPr>
          <a:lstStyle/>
          <a:p>
            <a:pPr algn="l">
              <a:lnSpc>
                <a:spcPct val="100000"/>
              </a:lnSpc>
              <a:spcBef>
                <a:spcPts val="0"/>
              </a:spcBef>
              <a:spcAft>
                <a:spcPts val="0"/>
              </a:spcAft>
            </a:pPr>
            <a:r>
              <a:rPr sz="1100" b="0">
                <a:solidFill>
                  <a:srgbClr val="ADC9E5"/>
                </a:solidFill>
                <a:latin typeface="Consolas"/>
              </a:rPr>
              <a:t>WHY THIS APPROACH</a:t>
            </a:r>
          </a:p>
        </p:txBody>
      </p:sp>
      <p:sp>
        <p:nvSpPr>
          <p:cNvPr id="6" name="TextBox 5"/>
          <p:cNvSpPr txBox="1"/>
          <p:nvPr/>
        </p:nvSpPr>
        <p:spPr>
          <a:xfrm>
            <a:off x="658368" y="1783080"/>
            <a:ext cx="7772400" cy="1737360"/>
          </a:xfrm>
          <a:prstGeom prst="rect">
            <a:avLst/>
          </a:prstGeom>
          <a:noFill/>
        </p:spPr>
        <p:txBody>
          <a:bodyPr wrap="square" lIns="0" rIns="0" tIns="0" bIns="0">
            <a:spAutoFit/>
          </a:bodyPr>
          <a:lstStyle/>
          <a:p>
            <a:pPr algn="l">
              <a:lnSpc>
                <a:spcPct val="100000"/>
              </a:lnSpc>
              <a:spcBef>
                <a:spcPts val="0"/>
              </a:spcBef>
              <a:spcAft>
                <a:spcPts val="0"/>
              </a:spcAft>
            </a:pPr>
            <a:r>
              <a:rPr sz="3400" b="1">
                <a:solidFill>
                  <a:srgbClr val="FFFFFF"/>
                </a:solidFill>
                <a:latin typeface="Georgia"/>
              </a:rPr>
              <a:t>A model that cannot say what</a:t>
            </a:r>
            <a:br/>
            <a:r>
              <a:rPr sz="3400" b="1">
                <a:solidFill>
                  <a:srgbClr val="FFFFFF"/>
                </a:solidFill>
                <a:latin typeface="Georgia"/>
              </a:rPr>
              <a:t>it does not know is a liability</a:t>
            </a:r>
          </a:p>
        </p:txBody>
      </p:sp>
      <p:sp>
        <p:nvSpPr>
          <p:cNvPr id="7" name="TextBox 6"/>
          <p:cNvSpPr txBox="1"/>
          <p:nvPr/>
        </p:nvSpPr>
        <p:spPr>
          <a:xfrm>
            <a:off x="658368" y="3749039"/>
            <a:ext cx="7589520" cy="1280160"/>
          </a:xfrm>
          <a:prstGeom prst="rect">
            <a:avLst/>
          </a:prstGeom>
          <a:noFill/>
        </p:spPr>
        <p:txBody>
          <a:bodyPr wrap="square" lIns="0" rIns="0" tIns="0" bIns="0">
            <a:spAutoFit/>
          </a:bodyPr>
          <a:lstStyle/>
          <a:p>
            <a:pPr algn="l">
              <a:lnSpc>
                <a:spcPct val="130000"/>
              </a:lnSpc>
              <a:spcBef>
                <a:spcPts val="0"/>
              </a:spcBef>
              <a:spcAft>
                <a:spcPts val="0"/>
              </a:spcAft>
            </a:pPr>
            <a:r>
              <a:rPr sz="1300" b="0">
                <a:solidFill>
                  <a:srgbClr val="D6E4F2"/>
                </a:solidFill>
                <a:latin typeface="Segoe UI"/>
              </a:rPr>
              <a:t>Lending is a regulated activity. A number on a screen becomes a number in a complaint, a number in an audit, and a number in front of a regulator. This build is engineered so every one of those numbers traces to the script that produced it — or does not appear at all.</a:t>
            </a:r>
          </a:p>
        </p:txBody>
      </p:sp>
      <p:sp>
        <p:nvSpPr>
          <p:cNvPr id="8" name="Rectangle 7"/>
          <p:cNvSpPr/>
          <p:nvPr/>
        </p:nvSpPr>
        <p:spPr>
          <a:xfrm>
            <a:off x="658368" y="5212080"/>
            <a:ext cx="7589520" cy="9525"/>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54406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FFFFFF"/>
                </a:solidFill>
                <a:latin typeface="Segoe UI"/>
              </a:rPr>
              <a:t>Refuses, not defaults</a:t>
            </a:r>
          </a:p>
        </p:txBody>
      </p:sp>
      <p:sp>
        <p:nvSpPr>
          <p:cNvPr id="10" name="TextBox 9"/>
          <p:cNvSpPr txBox="1"/>
          <p:nvPr/>
        </p:nvSpPr>
        <p:spPr>
          <a:xfrm>
            <a:off x="658368" y="5742432"/>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Missing policy raises an error</a:t>
            </a:r>
          </a:p>
        </p:txBody>
      </p:sp>
      <p:sp>
        <p:nvSpPr>
          <p:cNvPr id="11" name="TextBox 10"/>
          <p:cNvSpPr txBox="1"/>
          <p:nvPr/>
        </p:nvSpPr>
        <p:spPr>
          <a:xfrm>
            <a:off x="2596896" y="54406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FFFFFF"/>
                </a:solidFill>
                <a:latin typeface="Segoe UI"/>
              </a:rPr>
              <a:t>Stamped, not asserted</a:t>
            </a:r>
          </a:p>
        </p:txBody>
      </p:sp>
      <p:sp>
        <p:nvSpPr>
          <p:cNvPr id="12" name="TextBox 11"/>
          <p:cNvSpPr txBox="1"/>
          <p:nvPr/>
        </p:nvSpPr>
        <p:spPr>
          <a:xfrm>
            <a:off x="2596896" y="5742432"/>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Every figure names its track</a:t>
            </a:r>
          </a:p>
        </p:txBody>
      </p:sp>
      <p:sp>
        <p:nvSpPr>
          <p:cNvPr id="13" name="TextBox 12"/>
          <p:cNvSpPr txBox="1"/>
          <p:nvPr/>
        </p:nvSpPr>
        <p:spPr>
          <a:xfrm>
            <a:off x="4535424" y="54406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FFFFFF"/>
                </a:solidFill>
                <a:latin typeface="Segoe UI"/>
              </a:rPr>
              <a:t>Ported, not invented</a:t>
            </a:r>
          </a:p>
        </p:txBody>
      </p:sp>
      <p:sp>
        <p:nvSpPr>
          <p:cNvPr id="14" name="TextBox 13"/>
          <p:cNvSpPr txBox="1"/>
          <p:nvPr/>
        </p:nvSpPr>
        <p:spPr>
          <a:xfrm>
            <a:off x="4535424" y="5742432"/>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Each algorithm cites its paper</a:t>
            </a:r>
          </a:p>
        </p:txBody>
      </p:sp>
      <p:sp>
        <p:nvSpPr>
          <p:cNvPr id="15" name="TextBox 14"/>
          <p:cNvSpPr txBox="1"/>
          <p:nvPr/>
        </p:nvSpPr>
        <p:spPr>
          <a:xfrm>
            <a:off x="6473952" y="54406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FFFFFF"/>
                </a:solidFill>
                <a:latin typeface="Segoe UI"/>
              </a:rPr>
              <a:t>Registered, not hidden</a:t>
            </a:r>
          </a:p>
        </p:txBody>
      </p:sp>
      <p:sp>
        <p:nvSpPr>
          <p:cNvPr id="16" name="TextBox 15"/>
          <p:cNvSpPr txBox="1"/>
          <p:nvPr/>
        </p:nvSpPr>
        <p:spPr>
          <a:xfrm>
            <a:off x="6473952" y="5742432"/>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98 tickets, each with an owner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Smart Lending Decision Hub</dc:title>
  <dc:subject>TVS Credit EPIC 8.0 IT Challenge</dc:subject>
  <dc:creator/>
  <cp:keywords/>
  <dc:description>Figures from committed, rerunnable scripts. Track P results are on public reference data and are not gate evidence for any bank.</dc:description>
  <cp:lastModifiedBy>Steve Canny</cp:lastModifiedBy>
  <cp:revision>1</cp:revision>
  <dcterms:created xsi:type="dcterms:W3CDTF">2013-01-27T09:14:16Z</dcterms:created>
  <dcterms:modified xsi:type="dcterms:W3CDTF">2013-01-27T09:15:58Z</dcterms:modified>
  <cp:category/>
</cp:coreProperties>
</file>