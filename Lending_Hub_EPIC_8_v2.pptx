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slides/slide12.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slides/slide21.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11.xml" ContentType="application/vnd.openxmlformats-officedocument.presentationml.slide+xml"/>
  <Override PartName="/ppt/slides/slide19.xml" ContentType="application/vnd.openxmlformats-officedocument.presentationml.slide+xml"/>
  <Override PartName="/ppt/slides/slide5.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BDB8E55-BACC-44A7-A24D-33CEA8FFC9A8}" type="slidenum">
              <a:rPr lang="en-US"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A96E877D-56FB-4DCB-810D-0E6890AFA1C1}" type="slidenum">
              <a:rPr lang="en-US"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1A8F3D44-1307-4A02-88D0-80580E693256}" type="slidenum">
              <a:rPr lang="en-US"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6E70802-1243-487C-8F31-BCCB6C5CC9EE}" type="slidenum">
              <a:rPr lang="en-US"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37F3B4E-B62A-46EC-8AA0-E30770CC2CE0}" type="slidenum">
              <a:rPr lang="en-US"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95C08C9-0B55-4951-AB7B-0B486CFCECC3}" type="slidenum">
              <a:rPr lang="en-US"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CC1DF024-516F-439B-A7DE-8F3C809CD7D9}" type="slidenum">
              <a:rPr lang="en-US"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C03A6FF4-F7CD-4EA9-8C41-F3BDB1240C36}" type="slidenum">
              <a:rPr lang="en-US"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33628280-CAC9-49C9-803A-3FC89C7DDB41}" type="slidenum">
              <a:rPr lang="en-US"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AEA41EEC-ED36-4694-BF46-9676EEA2ED70}"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FC78DF9-9792-47B7-A0B0-DE8233B7FCE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hyperlink" Target="https://github.com/Divanshu0212/AILendingHub/" TargetMode="External"/><Relationship Id="rId2" Type="http://schemas.openxmlformats.org/officeDocument/2006/relationships/slideLayout" Target="../slideLayouts/slideLayout9.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A3A68"/>
        </a:solidFill>
      </p:bgPr>
    </p:bg>
    <p:spTree>
      <p:nvGrpSpPr>
        <p:cNvPr id="1" name=""/>
        <p:cNvGrpSpPr/>
        <p:nvPr/>
      </p:nvGrpSpPr>
      <p:grpSpPr>
        <a:xfrm>
          <a:off x="0" y="0"/>
          <a:ext cx="0" cy="0"/>
          <a:chOff x="0" y="0"/>
          <a:chExt cx="0" cy="0"/>
        </a:xfrm>
      </p:grpSpPr>
      <p:sp>
        <p:nvSpPr>
          <p:cNvPr id="61" name="Rectangle 1"/>
          <p:cNvSpPr/>
          <p:nvPr/>
        </p:nvSpPr>
        <p:spPr>
          <a:xfrm>
            <a:off x="0" y="0"/>
            <a:ext cx="12191400" cy="6857640"/>
          </a:xfrm>
          <a:prstGeom prst="rect">
            <a:avLst/>
          </a:prstGeom>
          <a:solidFill>
            <a:srgbClr val="0A3A6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2" name="Rectangle 2"/>
          <p:cNvSpPr/>
          <p:nvPr/>
        </p:nvSpPr>
        <p:spPr>
          <a:xfrm>
            <a:off x="8778240" y="0"/>
            <a:ext cx="3474360" cy="6857640"/>
          </a:xfrm>
          <a:prstGeom prst="rect">
            <a:avLst/>
          </a:prstGeom>
          <a:solidFill>
            <a:srgbClr val="0D4A8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3" name="Rectangle 3"/>
          <p:cNvSpPr/>
          <p:nvPr/>
        </p:nvSpPr>
        <p:spPr>
          <a:xfrm>
            <a:off x="11155680" y="0"/>
            <a:ext cx="1096920" cy="6857640"/>
          </a:xfrm>
          <a:prstGeom prst="rect">
            <a:avLst/>
          </a:prstGeom>
          <a:solidFill>
            <a:srgbClr val="2166A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4" name="TextBox 4"/>
          <p:cNvSpPr/>
          <p:nvPr/>
        </p:nvSpPr>
        <p:spPr>
          <a:xfrm>
            <a:off x="658440" y="914400"/>
            <a:ext cx="786348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0" u="none" strike="noStrike">
                <a:solidFill>
                  <a:srgbClr val="ADC9E5"/>
                </a:solidFill>
                <a:effectLst/>
                <a:uFillTx/>
                <a:latin typeface="Consolas"/>
              </a:rPr>
              <a:t>TVS CREDIT EPIC 8.0  ·  IT CHALLENGE</a:t>
            </a:r>
            <a:endParaRPr lang="en-US" sz="1100" b="0" u="none" strike="noStrike">
              <a:solidFill>
                <a:srgbClr val="FFFFFF"/>
              </a:solidFill>
              <a:effectLst/>
              <a:uFillTx/>
              <a:latin typeface="Arial"/>
            </a:endParaRPr>
          </a:p>
        </p:txBody>
      </p:sp>
      <p:sp>
        <p:nvSpPr>
          <p:cNvPr id="65" name="TextBox 5"/>
          <p:cNvSpPr/>
          <p:nvPr/>
        </p:nvSpPr>
        <p:spPr>
          <a:xfrm>
            <a:off x="658440" y="1417320"/>
            <a:ext cx="7863480" cy="2011320"/>
          </a:xfrm>
          <a:prstGeom prst="rect">
            <a:avLst/>
          </a:prstGeom>
          <a:noFill/>
          <a:ln w="0">
            <a:noFill/>
          </a:ln>
        </p:spPr>
        <p:style>
          <a:lnRef idx="0"/>
          <a:fillRef idx="0"/>
          <a:effectRef idx="0"/>
          <a:fontRef idx="minor"/>
        </p:style>
        <p:txBody>
          <a:bodyPr lIns="0" tIns="0" rIns="0" bIns="0" anchor="t">
            <a:spAutoFit/>
          </a:bodyPr>
          <a:p>
            <a:pPr defTabSz="457200">
              <a:lnSpc>
                <a:spcPct val="98000"/>
              </a:lnSpc>
            </a:pPr>
            <a:r>
              <a:rPr lang="en-US" sz="4400" b="1" u="none" strike="noStrike">
                <a:solidFill>
                  <a:srgbClr val="FFFFFF"/>
                </a:solidFill>
                <a:effectLst/>
                <a:uFillTx/>
                <a:latin typeface="Georgia"/>
              </a:rPr>
              <a:t>AI-Powered Smart</a:t>
            </a:r>
            <a:br>
              <a:rPr sz="1800"/>
            </a:br>
            <a:r>
              <a:rPr lang="en-US" sz="4400" b="1" u="none" strike="noStrike">
                <a:solidFill>
                  <a:srgbClr val="FFFFFF"/>
                </a:solidFill>
                <a:effectLst/>
                <a:uFillTx/>
                <a:latin typeface="Georgia"/>
              </a:rPr>
              <a:t>Lending Decision Hub</a:t>
            </a:r>
            <a:endParaRPr lang="en-US" sz="4400" b="0" u="none" strike="noStrike">
              <a:solidFill>
                <a:srgbClr val="FFFFFF"/>
              </a:solidFill>
              <a:effectLst/>
              <a:uFillTx/>
              <a:latin typeface="Arial"/>
            </a:endParaRPr>
          </a:p>
        </p:txBody>
      </p:sp>
      <p:sp>
        <p:nvSpPr>
          <p:cNvPr id="66" name="TextBox 6"/>
          <p:cNvSpPr/>
          <p:nvPr/>
        </p:nvSpPr>
        <p:spPr>
          <a:xfrm>
            <a:off x="640440" y="2971800"/>
            <a:ext cx="7589160" cy="788760"/>
          </a:xfrm>
          <a:prstGeom prst="rect">
            <a:avLst/>
          </a:prstGeom>
          <a:noFill/>
          <a:ln w="0">
            <a:noFill/>
          </a:ln>
        </p:spPr>
        <p:style>
          <a:lnRef idx="0"/>
          <a:fillRef idx="0"/>
          <a:effectRef idx="0"/>
          <a:fontRef idx="minor"/>
        </p:style>
        <p:txBody>
          <a:bodyPr lIns="0" tIns="0" rIns="0" bIns="0" anchor="t">
            <a:spAutoFit/>
          </a:bodyPr>
          <a:p>
            <a:pPr defTabSz="457200">
              <a:lnSpc>
                <a:spcPct val="128000"/>
              </a:lnSpc>
            </a:pPr>
            <a:r>
              <a:rPr lang="en-US" sz="1350" b="0" u="none" strike="noStrike">
                <a:solidFill>
                  <a:srgbClr val="D6E4F2"/>
                </a:solidFill>
                <a:effectLst/>
                <a:uFillTx/>
                <a:latin typeface="Segoe UI"/>
              </a:rPr>
              <a:t>An integrated lending platform for agriculture-based customers — satellite, weather and crop intelligence, AI credit scoring, fraud detection, a recommendation engine, default prediction, a GenAI assistant, real-time risk dashboards, and early warning for defaulters.</a:t>
            </a:r>
            <a:endParaRPr lang="en-US" sz="1350" b="0" u="none" strike="noStrike">
              <a:solidFill>
                <a:srgbClr val="FFFFFF"/>
              </a:solidFill>
              <a:effectLst/>
              <a:uFillTx/>
              <a:latin typeface="Arial"/>
            </a:endParaRPr>
          </a:p>
        </p:txBody>
      </p:sp>
      <p:sp>
        <p:nvSpPr>
          <p:cNvPr id="67" name="Rectangle 7"/>
          <p:cNvSpPr/>
          <p:nvPr/>
        </p:nvSpPr>
        <p:spPr>
          <a:xfrm>
            <a:off x="658440" y="5257800"/>
            <a:ext cx="7589160" cy="9000"/>
          </a:xfrm>
          <a:prstGeom prst="rect">
            <a:avLst/>
          </a:prstGeom>
          <a:solidFill>
            <a:srgbClr val="2166A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68" name="TextBox 8"/>
          <p:cNvSpPr/>
          <p:nvPr/>
        </p:nvSpPr>
        <p:spPr>
          <a:xfrm>
            <a:off x="658440" y="5486400"/>
            <a:ext cx="18284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400" b="1" u="none" strike="noStrike">
                <a:solidFill>
                  <a:srgbClr val="FFFFFF"/>
                </a:solidFill>
                <a:effectLst/>
                <a:uFillTx/>
                <a:latin typeface="Segoe UI"/>
              </a:rPr>
              <a:t>8 phases</a:t>
            </a:r>
            <a:endParaRPr lang="en-US" sz="1400" b="0" u="none" strike="noStrike">
              <a:solidFill>
                <a:srgbClr val="FFFFFF"/>
              </a:solidFill>
              <a:effectLst/>
              <a:uFillTx/>
              <a:latin typeface="Arial"/>
            </a:endParaRPr>
          </a:p>
        </p:txBody>
      </p:sp>
      <p:sp>
        <p:nvSpPr>
          <p:cNvPr id="69" name="TextBox 9"/>
          <p:cNvSpPr/>
          <p:nvPr/>
        </p:nvSpPr>
        <p:spPr>
          <a:xfrm>
            <a:off x="658440" y="5779080"/>
            <a:ext cx="1828440" cy="36540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00" b="0" u="none" strike="noStrike">
                <a:solidFill>
                  <a:srgbClr val="ADC9E5"/>
                </a:solidFill>
                <a:effectLst/>
                <a:uFillTx/>
                <a:latin typeface="Consolas"/>
              </a:rPr>
              <a:t>P0 platform → P7 interfaces</a:t>
            </a:r>
            <a:endParaRPr lang="en-US" sz="900" b="0" u="none" strike="noStrike">
              <a:solidFill>
                <a:srgbClr val="FFFFFF"/>
              </a:solidFill>
              <a:effectLst/>
              <a:uFillTx/>
              <a:latin typeface="Arial"/>
            </a:endParaRPr>
          </a:p>
        </p:txBody>
      </p:sp>
      <p:sp>
        <p:nvSpPr>
          <p:cNvPr id="70" name="TextBox 10"/>
          <p:cNvSpPr/>
          <p:nvPr/>
        </p:nvSpPr>
        <p:spPr>
          <a:xfrm>
            <a:off x="2597040" y="5486400"/>
            <a:ext cx="18284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400" b="1" u="none" strike="noStrike">
                <a:solidFill>
                  <a:srgbClr val="FFFFFF"/>
                </a:solidFill>
                <a:effectLst/>
                <a:uFillTx/>
                <a:latin typeface="Segoe UI"/>
              </a:rPr>
              <a:t>23 packages</a:t>
            </a:r>
            <a:endParaRPr lang="en-US" sz="1400" b="0" u="none" strike="noStrike">
              <a:solidFill>
                <a:srgbClr val="FFFFFF"/>
              </a:solidFill>
              <a:effectLst/>
              <a:uFillTx/>
              <a:latin typeface="Arial"/>
            </a:endParaRPr>
          </a:p>
        </p:txBody>
      </p:sp>
      <p:sp>
        <p:nvSpPr>
          <p:cNvPr id="71" name="TextBox 11"/>
          <p:cNvSpPr/>
          <p:nvPr/>
        </p:nvSpPr>
        <p:spPr>
          <a:xfrm>
            <a:off x="2597040" y="5779080"/>
            <a:ext cx="1828440" cy="36540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00" b="0" u="none" strike="noStrike">
                <a:solidFill>
                  <a:srgbClr val="ADC9E5"/>
                </a:solidFill>
                <a:effectLst/>
                <a:uFillTx/>
                <a:latin typeface="Consolas"/>
              </a:rPr>
              <a:t>63,000 lines, stdlib core</a:t>
            </a:r>
            <a:endParaRPr lang="en-US" sz="900" b="0" u="none" strike="noStrike">
              <a:solidFill>
                <a:srgbClr val="FFFFFF"/>
              </a:solidFill>
              <a:effectLst/>
              <a:uFillTx/>
              <a:latin typeface="Arial"/>
            </a:endParaRPr>
          </a:p>
        </p:txBody>
      </p:sp>
      <p:sp>
        <p:nvSpPr>
          <p:cNvPr id="72" name="TextBox 12"/>
          <p:cNvSpPr/>
          <p:nvPr/>
        </p:nvSpPr>
        <p:spPr>
          <a:xfrm>
            <a:off x="4535280" y="5486400"/>
            <a:ext cx="18284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400" b="1" u="none" strike="noStrike">
                <a:solidFill>
                  <a:srgbClr val="FFFFFF"/>
                </a:solidFill>
                <a:effectLst/>
                <a:uFillTx/>
                <a:latin typeface="Segoe UI"/>
              </a:rPr>
              <a:t>2,318 tests</a:t>
            </a:r>
            <a:endParaRPr lang="en-US" sz="1400" b="0" u="none" strike="noStrike">
              <a:solidFill>
                <a:srgbClr val="FFFFFF"/>
              </a:solidFill>
              <a:effectLst/>
              <a:uFillTx/>
              <a:latin typeface="Arial"/>
            </a:endParaRPr>
          </a:p>
        </p:txBody>
      </p:sp>
      <p:sp>
        <p:nvSpPr>
          <p:cNvPr id="73" name="TextBox 13"/>
          <p:cNvSpPr/>
          <p:nvPr/>
        </p:nvSpPr>
        <p:spPr>
          <a:xfrm>
            <a:off x="4535280" y="5779080"/>
            <a:ext cx="1828440" cy="36540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00" b="0" u="none" strike="noStrike">
                <a:solidFill>
                  <a:srgbClr val="ADC9E5"/>
                </a:solidFill>
                <a:effectLst/>
                <a:uFillTx/>
                <a:latin typeface="Consolas"/>
              </a:rPr>
              <a:t>green, every commit</a:t>
            </a:r>
            <a:endParaRPr lang="en-US" sz="900" b="0" u="none" strike="noStrike">
              <a:solidFill>
                <a:srgbClr val="FFFFFF"/>
              </a:solidFill>
              <a:effectLst/>
              <a:uFillTx/>
              <a:latin typeface="Arial"/>
            </a:endParaRPr>
          </a:p>
        </p:txBody>
      </p:sp>
      <p:sp>
        <p:nvSpPr>
          <p:cNvPr id="74" name="TextBox 14"/>
          <p:cNvSpPr/>
          <p:nvPr/>
        </p:nvSpPr>
        <p:spPr>
          <a:xfrm>
            <a:off x="6473880" y="5486400"/>
            <a:ext cx="18284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400" b="1" u="none" strike="noStrike">
                <a:solidFill>
                  <a:srgbClr val="FFFFFF"/>
                </a:solidFill>
                <a:effectLst/>
                <a:uFillTx/>
                <a:latin typeface="Segoe UI"/>
              </a:rPr>
              <a:t>16.8M rows</a:t>
            </a:r>
            <a:endParaRPr lang="en-US" sz="1400" b="0" u="none" strike="noStrike">
              <a:solidFill>
                <a:srgbClr val="FFFFFF"/>
              </a:solidFill>
              <a:effectLst/>
              <a:uFillTx/>
              <a:latin typeface="Arial"/>
            </a:endParaRPr>
          </a:p>
        </p:txBody>
      </p:sp>
      <p:sp>
        <p:nvSpPr>
          <p:cNvPr id="75" name="TextBox 15"/>
          <p:cNvSpPr/>
          <p:nvPr/>
        </p:nvSpPr>
        <p:spPr>
          <a:xfrm>
            <a:off x="6473880" y="5779080"/>
            <a:ext cx="1828440" cy="36540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00" b="0" u="none" strike="noStrike">
                <a:solidFill>
                  <a:srgbClr val="ADC9E5"/>
                </a:solidFill>
                <a:effectLst/>
                <a:uFillTx/>
                <a:latin typeface="Consolas"/>
              </a:rPr>
              <a:t>real loan performance</a:t>
            </a:r>
            <a:endParaRPr lang="en-US" sz="900" b="0" u="none" strike="noStrike">
              <a:solidFill>
                <a:srgbClr val="FFFFFF"/>
              </a:solidFill>
              <a:effectLst/>
              <a:uFillTx/>
              <a:latin typeface="Arial"/>
            </a:endParaRPr>
          </a:p>
        </p:txBody>
      </p:sp>
      <p:sp>
        <p:nvSpPr>
          <p:cNvPr id="76" name=""/>
          <p:cNvSpPr txBox="1"/>
          <p:nvPr/>
        </p:nvSpPr>
        <p:spPr>
          <a:xfrm>
            <a:off x="7255800" y="6352200"/>
            <a:ext cx="4996800" cy="550440"/>
          </a:xfrm>
          <a:prstGeom prst="rect">
            <a:avLst/>
          </a:prstGeom>
          <a:noFill/>
          <a:ln w="0">
            <a:noFill/>
          </a:ln>
        </p:spPr>
        <p:txBody>
          <a:bodyPr lIns="90000" tIns="45000" rIns="90000" bIns="45000" anchor="t" anchorCtr="1">
            <a:spAutoFit/>
          </a:bodyPr>
          <a:p>
            <a:r>
              <a:rPr lang="en-US" sz="1500" b="0" u="none" strike="noStrike">
                <a:solidFill>
                  <a:srgbClr val="D6E4F2"/>
                </a:solidFill>
                <a:effectLst/>
                <a:uFillTx/>
                <a:latin typeface="Segoe UI"/>
              </a:rPr>
              <a:t>        Ananya Yadav</a:t>
            </a:r>
            <a:endParaRPr lang="en-US" sz="1500" b="0" u="none" strike="noStrike">
              <a:solidFill>
                <a:srgbClr val="FFFFFF"/>
              </a:solidFill>
              <a:effectLst/>
              <a:uFillTx/>
              <a:latin typeface="Arial"/>
            </a:endParaRPr>
          </a:p>
          <a:p>
            <a:r>
              <a:rPr lang="en-US" sz="1500" b="0" u="none" strike="noStrike">
                <a:solidFill>
                  <a:srgbClr val="D6E4F2"/>
                </a:solidFill>
                <a:effectLst/>
                <a:uFillTx/>
                <a:latin typeface="Segoe UI"/>
              </a:rPr>
              <a:t>Divanshu Bhargava</a:t>
            </a:r>
            <a:endParaRPr lang="en-US" sz="1500" b="0" u="none" strike="noStrike">
              <a:solidFill>
                <a:srgbClr val="FFFFFF"/>
              </a:solidFill>
              <a:effectLst/>
              <a:uFillTx/>
              <a:latin typeface="Arial"/>
            </a:endParaRPr>
          </a:p>
        </p:txBody>
      </p:sp>
      <p:sp>
        <p:nvSpPr>
          <p:cNvPr id="77" name="TextBox 59"/>
          <p:cNvSpPr/>
          <p:nvPr/>
        </p:nvSpPr>
        <p:spPr>
          <a:xfrm>
            <a:off x="640440" y="4011840"/>
            <a:ext cx="7589160" cy="790560"/>
          </a:xfrm>
          <a:prstGeom prst="rect">
            <a:avLst/>
          </a:prstGeom>
          <a:noFill/>
          <a:ln w="0">
            <a:noFill/>
          </a:ln>
        </p:spPr>
        <p:style>
          <a:lnRef idx="0"/>
          <a:fillRef idx="0"/>
          <a:effectRef idx="0"/>
          <a:fontRef idx="minor"/>
        </p:style>
        <p:txBody>
          <a:bodyPr lIns="0" tIns="0" rIns="0" bIns="0" anchor="t">
            <a:spAutoFit/>
          </a:bodyPr>
          <a:p>
            <a:pPr defTabSz="457200">
              <a:lnSpc>
                <a:spcPct val="128000"/>
              </a:lnSpc>
            </a:pPr>
            <a:r>
              <a:rPr lang="en-US" sz="1350" b="0" u="none" strike="noStrike">
                <a:solidFill>
                  <a:srgbClr val="D6E4F2"/>
                </a:solidFill>
                <a:effectLst/>
                <a:uFillTx/>
                <a:latin typeface="Segoe UI"/>
              </a:rPr>
              <a:t>Github: </a:t>
            </a:r>
            <a:r>
              <a:rPr lang="en-US" sz="1350" b="0" u="none" strike="noStrike">
                <a:solidFill>
                  <a:srgbClr val="D6E4F2"/>
                </a:solidFill>
                <a:effectLst/>
                <a:uFillTx/>
                <a:latin typeface="Segoe UI"/>
                <a:hlinkClick r:id="rId1"/>
              </a:rPr>
              <a:t>https://github.com/Divanshu0212/AILendingHub/</a:t>
            </a:r>
            <a:endParaRPr lang="en-US" sz="1350" b="0" u="none" strike="noStrike">
              <a:solidFill>
                <a:srgbClr val="FFFFFF"/>
              </a:solidFill>
              <a:effectLst/>
              <a:uFillTx/>
              <a:latin typeface="Arial"/>
            </a:endParaRPr>
          </a:p>
          <a:p>
            <a:pPr defTabSz="457200">
              <a:lnSpc>
                <a:spcPct val="128000"/>
              </a:lnSpc>
            </a:pPr>
            <a:r>
              <a:rPr lang="en-US" sz="1350" b="0" u="none" strike="noStrike">
                <a:solidFill>
                  <a:srgbClr val="D6E4F2"/>
                </a:solidFill>
                <a:effectLst/>
                <a:uFillTx/>
                <a:latin typeface="Segoe UI"/>
              </a:rPr>
              <a:t>Demo: https://youtu.be/kQwhNW4Qt0g</a:t>
            </a:r>
            <a:endParaRPr lang="en-US" sz="1350" b="0" u="none" strike="noStrike">
              <a:solidFill>
                <a:srgbClr val="FFFFFF"/>
              </a:solidFill>
              <a:effectLst/>
              <a:uFillTx/>
              <a:latin typeface="Arial"/>
            </a:endParaRPr>
          </a:p>
          <a:p>
            <a:pPr defTabSz="457200">
              <a:lnSpc>
                <a:spcPct val="128000"/>
              </a:lnSpc>
            </a:pPr>
            <a:r>
              <a:rPr lang="en-US" sz="1350" b="0" u="none" strike="noStrike">
                <a:solidFill>
                  <a:srgbClr val="D6E4F2"/>
                </a:solidFill>
                <a:effectLst/>
                <a:uFillTx/>
                <a:latin typeface="Segoe UI"/>
              </a:rPr>
              <a:t> </a:t>
            </a:r>
            <a:endParaRPr lang="en-US" sz="13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8" name="TextBox 1"/>
          <p:cNvSpPr/>
          <p:nvPr/>
        </p:nvSpPr>
        <p:spPr>
          <a:xfrm>
            <a:off x="11338560" y="384120"/>
            <a:ext cx="548280" cy="228240"/>
          </a:xfrm>
          <a:prstGeom prst="rect">
            <a:avLst/>
          </a:prstGeom>
          <a:noFill/>
          <a:ln w="0">
            <a:noFill/>
          </a:ln>
        </p:spPr>
        <p:style>
          <a:lnRef idx="0"/>
          <a:fillRef idx="0"/>
          <a:effectRef idx="0"/>
          <a:fontRef idx="minor"/>
        </p:style>
        <p:txBody>
          <a:bodyPr lIns="0" tIns="0" rIns="0" bIns="0" anchor="t">
            <a:spAutoFit/>
          </a:bodyPr>
          <a:p>
            <a:pPr algn="r" defTabSz="457200">
              <a:lnSpc>
                <a:spcPct val="100000"/>
              </a:lnSpc>
            </a:pPr>
            <a:r>
              <a:rPr lang="en-US" sz="900" b="0" u="none" strike="noStrike">
                <a:solidFill>
                  <a:srgbClr val="6B7C93"/>
                </a:solidFill>
                <a:effectLst/>
                <a:uFillTx/>
                <a:latin typeface="Consolas"/>
              </a:rPr>
              <a:t>02</a:t>
            </a:r>
            <a:endParaRPr lang="en-US" sz="900" b="0" u="none" strike="noStrike">
              <a:solidFill>
                <a:srgbClr val="000000"/>
              </a:solidFill>
              <a:effectLst/>
              <a:uFillTx/>
              <a:latin typeface="Arial"/>
            </a:endParaRPr>
          </a:p>
        </p:txBody>
      </p:sp>
      <p:sp>
        <p:nvSpPr>
          <p:cNvPr id="79" name="TextBox 2"/>
          <p:cNvSpPr/>
          <p:nvPr/>
        </p:nvSpPr>
        <p:spPr>
          <a:xfrm>
            <a:off x="658440" y="457200"/>
            <a:ext cx="10058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0" u="none" strike="noStrike">
                <a:solidFill>
                  <a:srgbClr val="2166A3"/>
                </a:solidFill>
                <a:effectLst/>
                <a:uFillTx/>
                <a:latin typeface="Consolas"/>
              </a:rPr>
              <a:t>THE PROBLEM BEHIND THE PROBLEM</a:t>
            </a:r>
            <a:endParaRPr lang="en-US" sz="1050" b="0" u="none" strike="noStrike">
              <a:solidFill>
                <a:srgbClr val="000000"/>
              </a:solidFill>
              <a:effectLst/>
              <a:uFillTx/>
              <a:latin typeface="Arial"/>
            </a:endParaRPr>
          </a:p>
        </p:txBody>
      </p:sp>
      <p:sp>
        <p:nvSpPr>
          <p:cNvPr id="80" name="TextBox 3"/>
          <p:cNvSpPr/>
          <p:nvPr/>
        </p:nvSpPr>
        <p:spPr>
          <a:xfrm>
            <a:off x="658440" y="777240"/>
            <a:ext cx="10423800" cy="914040"/>
          </a:xfrm>
          <a:prstGeom prst="rect">
            <a:avLst/>
          </a:prstGeom>
          <a:noFill/>
          <a:ln w="0">
            <a:noFill/>
          </a:ln>
        </p:spPr>
        <p:style>
          <a:lnRef idx="0"/>
          <a:fillRef idx="0"/>
          <a:effectRef idx="0"/>
          <a:fontRef idx="minor"/>
        </p:style>
        <p:txBody>
          <a:bodyPr lIns="0" tIns="0" rIns="0" bIns="0" anchor="t">
            <a:spAutoFit/>
          </a:bodyPr>
          <a:p>
            <a:pPr defTabSz="457200">
              <a:lnSpc>
                <a:spcPct val="95000"/>
              </a:lnSpc>
            </a:pPr>
            <a:r>
              <a:rPr lang="en-US" sz="3000" b="1" u="none" strike="noStrike">
                <a:solidFill>
                  <a:srgbClr val="0A3A68"/>
                </a:solidFill>
                <a:effectLst/>
                <a:uFillTx/>
                <a:latin typeface="Georgia"/>
              </a:rPr>
              <a:t>A lending model is easy to build</a:t>
            </a:r>
            <a:br>
              <a:rPr sz="1800"/>
            </a:br>
            <a:r>
              <a:rPr lang="en-US" sz="3000" b="1" u="none" strike="noStrike">
                <a:solidFill>
                  <a:srgbClr val="0A3A68"/>
                </a:solidFill>
                <a:effectLst/>
                <a:uFillTx/>
                <a:latin typeface="Georgia"/>
              </a:rPr>
              <a:t>and hard to trust</a:t>
            </a:r>
            <a:endParaRPr lang="en-US" sz="3000" b="0" u="none" strike="noStrike">
              <a:solidFill>
                <a:srgbClr val="000000"/>
              </a:solidFill>
              <a:effectLst/>
              <a:uFillTx/>
              <a:latin typeface="Arial"/>
            </a:endParaRPr>
          </a:p>
        </p:txBody>
      </p:sp>
      <p:sp>
        <p:nvSpPr>
          <p:cNvPr id="81" name="TextBox 4"/>
          <p:cNvSpPr/>
          <p:nvPr/>
        </p:nvSpPr>
        <p:spPr>
          <a:xfrm>
            <a:off x="658440" y="2148840"/>
            <a:ext cx="5943240" cy="3565800"/>
          </a:xfrm>
          <a:prstGeom prst="rect">
            <a:avLst/>
          </a:prstGeom>
          <a:noFill/>
          <a:ln w="0">
            <a:noFill/>
          </a:ln>
        </p:spPr>
        <p:style>
          <a:lnRef idx="0"/>
          <a:fillRef idx="0"/>
          <a:effectRef idx="0"/>
          <a:fontRef idx="minor"/>
        </p:style>
        <p:txBody>
          <a:bodyPr lIns="0" tIns="0" rIns="0" bIns="0" anchor="t">
            <a:spAutoFit/>
          </a:bodyPr>
          <a:p>
            <a:pPr defTabSz="457200">
              <a:lnSpc>
                <a:spcPct val="130000"/>
              </a:lnSpc>
              <a:spcAft>
                <a:spcPts val="1599"/>
              </a:spcAft>
            </a:pPr>
            <a:r>
              <a:rPr lang="en-US" sz="1500" b="0" u="none" strike="noStrike">
                <a:solidFill>
                  <a:srgbClr val="101828"/>
                </a:solidFill>
                <a:effectLst/>
                <a:uFillTx/>
                <a:latin typeface="Segoe UI"/>
              </a:rPr>
              <a:t>Any team can produce a credit score in a weekend. The score is not the hard part — knowing whether you are allowed to believe it is.</a:t>
            </a:r>
            <a:endParaRPr lang="en-US" sz="1500" b="0" u="none" strike="noStrike">
              <a:solidFill>
                <a:srgbClr val="000000"/>
              </a:solidFill>
              <a:effectLst/>
              <a:uFillTx/>
              <a:latin typeface="Arial"/>
            </a:endParaRPr>
          </a:p>
          <a:p>
            <a:pPr defTabSz="457200">
              <a:lnSpc>
                <a:spcPct val="142000"/>
              </a:lnSpc>
              <a:spcAft>
                <a:spcPts val="1599"/>
              </a:spcAft>
            </a:pPr>
            <a:r>
              <a:rPr lang="en-US" sz="1200" b="0" u="none" strike="noStrike">
                <a:solidFill>
                  <a:srgbClr val="475467"/>
                </a:solidFill>
                <a:effectLst/>
                <a:uFillTx/>
                <a:latin typeface="Segoe UI"/>
              </a:rPr>
              <a:t>If someone types a cut-off nobody approved, it looks reasonable, passes review, and is still being used a year later. A model tested on the wrong region looks exactly like one tested correctly. A model marked on its own homework scores brilliantly and then fails with real customers.</a:t>
            </a:r>
            <a:endParaRPr lang="en-US" sz="1200" b="0" u="none" strike="noStrike">
              <a:solidFill>
                <a:srgbClr val="000000"/>
              </a:solidFill>
              <a:effectLst/>
              <a:uFillTx/>
              <a:latin typeface="Arial"/>
            </a:endParaRPr>
          </a:p>
          <a:p>
            <a:pPr defTabSz="457200">
              <a:lnSpc>
                <a:spcPct val="142000"/>
              </a:lnSpc>
            </a:pPr>
            <a:r>
              <a:rPr lang="en-US" sz="1200" b="0" u="none" strike="noStrike">
                <a:solidFill>
                  <a:srgbClr val="475467"/>
                </a:solidFill>
                <a:effectLst/>
                <a:uFillTx/>
                <a:latin typeface="Segoe UI"/>
              </a:rPr>
              <a:t>So we flipped the priority. Every number has to come from one of three places. If the code cannot find one, it stops and says so instead of guessing.</a:t>
            </a:r>
            <a:endParaRPr lang="en-US" sz="1200" b="0" u="none" strike="noStrike">
              <a:solidFill>
                <a:srgbClr val="000000"/>
              </a:solidFill>
              <a:effectLst/>
              <a:uFillTx/>
              <a:latin typeface="Arial"/>
            </a:endParaRPr>
          </a:p>
        </p:txBody>
      </p:sp>
      <p:sp>
        <p:nvSpPr>
          <p:cNvPr id="82" name="TextBox 5"/>
          <p:cNvSpPr/>
          <p:nvPr/>
        </p:nvSpPr>
        <p:spPr>
          <a:xfrm>
            <a:off x="6949440" y="2148840"/>
            <a:ext cx="45716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6B7C93"/>
                </a:solidFill>
                <a:effectLst/>
                <a:uFillTx/>
                <a:latin typeface="Consolas"/>
              </a:rPr>
              <a:t>THE GROUNDING CONTRACT</a:t>
            </a:r>
            <a:endParaRPr lang="en-US" sz="1000" b="0" u="none" strike="noStrike">
              <a:solidFill>
                <a:srgbClr val="000000"/>
              </a:solidFill>
              <a:effectLst/>
              <a:uFillTx/>
              <a:latin typeface="Arial"/>
            </a:endParaRPr>
          </a:p>
        </p:txBody>
      </p:sp>
      <p:sp>
        <p:nvSpPr>
          <p:cNvPr id="83" name="TextBox 6"/>
          <p:cNvSpPr/>
          <p:nvPr/>
        </p:nvSpPr>
        <p:spPr>
          <a:xfrm>
            <a:off x="6949440" y="256032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[SPEC]</a:t>
            </a:r>
            <a:endParaRPr lang="en-US" sz="1000" b="0" u="none" strike="noStrike">
              <a:solidFill>
                <a:srgbClr val="000000"/>
              </a:solidFill>
              <a:effectLst/>
              <a:uFillTx/>
              <a:latin typeface="Arial"/>
            </a:endParaRPr>
          </a:p>
        </p:txBody>
      </p:sp>
      <p:sp>
        <p:nvSpPr>
          <p:cNvPr id="84" name="TextBox 7"/>
          <p:cNvSpPr/>
          <p:nvPr/>
        </p:nvSpPr>
        <p:spPr>
          <a:xfrm>
            <a:off x="7772400" y="2560320"/>
            <a:ext cx="37486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It is in the design document</a:t>
            </a:r>
            <a:endParaRPr lang="en-US" sz="1200" b="0" u="none" strike="noStrike">
              <a:solidFill>
                <a:srgbClr val="000000"/>
              </a:solidFill>
              <a:effectLst/>
              <a:uFillTx/>
              <a:latin typeface="Arial"/>
            </a:endParaRPr>
          </a:p>
        </p:txBody>
      </p:sp>
      <p:sp>
        <p:nvSpPr>
          <p:cNvPr id="85" name="TextBox 8"/>
          <p:cNvSpPr/>
          <p:nvPr/>
        </p:nvSpPr>
        <p:spPr>
          <a:xfrm>
            <a:off x="7772400" y="2775240"/>
            <a:ext cx="374868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A formula or a limit the document already fixes</a:t>
            </a:r>
            <a:endParaRPr lang="en-US" sz="950" b="0" u="none" strike="noStrike">
              <a:solidFill>
                <a:srgbClr val="000000"/>
              </a:solidFill>
              <a:effectLst/>
              <a:uFillTx/>
              <a:latin typeface="Arial"/>
            </a:endParaRPr>
          </a:p>
        </p:txBody>
      </p:sp>
      <p:sp>
        <p:nvSpPr>
          <p:cNvPr id="86" name="Rectangle 9"/>
          <p:cNvSpPr/>
          <p:nvPr/>
        </p:nvSpPr>
        <p:spPr>
          <a:xfrm>
            <a:off x="6949440" y="3163680"/>
            <a:ext cx="457164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87" name="TextBox 10"/>
          <p:cNvSpPr/>
          <p:nvPr/>
        </p:nvSpPr>
        <p:spPr>
          <a:xfrm>
            <a:off x="6949440" y="331020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[DATA]</a:t>
            </a:r>
            <a:endParaRPr lang="en-US" sz="1000" b="0" u="none" strike="noStrike">
              <a:solidFill>
                <a:srgbClr val="000000"/>
              </a:solidFill>
              <a:effectLst/>
              <a:uFillTx/>
              <a:latin typeface="Arial"/>
            </a:endParaRPr>
          </a:p>
        </p:txBody>
      </p:sp>
      <p:sp>
        <p:nvSpPr>
          <p:cNvPr id="88" name="TextBox 11"/>
          <p:cNvSpPr/>
          <p:nvPr/>
        </p:nvSpPr>
        <p:spPr>
          <a:xfrm>
            <a:off x="7772400" y="3310200"/>
            <a:ext cx="37486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A script worked it out</a:t>
            </a:r>
            <a:endParaRPr lang="en-US" sz="1200" b="0" u="none" strike="noStrike">
              <a:solidFill>
                <a:srgbClr val="000000"/>
              </a:solidFill>
              <a:effectLst/>
              <a:uFillTx/>
              <a:latin typeface="Arial"/>
            </a:endParaRPr>
          </a:p>
        </p:txBody>
      </p:sp>
      <p:sp>
        <p:nvSpPr>
          <p:cNvPr id="89" name="TextBox 12"/>
          <p:cNvSpPr/>
          <p:nvPr/>
        </p:nvSpPr>
        <p:spPr>
          <a:xfrm>
            <a:off x="7772400" y="3525120"/>
            <a:ext cx="374868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Anyone can re-run it and get the same answer</a:t>
            </a:r>
            <a:endParaRPr lang="en-US" sz="950" b="0" u="none" strike="noStrike">
              <a:solidFill>
                <a:srgbClr val="000000"/>
              </a:solidFill>
              <a:effectLst/>
              <a:uFillTx/>
              <a:latin typeface="Arial"/>
            </a:endParaRPr>
          </a:p>
        </p:txBody>
      </p:sp>
      <p:sp>
        <p:nvSpPr>
          <p:cNvPr id="90" name="Rectangle 13"/>
          <p:cNvSpPr/>
          <p:nvPr/>
        </p:nvSpPr>
        <p:spPr>
          <a:xfrm>
            <a:off x="6949440" y="3913560"/>
            <a:ext cx="457164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91" name="TextBox 14"/>
          <p:cNvSpPr/>
          <p:nvPr/>
        </p:nvSpPr>
        <p:spPr>
          <a:xfrm>
            <a:off x="6949440" y="406008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[POLICY]</a:t>
            </a:r>
            <a:endParaRPr lang="en-US" sz="1000" b="0" u="none" strike="noStrike">
              <a:solidFill>
                <a:srgbClr val="000000"/>
              </a:solidFill>
              <a:effectLst/>
              <a:uFillTx/>
              <a:latin typeface="Arial"/>
            </a:endParaRPr>
          </a:p>
        </p:txBody>
      </p:sp>
      <p:sp>
        <p:nvSpPr>
          <p:cNvPr id="92" name="TextBox 15"/>
          <p:cNvSpPr/>
          <p:nvPr/>
        </p:nvSpPr>
        <p:spPr>
          <a:xfrm>
            <a:off x="7772400" y="4060080"/>
            <a:ext cx="37486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A named team decided it</a:t>
            </a:r>
            <a:endParaRPr lang="en-US" sz="1200" b="0" u="none" strike="noStrike">
              <a:solidFill>
                <a:srgbClr val="000000"/>
              </a:solidFill>
              <a:effectLst/>
              <a:uFillTx/>
              <a:latin typeface="Arial"/>
            </a:endParaRPr>
          </a:p>
        </p:txBody>
      </p:sp>
      <p:sp>
        <p:nvSpPr>
          <p:cNvPr id="93" name="TextBox 16"/>
          <p:cNvSpPr/>
          <p:nvPr/>
        </p:nvSpPr>
        <p:spPr>
          <a:xfrm>
            <a:off x="7772400" y="4275000"/>
            <a:ext cx="374868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In writing, with someone accountable</a:t>
            </a:r>
            <a:endParaRPr lang="en-US" sz="950" b="0" u="none" strike="noStrike">
              <a:solidFill>
                <a:srgbClr val="000000"/>
              </a:solidFill>
              <a:effectLst/>
              <a:uFillTx/>
              <a:latin typeface="Arial"/>
            </a:endParaRPr>
          </a:p>
        </p:txBody>
      </p:sp>
      <p:sp>
        <p:nvSpPr>
          <p:cNvPr id="94" name="Rectangle 17"/>
          <p:cNvSpPr/>
          <p:nvPr/>
        </p:nvSpPr>
        <p:spPr>
          <a:xfrm>
            <a:off x="6949440" y="4663440"/>
            <a:ext cx="457164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95" name="Rectangle 18"/>
          <p:cNvSpPr/>
          <p:nvPr/>
        </p:nvSpPr>
        <p:spPr>
          <a:xfrm>
            <a:off x="6949440" y="5029200"/>
            <a:ext cx="4571640" cy="959760"/>
          </a:xfrm>
          <a:prstGeom prst="rect">
            <a:avLst/>
          </a:prstGeom>
          <a:solidFill>
            <a:srgbClr val="FDF3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6" name="Rectangle 19"/>
          <p:cNvSpPr/>
          <p:nvPr/>
        </p:nvSpPr>
        <p:spPr>
          <a:xfrm>
            <a:off x="6949440" y="5029200"/>
            <a:ext cx="36360" cy="959760"/>
          </a:xfrm>
          <a:prstGeom prst="rect">
            <a:avLst/>
          </a:prstGeom>
          <a:solidFill>
            <a:srgbClr val="B547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7" name="TextBox 20"/>
          <p:cNvSpPr/>
          <p:nvPr/>
        </p:nvSpPr>
        <p:spPr>
          <a:xfrm>
            <a:off x="7150680" y="5148000"/>
            <a:ext cx="4187520" cy="72216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150" b="0" u="none" strike="noStrike">
                <a:solidFill>
                  <a:srgbClr val="475467"/>
                </a:solidFill>
                <a:effectLst/>
                <a:uFillTx/>
                <a:latin typeface="Segoe UI"/>
              </a:rPr>
              <a:t>Anything else stops the build. An automatic check reads all 350 files every time we save work, and rejects any number that cannot say where it came from.</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8" name="TextBox 1"/>
          <p:cNvSpPr/>
          <p:nvPr/>
        </p:nvSpPr>
        <p:spPr>
          <a:xfrm>
            <a:off x="11338560" y="384120"/>
            <a:ext cx="548280" cy="228240"/>
          </a:xfrm>
          <a:prstGeom prst="rect">
            <a:avLst/>
          </a:prstGeom>
          <a:noFill/>
          <a:ln w="0">
            <a:noFill/>
          </a:ln>
        </p:spPr>
        <p:style>
          <a:lnRef idx="0"/>
          <a:fillRef idx="0"/>
          <a:effectRef idx="0"/>
          <a:fontRef idx="minor"/>
        </p:style>
        <p:txBody>
          <a:bodyPr lIns="0" tIns="0" rIns="0" bIns="0" anchor="t">
            <a:spAutoFit/>
          </a:bodyPr>
          <a:p>
            <a:pPr algn="r" defTabSz="457200">
              <a:lnSpc>
                <a:spcPct val="100000"/>
              </a:lnSpc>
            </a:pPr>
            <a:r>
              <a:rPr lang="en-US" sz="900" b="0" u="none" strike="noStrike">
                <a:solidFill>
                  <a:srgbClr val="6B7C93"/>
                </a:solidFill>
                <a:effectLst/>
                <a:uFillTx/>
                <a:latin typeface="Consolas"/>
              </a:rPr>
              <a:t>03</a:t>
            </a:r>
            <a:endParaRPr lang="en-US" sz="900" b="0" u="none" strike="noStrike">
              <a:solidFill>
                <a:srgbClr val="000000"/>
              </a:solidFill>
              <a:effectLst/>
              <a:uFillTx/>
              <a:latin typeface="Arial"/>
            </a:endParaRPr>
          </a:p>
        </p:txBody>
      </p:sp>
      <p:sp>
        <p:nvSpPr>
          <p:cNvPr id="99" name="TextBox 2"/>
          <p:cNvSpPr/>
          <p:nvPr/>
        </p:nvSpPr>
        <p:spPr>
          <a:xfrm>
            <a:off x="658440" y="457200"/>
            <a:ext cx="10058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0" u="none" strike="noStrike">
                <a:solidFill>
                  <a:srgbClr val="2166A3"/>
                </a:solidFill>
                <a:effectLst/>
                <a:uFillTx/>
                <a:latin typeface="Consolas"/>
              </a:rPr>
              <a:t>THE PROBLEM</a:t>
            </a:r>
            <a:endParaRPr lang="en-US" sz="1050" b="0" u="none" strike="noStrike">
              <a:solidFill>
                <a:srgbClr val="000000"/>
              </a:solidFill>
              <a:effectLst/>
              <a:uFillTx/>
              <a:latin typeface="Arial"/>
            </a:endParaRPr>
          </a:p>
        </p:txBody>
      </p:sp>
      <p:sp>
        <p:nvSpPr>
          <p:cNvPr id="100" name="TextBox 3"/>
          <p:cNvSpPr/>
          <p:nvPr/>
        </p:nvSpPr>
        <p:spPr>
          <a:xfrm>
            <a:off x="658440" y="777240"/>
            <a:ext cx="10423800" cy="914040"/>
          </a:xfrm>
          <a:prstGeom prst="rect">
            <a:avLst/>
          </a:prstGeom>
          <a:noFill/>
          <a:ln w="0">
            <a:noFill/>
          </a:ln>
        </p:spPr>
        <p:style>
          <a:lnRef idx="0"/>
          <a:fillRef idx="0"/>
          <a:effectRef idx="0"/>
          <a:fontRef idx="minor"/>
        </p:style>
        <p:txBody>
          <a:bodyPr lIns="0" tIns="0" rIns="0" bIns="0" anchor="t">
            <a:spAutoFit/>
          </a:bodyPr>
          <a:p>
            <a:pPr defTabSz="457200">
              <a:lnSpc>
                <a:spcPct val="95000"/>
              </a:lnSpc>
            </a:pPr>
            <a:r>
              <a:rPr lang="en-US" sz="3000" b="1" u="none" strike="noStrike">
                <a:solidFill>
                  <a:srgbClr val="0A3A68"/>
                </a:solidFill>
                <a:effectLst/>
                <a:uFillTx/>
                <a:latin typeface="Georgia"/>
              </a:rPr>
              <a:t>What breaks today, for the farmer</a:t>
            </a:r>
            <a:br>
              <a:rPr sz="1800"/>
            </a:br>
            <a:r>
              <a:rPr lang="en-US" sz="3000" b="1" u="none" strike="noStrike">
                <a:solidFill>
                  <a:srgbClr val="0A3A68"/>
                </a:solidFill>
                <a:effectLst/>
                <a:uFillTx/>
                <a:latin typeface="Georgia"/>
              </a:rPr>
              <a:t>and for the bank</a:t>
            </a:r>
            <a:endParaRPr lang="en-US" sz="3000" b="0" u="none" strike="noStrike">
              <a:solidFill>
                <a:srgbClr val="000000"/>
              </a:solidFill>
              <a:effectLst/>
              <a:uFillTx/>
              <a:latin typeface="Arial"/>
            </a:endParaRPr>
          </a:p>
        </p:txBody>
      </p:sp>
      <p:sp>
        <p:nvSpPr>
          <p:cNvPr id="101" name="TextBox 4"/>
          <p:cNvSpPr/>
          <p:nvPr/>
        </p:nvSpPr>
        <p:spPr>
          <a:xfrm>
            <a:off x="658440" y="2103120"/>
            <a:ext cx="10515240" cy="365400"/>
          </a:xfrm>
          <a:prstGeom prst="rect">
            <a:avLst/>
          </a:prstGeom>
          <a:noFill/>
          <a:ln w="0">
            <a:noFill/>
          </a:ln>
        </p:spPr>
        <p:style>
          <a:lnRef idx="0"/>
          <a:fillRef idx="0"/>
          <a:effectRef idx="0"/>
          <a:fontRef idx="minor"/>
        </p:style>
        <p:txBody>
          <a:bodyPr lIns="0" tIns="0" rIns="0" bIns="0" anchor="t">
            <a:spAutoFit/>
          </a:bodyPr>
          <a:p>
            <a:pPr defTabSz="457200">
              <a:lnSpc>
                <a:spcPct val="125000"/>
              </a:lnSpc>
            </a:pPr>
            <a:r>
              <a:rPr lang="en-US" sz="1200" b="0" u="none" strike="noStrike">
                <a:solidFill>
                  <a:srgbClr val="475467"/>
                </a:solidFill>
                <a:effectLst/>
                <a:uFillTx/>
                <a:latin typeface="Segoe UI"/>
              </a:rPr>
              <a:t>Farm lending fails on both sides at once, and each side makes the other worse: no credit history makes banks cautious, and caution pushes farmers to moneylenders, which leaves no credit history.</a:t>
            </a:r>
            <a:endParaRPr lang="en-US" sz="1200" b="0" u="none" strike="noStrike">
              <a:solidFill>
                <a:srgbClr val="000000"/>
              </a:solidFill>
              <a:effectLst/>
              <a:uFillTx/>
              <a:latin typeface="Arial"/>
            </a:endParaRPr>
          </a:p>
        </p:txBody>
      </p:sp>
      <p:sp>
        <p:nvSpPr>
          <p:cNvPr id="102" name="TextBox 5"/>
          <p:cNvSpPr/>
          <p:nvPr/>
        </p:nvSpPr>
        <p:spPr>
          <a:xfrm>
            <a:off x="658440" y="2697480"/>
            <a:ext cx="51202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1" u="none" strike="noStrike">
                <a:solidFill>
                  <a:srgbClr val="0D4A85"/>
                </a:solidFill>
                <a:effectLst/>
                <a:uFillTx/>
                <a:latin typeface="Consolas"/>
              </a:rPr>
              <a:t>FOR THE CUSTOMER</a:t>
            </a:r>
            <a:endParaRPr lang="en-US" sz="950" b="0" u="none" strike="noStrike">
              <a:solidFill>
                <a:srgbClr val="000000"/>
              </a:solidFill>
              <a:effectLst/>
              <a:uFillTx/>
              <a:latin typeface="Arial"/>
            </a:endParaRPr>
          </a:p>
        </p:txBody>
      </p:sp>
      <p:sp>
        <p:nvSpPr>
          <p:cNvPr id="103" name="Rectangle 6"/>
          <p:cNvSpPr/>
          <p:nvPr/>
        </p:nvSpPr>
        <p:spPr>
          <a:xfrm>
            <a:off x="658440" y="3145680"/>
            <a:ext cx="27000" cy="548280"/>
          </a:xfrm>
          <a:prstGeom prst="rect">
            <a:avLst/>
          </a:prstGeom>
          <a:solidFill>
            <a:srgbClr val="0D4A8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04" name="TextBox 7"/>
          <p:cNvSpPr/>
          <p:nvPr/>
        </p:nvSpPr>
        <p:spPr>
          <a:xfrm>
            <a:off x="841320" y="3090600"/>
            <a:ext cx="493740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1" u="none" strike="noStrike">
                <a:solidFill>
                  <a:srgbClr val="101828"/>
                </a:solidFill>
                <a:effectLst/>
                <a:uFillTx/>
                <a:latin typeface="Segoe UI"/>
              </a:rPr>
              <a:t>No credit file</a:t>
            </a:r>
            <a:endParaRPr lang="en-US" sz="1250" b="0" u="none" strike="noStrike">
              <a:solidFill>
                <a:srgbClr val="000000"/>
              </a:solidFill>
              <a:effectLst/>
              <a:uFillTx/>
              <a:latin typeface="Arial"/>
            </a:endParaRPr>
          </a:p>
        </p:txBody>
      </p:sp>
      <p:sp>
        <p:nvSpPr>
          <p:cNvPr id="105" name="TextBox 8"/>
          <p:cNvSpPr/>
          <p:nvPr/>
        </p:nvSpPr>
        <p:spPr>
          <a:xfrm>
            <a:off x="841320" y="3337560"/>
            <a:ext cx="4937400" cy="50256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050" b="0" u="none" strike="noStrike">
                <a:solidFill>
                  <a:srgbClr val="475467"/>
                </a:solidFill>
                <a:effectLst/>
                <a:uFillTx/>
                <a:latin typeface="Segoe UI"/>
              </a:rPr>
              <a:t>Income is seasonal and in cash. A bureau score either does not exist or describes someone else's risk.</a:t>
            </a:r>
            <a:endParaRPr lang="en-US" sz="1050" b="0" u="none" strike="noStrike">
              <a:solidFill>
                <a:srgbClr val="000000"/>
              </a:solidFill>
              <a:effectLst/>
              <a:uFillTx/>
              <a:latin typeface="Arial"/>
            </a:endParaRPr>
          </a:p>
        </p:txBody>
      </p:sp>
      <p:sp>
        <p:nvSpPr>
          <p:cNvPr id="106" name="Rectangle 9"/>
          <p:cNvSpPr/>
          <p:nvPr/>
        </p:nvSpPr>
        <p:spPr>
          <a:xfrm>
            <a:off x="658440" y="4032360"/>
            <a:ext cx="27000" cy="548280"/>
          </a:xfrm>
          <a:prstGeom prst="rect">
            <a:avLst/>
          </a:prstGeom>
          <a:solidFill>
            <a:srgbClr val="0D4A8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07" name="TextBox 10"/>
          <p:cNvSpPr/>
          <p:nvPr/>
        </p:nvSpPr>
        <p:spPr>
          <a:xfrm>
            <a:off x="841320" y="3977640"/>
            <a:ext cx="493740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1" u="none" strike="noStrike">
                <a:solidFill>
                  <a:srgbClr val="101828"/>
                </a:solidFill>
                <a:effectLst/>
                <a:uFillTx/>
                <a:latin typeface="Segoe UI"/>
              </a:rPr>
              <a:t>Weeks to a decision</a:t>
            </a:r>
            <a:endParaRPr lang="en-US" sz="1250" b="0" u="none" strike="noStrike">
              <a:solidFill>
                <a:srgbClr val="000000"/>
              </a:solidFill>
              <a:effectLst/>
              <a:uFillTx/>
              <a:latin typeface="Arial"/>
            </a:endParaRPr>
          </a:p>
        </p:txBody>
      </p:sp>
      <p:sp>
        <p:nvSpPr>
          <p:cNvPr id="108" name="TextBox 11"/>
          <p:cNvSpPr/>
          <p:nvPr/>
        </p:nvSpPr>
        <p:spPr>
          <a:xfrm>
            <a:off x="841320" y="4224600"/>
            <a:ext cx="4937400" cy="50256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050" b="0" u="none" strike="noStrike">
                <a:solidFill>
                  <a:srgbClr val="475467"/>
                </a:solidFill>
                <a:effectLst/>
                <a:uFillTx/>
                <a:latin typeface="Segoe UI"/>
              </a:rPr>
              <a:t>Manual field visits and paper appraisal. The sowing window closes while the file moves.</a:t>
            </a:r>
            <a:endParaRPr lang="en-US" sz="1050" b="0" u="none" strike="noStrike">
              <a:solidFill>
                <a:srgbClr val="000000"/>
              </a:solidFill>
              <a:effectLst/>
              <a:uFillTx/>
              <a:latin typeface="Arial"/>
            </a:endParaRPr>
          </a:p>
        </p:txBody>
      </p:sp>
      <p:sp>
        <p:nvSpPr>
          <p:cNvPr id="109" name="Rectangle 12"/>
          <p:cNvSpPr/>
          <p:nvPr/>
        </p:nvSpPr>
        <p:spPr>
          <a:xfrm>
            <a:off x="658440" y="4919400"/>
            <a:ext cx="27000" cy="548280"/>
          </a:xfrm>
          <a:prstGeom prst="rect">
            <a:avLst/>
          </a:prstGeom>
          <a:solidFill>
            <a:srgbClr val="0D4A8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10" name="TextBox 13"/>
          <p:cNvSpPr/>
          <p:nvPr/>
        </p:nvSpPr>
        <p:spPr>
          <a:xfrm>
            <a:off x="841320" y="4864680"/>
            <a:ext cx="493740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1" u="none" strike="noStrike">
                <a:solidFill>
                  <a:srgbClr val="101828"/>
                </a:solidFill>
                <a:effectLst/>
                <a:uFillTx/>
                <a:latin typeface="Segoe UI"/>
              </a:rPr>
              <a:t>No explanation</a:t>
            </a:r>
            <a:endParaRPr lang="en-US" sz="1250" b="0" u="none" strike="noStrike">
              <a:solidFill>
                <a:srgbClr val="000000"/>
              </a:solidFill>
              <a:effectLst/>
              <a:uFillTx/>
              <a:latin typeface="Arial"/>
            </a:endParaRPr>
          </a:p>
        </p:txBody>
      </p:sp>
      <p:sp>
        <p:nvSpPr>
          <p:cNvPr id="111" name="TextBox 14"/>
          <p:cNvSpPr/>
          <p:nvPr/>
        </p:nvSpPr>
        <p:spPr>
          <a:xfrm>
            <a:off x="841320" y="5111640"/>
            <a:ext cx="4937400" cy="50256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050" b="0" u="none" strike="noStrike">
                <a:solidFill>
                  <a:srgbClr val="475467"/>
                </a:solidFill>
                <a:effectLst/>
                <a:uFillTx/>
                <a:latin typeface="Segoe UI"/>
              </a:rPr>
              <a:t>A rejection arrives without a reason the borrower can act on, so nothing improves before the next application.</a:t>
            </a:r>
            <a:endParaRPr lang="en-US" sz="1050" b="0" u="none" strike="noStrike">
              <a:solidFill>
                <a:srgbClr val="000000"/>
              </a:solidFill>
              <a:effectLst/>
              <a:uFillTx/>
              <a:latin typeface="Arial"/>
            </a:endParaRPr>
          </a:p>
        </p:txBody>
      </p:sp>
      <p:sp>
        <p:nvSpPr>
          <p:cNvPr id="112" name="Rectangle 15"/>
          <p:cNvSpPr/>
          <p:nvPr/>
        </p:nvSpPr>
        <p:spPr>
          <a:xfrm>
            <a:off x="658440" y="5806440"/>
            <a:ext cx="27000" cy="548280"/>
          </a:xfrm>
          <a:prstGeom prst="rect">
            <a:avLst/>
          </a:prstGeom>
          <a:solidFill>
            <a:srgbClr val="0D4A8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13" name="TextBox 16"/>
          <p:cNvSpPr/>
          <p:nvPr/>
        </p:nvSpPr>
        <p:spPr>
          <a:xfrm>
            <a:off x="841320" y="5751720"/>
            <a:ext cx="493740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1" u="none" strike="noStrike">
                <a:solidFill>
                  <a:srgbClr val="101828"/>
                </a:solidFill>
                <a:effectLst/>
                <a:uFillTx/>
                <a:latin typeface="Segoe UI"/>
              </a:rPr>
              <a:t>Wrong product</a:t>
            </a:r>
            <a:endParaRPr lang="en-US" sz="1250" b="0" u="none" strike="noStrike">
              <a:solidFill>
                <a:srgbClr val="000000"/>
              </a:solidFill>
              <a:effectLst/>
              <a:uFillTx/>
              <a:latin typeface="Arial"/>
            </a:endParaRPr>
          </a:p>
        </p:txBody>
      </p:sp>
      <p:sp>
        <p:nvSpPr>
          <p:cNvPr id="114" name="TextBox 17"/>
          <p:cNvSpPr/>
          <p:nvPr/>
        </p:nvSpPr>
        <p:spPr>
          <a:xfrm>
            <a:off x="841320" y="5998320"/>
            <a:ext cx="4937400" cy="50256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050" b="0" u="none" strike="noStrike">
                <a:solidFill>
                  <a:srgbClr val="475467"/>
                </a:solidFill>
                <a:effectLst/>
                <a:uFillTx/>
                <a:latin typeface="Segoe UI"/>
              </a:rPr>
              <a:t>Repayments that ignore the harvest calendar turn a good borrower into a late one.</a:t>
            </a:r>
            <a:endParaRPr lang="en-US" sz="1050" b="0" u="none" strike="noStrike">
              <a:solidFill>
                <a:srgbClr val="000000"/>
              </a:solidFill>
              <a:effectLst/>
              <a:uFillTx/>
              <a:latin typeface="Arial"/>
            </a:endParaRPr>
          </a:p>
        </p:txBody>
      </p:sp>
      <p:sp>
        <p:nvSpPr>
          <p:cNvPr id="115" name="TextBox 18"/>
          <p:cNvSpPr/>
          <p:nvPr/>
        </p:nvSpPr>
        <p:spPr>
          <a:xfrm>
            <a:off x="6236280" y="2697480"/>
            <a:ext cx="51202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1" u="none" strike="noStrike">
                <a:solidFill>
                  <a:srgbClr val="B54708"/>
                </a:solidFill>
                <a:effectLst/>
                <a:uFillTx/>
                <a:latin typeface="Consolas"/>
              </a:rPr>
              <a:t>FOR THE BANK</a:t>
            </a:r>
            <a:endParaRPr lang="en-US" sz="950" b="0" u="none" strike="noStrike">
              <a:solidFill>
                <a:srgbClr val="000000"/>
              </a:solidFill>
              <a:effectLst/>
              <a:uFillTx/>
              <a:latin typeface="Arial"/>
            </a:endParaRPr>
          </a:p>
        </p:txBody>
      </p:sp>
      <p:sp>
        <p:nvSpPr>
          <p:cNvPr id="116" name="Rectangle 19"/>
          <p:cNvSpPr/>
          <p:nvPr/>
        </p:nvSpPr>
        <p:spPr>
          <a:xfrm>
            <a:off x="6236280" y="3145680"/>
            <a:ext cx="27000" cy="548280"/>
          </a:xfrm>
          <a:prstGeom prst="rect">
            <a:avLst/>
          </a:prstGeom>
          <a:solidFill>
            <a:srgbClr val="B547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17" name="TextBox 20"/>
          <p:cNvSpPr/>
          <p:nvPr/>
        </p:nvSpPr>
        <p:spPr>
          <a:xfrm>
            <a:off x="6419160" y="3090600"/>
            <a:ext cx="493740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1" u="none" strike="noStrike">
                <a:solidFill>
                  <a:srgbClr val="101828"/>
                </a:solidFill>
                <a:effectLst/>
                <a:uFillTx/>
                <a:latin typeface="Segoe UI"/>
              </a:rPr>
              <a:t>Too little to go on</a:t>
            </a:r>
            <a:endParaRPr lang="en-US" sz="1250" b="0" u="none" strike="noStrike">
              <a:solidFill>
                <a:srgbClr val="000000"/>
              </a:solidFill>
              <a:effectLst/>
              <a:uFillTx/>
              <a:latin typeface="Arial"/>
            </a:endParaRPr>
          </a:p>
        </p:txBody>
      </p:sp>
      <p:sp>
        <p:nvSpPr>
          <p:cNvPr id="118" name="TextBox 21"/>
          <p:cNvSpPr/>
          <p:nvPr/>
        </p:nvSpPr>
        <p:spPr>
          <a:xfrm>
            <a:off x="6419160" y="3337560"/>
            <a:ext cx="4937400" cy="50256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050" b="0" u="none" strike="noStrike">
                <a:solidFill>
                  <a:srgbClr val="475467"/>
                </a:solidFill>
                <a:effectLst/>
                <a:uFillTx/>
                <a:latin typeface="Segoe UI"/>
              </a:rPr>
              <a:t>Traditional credit models have almost nothing to work with, so good farmers are declined alongside bad ones.</a:t>
            </a:r>
            <a:endParaRPr lang="en-US" sz="1050" b="0" u="none" strike="noStrike">
              <a:solidFill>
                <a:srgbClr val="000000"/>
              </a:solidFill>
              <a:effectLst/>
              <a:uFillTx/>
              <a:latin typeface="Arial"/>
            </a:endParaRPr>
          </a:p>
        </p:txBody>
      </p:sp>
      <p:sp>
        <p:nvSpPr>
          <p:cNvPr id="119" name="Rectangle 22"/>
          <p:cNvSpPr/>
          <p:nvPr/>
        </p:nvSpPr>
        <p:spPr>
          <a:xfrm>
            <a:off x="6236280" y="4032360"/>
            <a:ext cx="27000" cy="548280"/>
          </a:xfrm>
          <a:prstGeom prst="rect">
            <a:avLst/>
          </a:prstGeom>
          <a:solidFill>
            <a:srgbClr val="B547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20" name="TextBox 23"/>
          <p:cNvSpPr/>
          <p:nvPr/>
        </p:nvSpPr>
        <p:spPr>
          <a:xfrm>
            <a:off x="6419160" y="3977640"/>
            <a:ext cx="493740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1" u="none" strike="noStrike">
                <a:solidFill>
                  <a:srgbClr val="101828"/>
                </a:solidFill>
                <a:effectLst/>
                <a:uFillTx/>
                <a:latin typeface="Segoe UI"/>
              </a:rPr>
              <a:t>Unverifiable collateral</a:t>
            </a:r>
            <a:endParaRPr lang="en-US" sz="1250" b="0" u="none" strike="noStrike">
              <a:solidFill>
                <a:srgbClr val="000000"/>
              </a:solidFill>
              <a:effectLst/>
              <a:uFillTx/>
              <a:latin typeface="Arial"/>
            </a:endParaRPr>
          </a:p>
        </p:txBody>
      </p:sp>
      <p:sp>
        <p:nvSpPr>
          <p:cNvPr id="121" name="TextBox 24"/>
          <p:cNvSpPr/>
          <p:nvPr/>
        </p:nvSpPr>
        <p:spPr>
          <a:xfrm>
            <a:off x="6419160" y="4224600"/>
            <a:ext cx="4937400" cy="50256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050" b="0" u="none" strike="noStrike">
                <a:solidFill>
                  <a:srgbClr val="475467"/>
                </a:solidFill>
                <a:effectLst/>
                <a:uFillTx/>
                <a:latin typeface="Segoe UI"/>
              </a:rPr>
              <a:t>Land records and actual cultivation disagree, and a field visit costs more than the loan earns.</a:t>
            </a:r>
            <a:endParaRPr lang="en-US" sz="1050" b="0" u="none" strike="noStrike">
              <a:solidFill>
                <a:srgbClr val="000000"/>
              </a:solidFill>
              <a:effectLst/>
              <a:uFillTx/>
              <a:latin typeface="Arial"/>
            </a:endParaRPr>
          </a:p>
        </p:txBody>
      </p:sp>
      <p:sp>
        <p:nvSpPr>
          <p:cNvPr id="122" name="Rectangle 25"/>
          <p:cNvSpPr/>
          <p:nvPr/>
        </p:nvSpPr>
        <p:spPr>
          <a:xfrm>
            <a:off x="6236280" y="4919400"/>
            <a:ext cx="27000" cy="548280"/>
          </a:xfrm>
          <a:prstGeom prst="rect">
            <a:avLst/>
          </a:prstGeom>
          <a:solidFill>
            <a:srgbClr val="B547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23" name="TextBox 26"/>
          <p:cNvSpPr/>
          <p:nvPr/>
        </p:nvSpPr>
        <p:spPr>
          <a:xfrm>
            <a:off x="6419160" y="4864680"/>
            <a:ext cx="493740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1" u="none" strike="noStrike">
                <a:solidFill>
                  <a:srgbClr val="101828"/>
                </a:solidFill>
                <a:effectLst/>
                <a:uFillTx/>
                <a:latin typeface="Segoe UI"/>
              </a:rPr>
              <a:t>Fraud rings</a:t>
            </a:r>
            <a:endParaRPr lang="en-US" sz="1250" b="0" u="none" strike="noStrike">
              <a:solidFill>
                <a:srgbClr val="000000"/>
              </a:solidFill>
              <a:effectLst/>
              <a:uFillTx/>
              <a:latin typeface="Arial"/>
            </a:endParaRPr>
          </a:p>
        </p:txBody>
      </p:sp>
      <p:sp>
        <p:nvSpPr>
          <p:cNvPr id="124" name="TextBox 27"/>
          <p:cNvSpPr/>
          <p:nvPr/>
        </p:nvSpPr>
        <p:spPr>
          <a:xfrm>
            <a:off x="6419160" y="5111640"/>
            <a:ext cx="4937400" cy="50256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050" b="0" u="none" strike="noStrike">
                <a:solidFill>
                  <a:srgbClr val="475467"/>
                </a:solidFill>
                <a:effectLst/>
                <a:uFillTx/>
                <a:latin typeface="Segoe UI"/>
              </a:rPr>
              <a:t>Shared devices, addresses and accounts across applications that look independent one at a time.</a:t>
            </a:r>
            <a:endParaRPr lang="en-US" sz="1050" b="0" u="none" strike="noStrike">
              <a:solidFill>
                <a:srgbClr val="000000"/>
              </a:solidFill>
              <a:effectLst/>
              <a:uFillTx/>
              <a:latin typeface="Arial"/>
            </a:endParaRPr>
          </a:p>
        </p:txBody>
      </p:sp>
      <p:sp>
        <p:nvSpPr>
          <p:cNvPr id="125" name="Rectangle 28"/>
          <p:cNvSpPr/>
          <p:nvPr/>
        </p:nvSpPr>
        <p:spPr>
          <a:xfrm>
            <a:off x="6236280" y="5806440"/>
            <a:ext cx="27000" cy="548280"/>
          </a:xfrm>
          <a:prstGeom prst="rect">
            <a:avLst/>
          </a:prstGeom>
          <a:solidFill>
            <a:srgbClr val="B547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26" name="TextBox 29"/>
          <p:cNvSpPr/>
          <p:nvPr/>
        </p:nvSpPr>
        <p:spPr>
          <a:xfrm>
            <a:off x="6419160" y="5751720"/>
            <a:ext cx="493740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1" u="none" strike="noStrike">
                <a:solidFill>
                  <a:srgbClr val="101828"/>
                </a:solidFill>
                <a:effectLst/>
                <a:uFillTx/>
                <a:latin typeface="Segoe UI"/>
              </a:rPr>
              <a:t>Late warning</a:t>
            </a:r>
            <a:endParaRPr lang="en-US" sz="1250" b="0" u="none" strike="noStrike">
              <a:solidFill>
                <a:srgbClr val="000000"/>
              </a:solidFill>
              <a:effectLst/>
              <a:uFillTx/>
              <a:latin typeface="Arial"/>
            </a:endParaRPr>
          </a:p>
        </p:txBody>
      </p:sp>
      <p:sp>
        <p:nvSpPr>
          <p:cNvPr id="127" name="TextBox 30"/>
          <p:cNvSpPr/>
          <p:nvPr/>
        </p:nvSpPr>
        <p:spPr>
          <a:xfrm>
            <a:off x="6419160" y="5998320"/>
            <a:ext cx="4937400" cy="50256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050" b="0" u="none" strike="noStrike">
                <a:solidFill>
                  <a:srgbClr val="475467"/>
                </a:solidFill>
                <a:effectLst/>
                <a:uFillTx/>
                <a:latin typeface="Segoe UI"/>
              </a:rPr>
              <a:t>Trouble is visible in a borrower's behaviour months before a missed payment, and nobody is watching for it.</a:t>
            </a:r>
            <a:endParaRPr lang="en-US" sz="10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8" name="TextBox 1"/>
          <p:cNvSpPr/>
          <p:nvPr/>
        </p:nvSpPr>
        <p:spPr>
          <a:xfrm>
            <a:off x="11338560" y="384120"/>
            <a:ext cx="548280" cy="228240"/>
          </a:xfrm>
          <a:prstGeom prst="rect">
            <a:avLst/>
          </a:prstGeom>
          <a:noFill/>
          <a:ln w="0">
            <a:noFill/>
          </a:ln>
        </p:spPr>
        <p:style>
          <a:lnRef idx="0"/>
          <a:fillRef idx="0"/>
          <a:effectRef idx="0"/>
          <a:fontRef idx="minor"/>
        </p:style>
        <p:txBody>
          <a:bodyPr lIns="0" tIns="0" rIns="0" bIns="0" anchor="t">
            <a:spAutoFit/>
          </a:bodyPr>
          <a:p>
            <a:pPr algn="r" defTabSz="457200">
              <a:lnSpc>
                <a:spcPct val="100000"/>
              </a:lnSpc>
            </a:pPr>
            <a:r>
              <a:rPr lang="en-US" sz="900" b="0" u="none" strike="noStrike">
                <a:solidFill>
                  <a:srgbClr val="6B7C93"/>
                </a:solidFill>
                <a:effectLst/>
                <a:uFillTx/>
                <a:latin typeface="Consolas"/>
              </a:rPr>
              <a:t>04</a:t>
            </a:r>
            <a:endParaRPr lang="en-US" sz="900" b="0" u="none" strike="noStrike">
              <a:solidFill>
                <a:srgbClr val="000000"/>
              </a:solidFill>
              <a:effectLst/>
              <a:uFillTx/>
              <a:latin typeface="Arial"/>
            </a:endParaRPr>
          </a:p>
        </p:txBody>
      </p:sp>
      <p:sp>
        <p:nvSpPr>
          <p:cNvPr id="129" name="TextBox 2"/>
          <p:cNvSpPr/>
          <p:nvPr/>
        </p:nvSpPr>
        <p:spPr>
          <a:xfrm>
            <a:off x="658440" y="457200"/>
            <a:ext cx="10058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0" u="none" strike="noStrike">
                <a:solidFill>
                  <a:srgbClr val="2166A3"/>
                </a:solidFill>
                <a:effectLst/>
                <a:uFillTx/>
                <a:latin typeface="Consolas"/>
              </a:rPr>
              <a:t>HOW THE PLATFORM ANSWERS EACH ONE</a:t>
            </a:r>
            <a:endParaRPr lang="en-US" sz="1050" b="0" u="none" strike="noStrike">
              <a:solidFill>
                <a:srgbClr val="000000"/>
              </a:solidFill>
              <a:effectLst/>
              <a:uFillTx/>
              <a:latin typeface="Arial"/>
            </a:endParaRPr>
          </a:p>
        </p:txBody>
      </p:sp>
      <p:sp>
        <p:nvSpPr>
          <p:cNvPr id="130" name="TextBox 3"/>
          <p:cNvSpPr/>
          <p:nvPr/>
        </p:nvSpPr>
        <p:spPr>
          <a:xfrm>
            <a:off x="658440" y="777240"/>
            <a:ext cx="10423800" cy="914040"/>
          </a:xfrm>
          <a:prstGeom prst="rect">
            <a:avLst/>
          </a:prstGeom>
          <a:noFill/>
          <a:ln w="0">
            <a:noFill/>
          </a:ln>
        </p:spPr>
        <p:style>
          <a:lnRef idx="0"/>
          <a:fillRef idx="0"/>
          <a:effectRef idx="0"/>
          <a:fontRef idx="minor"/>
        </p:style>
        <p:txBody>
          <a:bodyPr lIns="0" tIns="0" rIns="0" bIns="0" anchor="t">
            <a:spAutoFit/>
          </a:bodyPr>
          <a:p>
            <a:pPr defTabSz="457200">
              <a:lnSpc>
                <a:spcPct val="95000"/>
              </a:lnSpc>
            </a:pPr>
            <a:r>
              <a:rPr lang="en-US" sz="3200" b="1" u="none" strike="noStrike">
                <a:solidFill>
                  <a:srgbClr val="0A3A68"/>
                </a:solidFill>
                <a:effectLst/>
                <a:uFillTx/>
                <a:latin typeface="Georgia"/>
              </a:rPr>
              <a:t>Every problem maps to a module that exists</a:t>
            </a:r>
            <a:endParaRPr lang="en-US" sz="3200" b="0" u="none" strike="noStrike">
              <a:solidFill>
                <a:srgbClr val="000000"/>
              </a:solidFill>
              <a:effectLst/>
              <a:uFillTx/>
              <a:latin typeface="Arial"/>
            </a:endParaRPr>
          </a:p>
        </p:txBody>
      </p:sp>
      <p:sp>
        <p:nvSpPr>
          <p:cNvPr id="131" name="Rectangle 4"/>
          <p:cNvSpPr/>
          <p:nvPr/>
        </p:nvSpPr>
        <p:spPr>
          <a:xfrm>
            <a:off x="658440" y="1828800"/>
            <a:ext cx="27000" cy="60300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32" name="TextBox 5"/>
          <p:cNvSpPr/>
          <p:nvPr/>
        </p:nvSpPr>
        <p:spPr>
          <a:xfrm>
            <a:off x="841320" y="1783080"/>
            <a:ext cx="23770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6B7C93"/>
                </a:solidFill>
                <a:effectLst/>
                <a:uFillTx/>
                <a:latin typeface="Segoe UI"/>
              </a:rPr>
              <a:t>No credit file</a:t>
            </a:r>
            <a:endParaRPr lang="en-US" sz="1150" b="0" u="none" strike="noStrike">
              <a:solidFill>
                <a:srgbClr val="000000"/>
              </a:solidFill>
              <a:effectLst/>
              <a:uFillTx/>
              <a:latin typeface="Arial"/>
            </a:endParaRPr>
          </a:p>
        </p:txBody>
      </p:sp>
      <p:sp>
        <p:nvSpPr>
          <p:cNvPr id="133" name="TextBox 6"/>
          <p:cNvSpPr/>
          <p:nvPr/>
        </p:nvSpPr>
        <p:spPr>
          <a:xfrm>
            <a:off x="3200400" y="1783080"/>
            <a:ext cx="722340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01828"/>
                </a:solidFill>
                <a:effectLst/>
                <a:uFillTx/>
                <a:latin typeface="Segoe UI"/>
              </a:rPr>
              <a:t>Satellite + weather + crop evidence</a:t>
            </a:r>
            <a:endParaRPr lang="en-US" sz="1200" b="0" u="none" strike="noStrike">
              <a:solidFill>
                <a:srgbClr val="000000"/>
              </a:solidFill>
              <a:effectLst/>
              <a:uFillTx/>
              <a:latin typeface="Arial"/>
            </a:endParaRPr>
          </a:p>
        </p:txBody>
      </p:sp>
      <p:sp>
        <p:nvSpPr>
          <p:cNvPr id="134" name="TextBox 7"/>
          <p:cNvSpPr/>
          <p:nvPr/>
        </p:nvSpPr>
        <p:spPr>
          <a:xfrm>
            <a:off x="3200400" y="2039040"/>
            <a:ext cx="7223400" cy="40212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Rainfall shortfall and crop-greenness history make the land itself the evidence when there is no credit record.</a:t>
            </a:r>
            <a:endParaRPr lang="en-US" sz="1000" b="0" u="none" strike="noStrike">
              <a:solidFill>
                <a:srgbClr val="000000"/>
              </a:solidFill>
              <a:effectLst/>
              <a:uFillTx/>
              <a:latin typeface="Arial"/>
            </a:endParaRPr>
          </a:p>
        </p:txBody>
      </p:sp>
      <p:sp>
        <p:nvSpPr>
          <p:cNvPr id="135" name="TextBox 8"/>
          <p:cNvSpPr/>
          <p:nvPr/>
        </p:nvSpPr>
        <p:spPr>
          <a:xfrm>
            <a:off x="10607040" y="1783080"/>
            <a:ext cx="11883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0" u="none" strike="noStrike">
                <a:solidFill>
                  <a:srgbClr val="0D4A85"/>
                </a:solidFill>
                <a:effectLst/>
                <a:uFillTx/>
                <a:latin typeface="Consolas"/>
              </a:rPr>
              <a:t>M1 · agri</a:t>
            </a:r>
            <a:endParaRPr lang="en-US" sz="950" b="0" u="none" strike="noStrike">
              <a:solidFill>
                <a:srgbClr val="000000"/>
              </a:solidFill>
              <a:effectLst/>
              <a:uFillTx/>
              <a:latin typeface="Arial"/>
            </a:endParaRPr>
          </a:p>
        </p:txBody>
      </p:sp>
      <p:sp>
        <p:nvSpPr>
          <p:cNvPr id="136" name="Rectangle 9"/>
          <p:cNvSpPr/>
          <p:nvPr/>
        </p:nvSpPr>
        <p:spPr>
          <a:xfrm>
            <a:off x="658440" y="2624400"/>
            <a:ext cx="27000" cy="60300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37" name="TextBox 10"/>
          <p:cNvSpPr/>
          <p:nvPr/>
        </p:nvSpPr>
        <p:spPr>
          <a:xfrm>
            <a:off x="841320" y="2578680"/>
            <a:ext cx="23770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6B7C93"/>
                </a:solidFill>
                <a:effectLst/>
                <a:uFillTx/>
                <a:latin typeface="Segoe UI"/>
              </a:rPr>
              <a:t>Weeks to a decision</a:t>
            </a:r>
            <a:endParaRPr lang="en-US" sz="1150" b="0" u="none" strike="noStrike">
              <a:solidFill>
                <a:srgbClr val="000000"/>
              </a:solidFill>
              <a:effectLst/>
              <a:uFillTx/>
              <a:latin typeface="Arial"/>
            </a:endParaRPr>
          </a:p>
        </p:txBody>
      </p:sp>
      <p:sp>
        <p:nvSpPr>
          <p:cNvPr id="138" name="TextBox 11"/>
          <p:cNvSpPr/>
          <p:nvPr/>
        </p:nvSpPr>
        <p:spPr>
          <a:xfrm>
            <a:off x="3200400" y="2578680"/>
            <a:ext cx="722340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01828"/>
                </a:solidFill>
                <a:effectLst/>
                <a:uFillTx/>
                <a:latin typeface="Segoe UI"/>
              </a:rPr>
              <a:t>Automated scoring, with reasons</a:t>
            </a:r>
            <a:endParaRPr lang="en-US" sz="1200" b="0" u="none" strike="noStrike">
              <a:solidFill>
                <a:srgbClr val="000000"/>
              </a:solidFill>
              <a:effectLst/>
              <a:uFillTx/>
              <a:latin typeface="Arial"/>
            </a:endParaRPr>
          </a:p>
        </p:txBody>
      </p:sp>
      <p:sp>
        <p:nvSpPr>
          <p:cNvPr id="139" name="TextBox 12"/>
          <p:cNvSpPr/>
          <p:nvPr/>
        </p:nvSpPr>
        <p:spPr>
          <a:xfrm>
            <a:off x="3200400" y="2834640"/>
            <a:ext cx="7223400" cy="40212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A transparent scorecard plus a stronger model behind it, and every decision arrives with the reasons that drove it.</a:t>
            </a:r>
            <a:endParaRPr lang="en-US" sz="1000" b="0" u="none" strike="noStrike">
              <a:solidFill>
                <a:srgbClr val="000000"/>
              </a:solidFill>
              <a:effectLst/>
              <a:uFillTx/>
              <a:latin typeface="Arial"/>
            </a:endParaRPr>
          </a:p>
        </p:txBody>
      </p:sp>
      <p:sp>
        <p:nvSpPr>
          <p:cNvPr id="140" name="TextBox 13"/>
          <p:cNvSpPr/>
          <p:nvPr/>
        </p:nvSpPr>
        <p:spPr>
          <a:xfrm>
            <a:off x="10607040" y="2578680"/>
            <a:ext cx="11883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0" u="none" strike="noStrike">
                <a:solidFill>
                  <a:srgbClr val="0D4A85"/>
                </a:solidFill>
                <a:effectLst/>
                <a:uFillTx/>
                <a:latin typeface="Consolas"/>
              </a:rPr>
              <a:t>M2 · scoring</a:t>
            </a:r>
            <a:endParaRPr lang="en-US" sz="950" b="0" u="none" strike="noStrike">
              <a:solidFill>
                <a:srgbClr val="000000"/>
              </a:solidFill>
              <a:effectLst/>
              <a:uFillTx/>
              <a:latin typeface="Arial"/>
            </a:endParaRPr>
          </a:p>
        </p:txBody>
      </p:sp>
      <p:sp>
        <p:nvSpPr>
          <p:cNvPr id="141" name="Rectangle 14"/>
          <p:cNvSpPr/>
          <p:nvPr/>
        </p:nvSpPr>
        <p:spPr>
          <a:xfrm>
            <a:off x="658440" y="3420000"/>
            <a:ext cx="27000" cy="60300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2" name="TextBox 15"/>
          <p:cNvSpPr/>
          <p:nvPr/>
        </p:nvSpPr>
        <p:spPr>
          <a:xfrm>
            <a:off x="841320" y="3374280"/>
            <a:ext cx="23770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6B7C93"/>
                </a:solidFill>
                <a:effectLst/>
                <a:uFillTx/>
                <a:latin typeface="Segoe UI"/>
              </a:rPr>
              <a:t>Fraud rings</a:t>
            </a:r>
            <a:endParaRPr lang="en-US" sz="1150" b="0" u="none" strike="noStrike">
              <a:solidFill>
                <a:srgbClr val="000000"/>
              </a:solidFill>
              <a:effectLst/>
              <a:uFillTx/>
              <a:latin typeface="Arial"/>
            </a:endParaRPr>
          </a:p>
        </p:txBody>
      </p:sp>
      <p:sp>
        <p:nvSpPr>
          <p:cNvPr id="143" name="TextBox 16"/>
          <p:cNvSpPr/>
          <p:nvPr/>
        </p:nvSpPr>
        <p:spPr>
          <a:xfrm>
            <a:off x="3200400" y="3374280"/>
            <a:ext cx="722340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01828"/>
                </a:solidFill>
                <a:effectLst/>
                <a:uFillTx/>
                <a:latin typeface="Segoe UI"/>
              </a:rPr>
              <a:t>Spot the hidden connections</a:t>
            </a:r>
            <a:endParaRPr lang="en-US" sz="1200" b="0" u="none" strike="noStrike">
              <a:solidFill>
                <a:srgbClr val="000000"/>
              </a:solidFill>
              <a:effectLst/>
              <a:uFillTx/>
              <a:latin typeface="Arial"/>
            </a:endParaRPr>
          </a:p>
        </p:txBody>
      </p:sp>
      <p:sp>
        <p:nvSpPr>
          <p:cNvPr id="144" name="TextBox 17"/>
          <p:cNvSpPr/>
          <p:nvPr/>
        </p:nvSpPr>
        <p:spPr>
          <a:xfrm>
            <a:off x="3200400" y="3630240"/>
            <a:ext cx="7223400" cy="40212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Shared phones, devices, addresses and accounts. Finds the tight cluster that no single application would ever reveal.</a:t>
            </a:r>
            <a:endParaRPr lang="en-US" sz="1000" b="0" u="none" strike="noStrike">
              <a:solidFill>
                <a:srgbClr val="000000"/>
              </a:solidFill>
              <a:effectLst/>
              <a:uFillTx/>
              <a:latin typeface="Arial"/>
            </a:endParaRPr>
          </a:p>
        </p:txBody>
      </p:sp>
      <p:sp>
        <p:nvSpPr>
          <p:cNvPr id="145" name="TextBox 18"/>
          <p:cNvSpPr/>
          <p:nvPr/>
        </p:nvSpPr>
        <p:spPr>
          <a:xfrm>
            <a:off x="10607040" y="3374280"/>
            <a:ext cx="11883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0" u="none" strike="noStrike">
                <a:solidFill>
                  <a:srgbClr val="0D4A85"/>
                </a:solidFill>
                <a:effectLst/>
                <a:uFillTx/>
                <a:latin typeface="Consolas"/>
              </a:rPr>
              <a:t>M3 · fraud</a:t>
            </a:r>
            <a:endParaRPr lang="en-US" sz="950" b="0" u="none" strike="noStrike">
              <a:solidFill>
                <a:srgbClr val="000000"/>
              </a:solidFill>
              <a:effectLst/>
              <a:uFillTx/>
              <a:latin typeface="Arial"/>
            </a:endParaRPr>
          </a:p>
        </p:txBody>
      </p:sp>
      <p:sp>
        <p:nvSpPr>
          <p:cNvPr id="146" name="Rectangle 19"/>
          <p:cNvSpPr/>
          <p:nvPr/>
        </p:nvSpPr>
        <p:spPr>
          <a:xfrm>
            <a:off x="658440" y="4215240"/>
            <a:ext cx="27000" cy="60300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7" name="TextBox 20"/>
          <p:cNvSpPr/>
          <p:nvPr/>
        </p:nvSpPr>
        <p:spPr>
          <a:xfrm>
            <a:off x="841320" y="4169520"/>
            <a:ext cx="23770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6B7C93"/>
                </a:solidFill>
                <a:effectLst/>
                <a:uFillTx/>
                <a:latin typeface="Segoe UI"/>
              </a:rPr>
              <a:t>Wrong product</a:t>
            </a:r>
            <a:endParaRPr lang="en-US" sz="1150" b="0" u="none" strike="noStrike">
              <a:solidFill>
                <a:srgbClr val="000000"/>
              </a:solidFill>
              <a:effectLst/>
              <a:uFillTx/>
              <a:latin typeface="Arial"/>
            </a:endParaRPr>
          </a:p>
        </p:txBody>
      </p:sp>
      <p:sp>
        <p:nvSpPr>
          <p:cNvPr id="148" name="TextBox 21"/>
          <p:cNvSpPr/>
          <p:nvPr/>
        </p:nvSpPr>
        <p:spPr>
          <a:xfrm>
            <a:off x="3200400" y="4169520"/>
            <a:ext cx="722340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01828"/>
                </a:solidFill>
                <a:effectLst/>
                <a:uFillTx/>
                <a:latin typeface="Segoe UI"/>
              </a:rPr>
              <a:t>Work out what fits, then recommend</a:t>
            </a:r>
            <a:endParaRPr lang="en-US" sz="1200" b="0" u="none" strike="noStrike">
              <a:solidFill>
                <a:srgbClr val="000000"/>
              </a:solidFill>
              <a:effectLst/>
              <a:uFillTx/>
              <a:latin typeface="Arial"/>
            </a:endParaRPr>
          </a:p>
        </p:txBody>
      </p:sp>
      <p:sp>
        <p:nvSpPr>
          <p:cNvPr id="149" name="TextBox 22"/>
          <p:cNvSpPr/>
          <p:nvPr/>
        </p:nvSpPr>
        <p:spPr>
          <a:xfrm>
            <a:off x="3200400" y="4425840"/>
            <a:ext cx="7223400" cy="40212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The recommender can only pick from what the borrower can actually afford. Affordability is a limit, not advice.</a:t>
            </a:r>
            <a:endParaRPr lang="en-US" sz="1000" b="0" u="none" strike="noStrike">
              <a:solidFill>
                <a:srgbClr val="000000"/>
              </a:solidFill>
              <a:effectLst/>
              <a:uFillTx/>
              <a:latin typeface="Arial"/>
            </a:endParaRPr>
          </a:p>
        </p:txBody>
      </p:sp>
      <p:sp>
        <p:nvSpPr>
          <p:cNvPr id="150" name="TextBox 23"/>
          <p:cNvSpPr/>
          <p:nvPr/>
        </p:nvSpPr>
        <p:spPr>
          <a:xfrm>
            <a:off x="10607040" y="4169520"/>
            <a:ext cx="11883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0" u="none" strike="noStrike">
                <a:solidFill>
                  <a:srgbClr val="0D4A85"/>
                </a:solidFill>
                <a:effectLst/>
                <a:uFillTx/>
                <a:latin typeface="Consolas"/>
              </a:rPr>
              <a:t>M4 · reco</a:t>
            </a:r>
            <a:endParaRPr lang="en-US" sz="950" b="0" u="none" strike="noStrike">
              <a:solidFill>
                <a:srgbClr val="000000"/>
              </a:solidFill>
              <a:effectLst/>
              <a:uFillTx/>
              <a:latin typeface="Arial"/>
            </a:endParaRPr>
          </a:p>
        </p:txBody>
      </p:sp>
      <p:sp>
        <p:nvSpPr>
          <p:cNvPr id="151" name="Rectangle 24"/>
          <p:cNvSpPr/>
          <p:nvPr/>
        </p:nvSpPr>
        <p:spPr>
          <a:xfrm>
            <a:off x="658440" y="5010840"/>
            <a:ext cx="27000" cy="60300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52" name="TextBox 25"/>
          <p:cNvSpPr/>
          <p:nvPr/>
        </p:nvSpPr>
        <p:spPr>
          <a:xfrm>
            <a:off x="841320" y="4965120"/>
            <a:ext cx="23770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6B7C93"/>
                </a:solidFill>
                <a:effectLst/>
                <a:uFillTx/>
                <a:latin typeface="Segoe UI"/>
              </a:rPr>
              <a:t>No explanation</a:t>
            </a:r>
            <a:endParaRPr lang="en-US" sz="1150" b="0" u="none" strike="noStrike">
              <a:solidFill>
                <a:srgbClr val="000000"/>
              </a:solidFill>
              <a:effectLst/>
              <a:uFillTx/>
              <a:latin typeface="Arial"/>
            </a:endParaRPr>
          </a:p>
        </p:txBody>
      </p:sp>
      <p:sp>
        <p:nvSpPr>
          <p:cNvPr id="153" name="TextBox 26"/>
          <p:cNvSpPr/>
          <p:nvPr/>
        </p:nvSpPr>
        <p:spPr>
          <a:xfrm>
            <a:off x="3200400" y="4965120"/>
            <a:ext cx="722340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01828"/>
                </a:solidFill>
                <a:effectLst/>
                <a:uFillTx/>
                <a:latin typeface="Segoe UI"/>
              </a:rPr>
              <a:t>Answers that cite their source</a:t>
            </a:r>
            <a:endParaRPr lang="en-US" sz="1200" b="0" u="none" strike="noStrike">
              <a:solidFill>
                <a:srgbClr val="000000"/>
              </a:solidFill>
              <a:effectLst/>
              <a:uFillTx/>
              <a:latin typeface="Arial"/>
            </a:endParaRPr>
          </a:p>
        </p:txBody>
      </p:sp>
      <p:sp>
        <p:nvSpPr>
          <p:cNvPr id="154" name="TextBox 27"/>
          <p:cNvSpPr/>
          <p:nvPr/>
        </p:nvSpPr>
        <p:spPr>
          <a:xfrm>
            <a:off x="3200400" y="5221080"/>
            <a:ext cx="7223400" cy="40212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Every answer shows where it came from or is not shown at all. Decision wording is picked from approved text.</a:t>
            </a:r>
            <a:endParaRPr lang="en-US" sz="1000" b="0" u="none" strike="noStrike">
              <a:solidFill>
                <a:srgbClr val="000000"/>
              </a:solidFill>
              <a:effectLst/>
              <a:uFillTx/>
              <a:latin typeface="Arial"/>
            </a:endParaRPr>
          </a:p>
        </p:txBody>
      </p:sp>
      <p:sp>
        <p:nvSpPr>
          <p:cNvPr id="155" name="TextBox 28"/>
          <p:cNvSpPr/>
          <p:nvPr/>
        </p:nvSpPr>
        <p:spPr>
          <a:xfrm>
            <a:off x="10607040" y="4965120"/>
            <a:ext cx="11883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0" u="none" strike="noStrike">
                <a:solidFill>
                  <a:srgbClr val="0D4A85"/>
                </a:solidFill>
                <a:effectLst/>
                <a:uFillTx/>
                <a:latin typeface="Consolas"/>
              </a:rPr>
              <a:t>M6 · assistant</a:t>
            </a:r>
            <a:endParaRPr lang="en-US" sz="950" b="0" u="none" strike="noStrike">
              <a:solidFill>
                <a:srgbClr val="000000"/>
              </a:solidFill>
              <a:effectLst/>
              <a:uFillTx/>
              <a:latin typeface="Arial"/>
            </a:endParaRPr>
          </a:p>
        </p:txBody>
      </p:sp>
      <p:sp>
        <p:nvSpPr>
          <p:cNvPr id="156" name="Rectangle 29"/>
          <p:cNvSpPr/>
          <p:nvPr/>
        </p:nvSpPr>
        <p:spPr>
          <a:xfrm>
            <a:off x="658440" y="5806440"/>
            <a:ext cx="27000" cy="60300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57" name="TextBox 30"/>
          <p:cNvSpPr/>
          <p:nvPr/>
        </p:nvSpPr>
        <p:spPr>
          <a:xfrm>
            <a:off x="841320" y="5760720"/>
            <a:ext cx="23770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6B7C93"/>
                </a:solidFill>
                <a:effectLst/>
                <a:uFillTx/>
                <a:latin typeface="Segoe UI"/>
              </a:rPr>
              <a:t>Late warning</a:t>
            </a:r>
            <a:endParaRPr lang="en-US" sz="1150" b="0" u="none" strike="noStrike">
              <a:solidFill>
                <a:srgbClr val="000000"/>
              </a:solidFill>
              <a:effectLst/>
              <a:uFillTx/>
              <a:latin typeface="Arial"/>
            </a:endParaRPr>
          </a:p>
        </p:txBody>
      </p:sp>
      <p:sp>
        <p:nvSpPr>
          <p:cNvPr id="158" name="TextBox 31"/>
          <p:cNvSpPr/>
          <p:nvPr/>
        </p:nvSpPr>
        <p:spPr>
          <a:xfrm>
            <a:off x="3200400" y="5760720"/>
            <a:ext cx="722340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01828"/>
                </a:solidFill>
                <a:effectLst/>
                <a:uFillTx/>
                <a:latin typeface="Segoe UI"/>
              </a:rPr>
              <a:t>Notice the change in behaviour early</a:t>
            </a:r>
            <a:endParaRPr lang="en-US" sz="1200" b="0" u="none" strike="noStrike">
              <a:solidFill>
                <a:srgbClr val="000000"/>
              </a:solidFill>
              <a:effectLst/>
              <a:uFillTx/>
              <a:latin typeface="Arial"/>
            </a:endParaRPr>
          </a:p>
        </p:txBody>
      </p:sp>
      <p:sp>
        <p:nvSpPr>
          <p:cNvPr id="159" name="TextBox 32"/>
          <p:cNvSpPr/>
          <p:nvPr/>
        </p:nvSpPr>
        <p:spPr>
          <a:xfrm>
            <a:off x="3200400" y="6016680"/>
            <a:ext cx="7223400" cy="40212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Catches 86% of defaults, typically a year before they happen — measured on 338,210 real months of loan history.</a:t>
            </a:r>
            <a:endParaRPr lang="en-US" sz="1000" b="0" u="none" strike="noStrike">
              <a:solidFill>
                <a:srgbClr val="000000"/>
              </a:solidFill>
              <a:effectLst/>
              <a:uFillTx/>
              <a:latin typeface="Arial"/>
            </a:endParaRPr>
          </a:p>
        </p:txBody>
      </p:sp>
      <p:sp>
        <p:nvSpPr>
          <p:cNvPr id="160" name="TextBox 33"/>
          <p:cNvSpPr/>
          <p:nvPr/>
        </p:nvSpPr>
        <p:spPr>
          <a:xfrm>
            <a:off x="10607040" y="5760720"/>
            <a:ext cx="11883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0" u="none" strike="noStrike">
                <a:solidFill>
                  <a:srgbClr val="0D4A85"/>
                </a:solidFill>
                <a:effectLst/>
                <a:uFillTx/>
                <a:latin typeface="Consolas"/>
              </a:rPr>
              <a:t>M8 · ews</a:t>
            </a:r>
            <a:endParaRPr lang="en-US" sz="9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1" name="TextBox 1"/>
          <p:cNvSpPr/>
          <p:nvPr/>
        </p:nvSpPr>
        <p:spPr>
          <a:xfrm>
            <a:off x="11338560" y="384120"/>
            <a:ext cx="548280" cy="228240"/>
          </a:xfrm>
          <a:prstGeom prst="rect">
            <a:avLst/>
          </a:prstGeom>
          <a:noFill/>
          <a:ln w="0">
            <a:noFill/>
          </a:ln>
        </p:spPr>
        <p:style>
          <a:lnRef idx="0"/>
          <a:fillRef idx="0"/>
          <a:effectRef idx="0"/>
          <a:fontRef idx="minor"/>
        </p:style>
        <p:txBody>
          <a:bodyPr lIns="0" tIns="0" rIns="0" bIns="0" anchor="t">
            <a:spAutoFit/>
          </a:bodyPr>
          <a:p>
            <a:pPr algn="r" defTabSz="457200">
              <a:lnSpc>
                <a:spcPct val="100000"/>
              </a:lnSpc>
            </a:pPr>
            <a:r>
              <a:rPr lang="en-US" sz="900" b="0" u="none" strike="noStrike">
                <a:solidFill>
                  <a:srgbClr val="6B7C93"/>
                </a:solidFill>
                <a:effectLst/>
                <a:uFillTx/>
                <a:latin typeface="Consolas"/>
              </a:rPr>
              <a:t>05</a:t>
            </a:r>
            <a:endParaRPr lang="en-US" sz="900" b="0" u="none" strike="noStrike">
              <a:solidFill>
                <a:srgbClr val="000000"/>
              </a:solidFill>
              <a:effectLst/>
              <a:uFillTx/>
              <a:latin typeface="Arial"/>
            </a:endParaRPr>
          </a:p>
        </p:txBody>
      </p:sp>
      <p:sp>
        <p:nvSpPr>
          <p:cNvPr id="162" name="TextBox 2"/>
          <p:cNvSpPr/>
          <p:nvPr/>
        </p:nvSpPr>
        <p:spPr>
          <a:xfrm>
            <a:off x="658440" y="457200"/>
            <a:ext cx="10058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0" u="none" strike="noStrike">
                <a:solidFill>
                  <a:srgbClr val="2166A3"/>
                </a:solidFill>
                <a:effectLst/>
                <a:uFillTx/>
                <a:latin typeface="Consolas"/>
              </a:rPr>
              <a:t>HOW IT WORKS</a:t>
            </a:r>
            <a:endParaRPr lang="en-US" sz="1050" b="0" u="none" strike="noStrike">
              <a:solidFill>
                <a:srgbClr val="000000"/>
              </a:solidFill>
              <a:effectLst/>
              <a:uFillTx/>
              <a:latin typeface="Arial"/>
            </a:endParaRPr>
          </a:p>
        </p:txBody>
      </p:sp>
      <p:sp>
        <p:nvSpPr>
          <p:cNvPr id="163" name="TextBox 3"/>
          <p:cNvSpPr/>
          <p:nvPr/>
        </p:nvSpPr>
        <p:spPr>
          <a:xfrm>
            <a:off x="658440" y="777240"/>
            <a:ext cx="10423800" cy="914040"/>
          </a:xfrm>
          <a:prstGeom prst="rect">
            <a:avLst/>
          </a:prstGeom>
          <a:noFill/>
          <a:ln w="0">
            <a:noFill/>
          </a:ln>
        </p:spPr>
        <p:style>
          <a:lnRef idx="0"/>
          <a:fillRef idx="0"/>
          <a:effectRef idx="0"/>
          <a:fontRef idx="minor"/>
        </p:style>
        <p:txBody>
          <a:bodyPr lIns="0" tIns="0" rIns="0" bIns="0" anchor="t">
            <a:spAutoFit/>
          </a:bodyPr>
          <a:p>
            <a:pPr defTabSz="457200">
              <a:lnSpc>
                <a:spcPct val="95000"/>
              </a:lnSpc>
            </a:pPr>
            <a:r>
              <a:rPr lang="en-US" sz="3200" b="1" u="none" strike="noStrike">
                <a:solidFill>
                  <a:srgbClr val="0A3A68"/>
                </a:solidFill>
                <a:effectLst/>
                <a:uFillTx/>
                <a:latin typeface="Georgia"/>
              </a:rPr>
              <a:t>One application, end to end</a:t>
            </a:r>
            <a:endParaRPr lang="en-US" sz="3200" b="0" u="none" strike="noStrike">
              <a:solidFill>
                <a:srgbClr val="000000"/>
              </a:solidFill>
              <a:effectLst/>
              <a:uFillTx/>
              <a:latin typeface="Arial"/>
            </a:endParaRPr>
          </a:p>
        </p:txBody>
      </p:sp>
      <p:sp>
        <p:nvSpPr>
          <p:cNvPr id="164" name="TextBox 4"/>
          <p:cNvSpPr/>
          <p:nvPr/>
        </p:nvSpPr>
        <p:spPr>
          <a:xfrm>
            <a:off x="658440" y="1645920"/>
            <a:ext cx="10515240" cy="365400"/>
          </a:xfrm>
          <a:prstGeom prst="rect">
            <a:avLst/>
          </a:prstGeom>
          <a:noFill/>
          <a:ln w="0">
            <a:noFill/>
          </a:ln>
        </p:spPr>
        <p:style>
          <a:lnRef idx="0"/>
          <a:fillRef idx="0"/>
          <a:effectRef idx="0"/>
          <a:fontRef idx="minor"/>
        </p:style>
        <p:txBody>
          <a:bodyPr lIns="0" tIns="0" rIns="0" bIns="0" anchor="t">
            <a:spAutoFit/>
          </a:bodyPr>
          <a:p>
            <a:pPr defTabSz="457200">
              <a:lnSpc>
                <a:spcPct val="125000"/>
              </a:lnSpc>
            </a:pPr>
            <a:r>
              <a:rPr lang="en-US" sz="1200" b="0" u="none" strike="noStrike">
                <a:solidFill>
                  <a:srgbClr val="475467"/>
                </a:solidFill>
                <a:effectLst/>
                <a:uFillTx/>
                <a:latin typeface="Segoe UI"/>
              </a:rPr>
              <a:t>Every step is written to a permanent record, and every number a model produced carries a label saying which model made it — all the way to the screen.</a:t>
            </a:r>
            <a:endParaRPr lang="en-US" sz="1200" b="0" u="none" strike="noStrike">
              <a:solidFill>
                <a:srgbClr val="000000"/>
              </a:solidFill>
              <a:effectLst/>
              <a:uFillTx/>
              <a:latin typeface="Arial"/>
            </a:endParaRPr>
          </a:p>
        </p:txBody>
      </p:sp>
      <p:sp>
        <p:nvSpPr>
          <p:cNvPr id="165" name="Rectangle 5"/>
          <p:cNvSpPr/>
          <p:nvPr/>
        </p:nvSpPr>
        <p:spPr>
          <a:xfrm>
            <a:off x="658440" y="2331720"/>
            <a:ext cx="1672920" cy="2285640"/>
          </a:xfrm>
          <a:prstGeom prst="rect">
            <a:avLst/>
          </a:prstGeom>
          <a:noFill/>
          <a:ln>
            <a:solidFill>
              <a:srgbClr val="DBE3E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6" name="Rectangle 6"/>
          <p:cNvSpPr/>
          <p:nvPr/>
        </p:nvSpPr>
        <p:spPr>
          <a:xfrm>
            <a:off x="658440" y="2331720"/>
            <a:ext cx="1672920" cy="40680"/>
          </a:xfrm>
          <a:prstGeom prst="rect">
            <a:avLst/>
          </a:prstGeom>
          <a:solidFill>
            <a:srgbClr val="0D4A8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p>
            <a:endParaRPr lang="en-US" sz="1800" b="0" u="none" strike="noStrike">
              <a:solidFill>
                <a:schemeClr val="lt1"/>
              </a:solidFill>
              <a:effectLst/>
              <a:uFillTx/>
              <a:latin typeface="Calibri"/>
            </a:endParaRPr>
          </a:p>
        </p:txBody>
      </p:sp>
      <p:sp>
        <p:nvSpPr>
          <p:cNvPr id="167" name="TextBox 7"/>
          <p:cNvSpPr/>
          <p:nvPr/>
        </p:nvSpPr>
        <p:spPr>
          <a:xfrm>
            <a:off x="804600" y="2532960"/>
            <a:ext cx="1398600" cy="228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1" u="none" strike="noStrike">
                <a:solidFill>
                  <a:srgbClr val="2166A3"/>
                </a:solidFill>
                <a:effectLst/>
                <a:uFillTx/>
                <a:latin typeface="Consolas"/>
              </a:rPr>
              <a:t>1</a:t>
            </a:r>
            <a:endParaRPr lang="en-US" sz="1100" b="0" u="none" strike="noStrike">
              <a:solidFill>
                <a:srgbClr val="000000"/>
              </a:solidFill>
              <a:effectLst/>
              <a:uFillTx/>
              <a:latin typeface="Arial"/>
            </a:endParaRPr>
          </a:p>
        </p:txBody>
      </p:sp>
      <p:sp>
        <p:nvSpPr>
          <p:cNvPr id="168" name="TextBox 8"/>
          <p:cNvSpPr/>
          <p:nvPr/>
        </p:nvSpPr>
        <p:spPr>
          <a:xfrm>
            <a:off x="804600" y="2807280"/>
            <a:ext cx="1398600" cy="228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1" u="none" strike="noStrike">
                <a:solidFill>
                  <a:srgbClr val="0A3A68"/>
                </a:solidFill>
                <a:effectLst/>
                <a:uFillTx/>
                <a:latin typeface="Georgia"/>
              </a:rPr>
              <a:t>APPLY</a:t>
            </a:r>
            <a:endParaRPr lang="en-US" sz="1250" b="0" u="none" strike="noStrike">
              <a:solidFill>
                <a:srgbClr val="000000"/>
              </a:solidFill>
              <a:effectLst/>
              <a:uFillTx/>
              <a:latin typeface="Arial"/>
            </a:endParaRPr>
          </a:p>
        </p:txBody>
      </p:sp>
      <p:sp>
        <p:nvSpPr>
          <p:cNvPr id="169" name="TextBox 9"/>
          <p:cNvSpPr/>
          <p:nvPr/>
        </p:nvSpPr>
        <p:spPr>
          <a:xfrm>
            <a:off x="804600" y="3081600"/>
            <a:ext cx="1398600" cy="200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850" b="0" u="none" strike="noStrike">
                <a:solidFill>
                  <a:srgbClr val="6B7C93"/>
                </a:solidFill>
                <a:effectLst/>
                <a:uFillTx/>
                <a:latin typeface="Consolas"/>
              </a:rPr>
              <a:t>Customer app</a:t>
            </a:r>
            <a:endParaRPr lang="en-US" sz="850" b="0" u="none" strike="noStrike">
              <a:solidFill>
                <a:srgbClr val="000000"/>
              </a:solidFill>
              <a:effectLst/>
              <a:uFillTx/>
              <a:latin typeface="Arial"/>
            </a:endParaRPr>
          </a:p>
        </p:txBody>
      </p:sp>
      <p:sp>
        <p:nvSpPr>
          <p:cNvPr id="170" name="TextBox 10"/>
          <p:cNvSpPr/>
          <p:nvPr/>
        </p:nvSpPr>
        <p:spPr>
          <a:xfrm>
            <a:off x="804600" y="3355920"/>
            <a:ext cx="1398600" cy="1142640"/>
          </a:xfrm>
          <a:prstGeom prst="rect">
            <a:avLst/>
          </a:prstGeom>
          <a:noFill/>
          <a:ln w="0">
            <a:noFill/>
          </a:ln>
        </p:spPr>
        <p:style>
          <a:lnRef idx="0"/>
          <a:fillRef idx="0"/>
          <a:effectRef idx="0"/>
          <a:fontRef idx="minor"/>
        </p:style>
        <p:txBody>
          <a:bodyPr lIns="0" tIns="0" rIns="0" bIns="0" anchor="t">
            <a:spAutoFit/>
          </a:bodyPr>
          <a:p>
            <a:pPr defTabSz="457200">
              <a:lnSpc>
                <a:spcPct val="116000"/>
              </a:lnSpc>
            </a:pPr>
            <a:r>
              <a:rPr lang="en-US" sz="900" b="0" u="none" strike="noStrike">
                <a:solidFill>
                  <a:srgbClr val="475467"/>
                </a:solidFill>
                <a:effectLst/>
                <a:uFillTx/>
                <a:latin typeface="Segoe UI"/>
              </a:rPr>
              <a:t>Identity, consent and documents. The consent record is kept as carefully as the credit decision.</a:t>
            </a:r>
            <a:endParaRPr lang="en-US" sz="900" b="0" u="none" strike="noStrike">
              <a:solidFill>
                <a:srgbClr val="000000"/>
              </a:solidFill>
              <a:effectLst/>
              <a:uFillTx/>
              <a:latin typeface="Arial"/>
            </a:endParaRPr>
          </a:p>
        </p:txBody>
      </p:sp>
      <p:sp>
        <p:nvSpPr>
          <p:cNvPr id="171" name="TextBox 11"/>
          <p:cNvSpPr/>
          <p:nvPr/>
        </p:nvSpPr>
        <p:spPr>
          <a:xfrm>
            <a:off x="2340720" y="3383280"/>
            <a:ext cx="145800" cy="27396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500" b="1" u="none" strike="noStrike">
                <a:solidFill>
                  <a:srgbClr val="ADC9E5"/>
                </a:solidFill>
                <a:effectLst/>
                <a:uFillTx/>
                <a:latin typeface="Segoe UI"/>
              </a:rPr>
              <a:t>›</a:t>
            </a:r>
            <a:endParaRPr lang="en-US" sz="1500" b="0" u="none" strike="noStrike">
              <a:solidFill>
                <a:srgbClr val="000000"/>
              </a:solidFill>
              <a:effectLst/>
              <a:uFillTx/>
              <a:latin typeface="Arial"/>
            </a:endParaRPr>
          </a:p>
        </p:txBody>
      </p:sp>
      <p:sp>
        <p:nvSpPr>
          <p:cNvPr id="172" name="Rectangle 12"/>
          <p:cNvSpPr/>
          <p:nvPr/>
        </p:nvSpPr>
        <p:spPr>
          <a:xfrm>
            <a:off x="2477880" y="2331720"/>
            <a:ext cx="1672920" cy="2285640"/>
          </a:xfrm>
          <a:prstGeom prst="rect">
            <a:avLst/>
          </a:prstGeom>
          <a:noFill/>
          <a:ln>
            <a:solidFill>
              <a:srgbClr val="DBE3E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3" name="Rectangle 13"/>
          <p:cNvSpPr/>
          <p:nvPr/>
        </p:nvSpPr>
        <p:spPr>
          <a:xfrm>
            <a:off x="2477880" y="2331720"/>
            <a:ext cx="1672920" cy="40680"/>
          </a:xfrm>
          <a:prstGeom prst="rect">
            <a:avLst/>
          </a:prstGeom>
          <a:solidFill>
            <a:srgbClr val="0D4A8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p>
            <a:endParaRPr lang="en-US" sz="1800" b="0" u="none" strike="noStrike">
              <a:solidFill>
                <a:schemeClr val="lt1"/>
              </a:solidFill>
              <a:effectLst/>
              <a:uFillTx/>
              <a:latin typeface="Calibri"/>
            </a:endParaRPr>
          </a:p>
        </p:txBody>
      </p:sp>
      <p:sp>
        <p:nvSpPr>
          <p:cNvPr id="174" name="TextBox 14"/>
          <p:cNvSpPr/>
          <p:nvPr/>
        </p:nvSpPr>
        <p:spPr>
          <a:xfrm>
            <a:off x="2624400" y="2532960"/>
            <a:ext cx="1398600" cy="228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1" u="none" strike="noStrike">
                <a:solidFill>
                  <a:srgbClr val="2166A3"/>
                </a:solidFill>
                <a:effectLst/>
                <a:uFillTx/>
                <a:latin typeface="Consolas"/>
              </a:rPr>
              <a:t>2</a:t>
            </a:r>
            <a:endParaRPr lang="en-US" sz="1100" b="0" u="none" strike="noStrike">
              <a:solidFill>
                <a:srgbClr val="000000"/>
              </a:solidFill>
              <a:effectLst/>
              <a:uFillTx/>
              <a:latin typeface="Arial"/>
            </a:endParaRPr>
          </a:p>
        </p:txBody>
      </p:sp>
      <p:sp>
        <p:nvSpPr>
          <p:cNvPr id="175" name="TextBox 15"/>
          <p:cNvSpPr/>
          <p:nvPr/>
        </p:nvSpPr>
        <p:spPr>
          <a:xfrm>
            <a:off x="2624400" y="2807280"/>
            <a:ext cx="1398600" cy="228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1" u="none" strike="noStrike">
                <a:solidFill>
                  <a:srgbClr val="0A3A68"/>
                </a:solidFill>
                <a:effectLst/>
                <a:uFillTx/>
                <a:latin typeface="Georgia"/>
              </a:rPr>
              <a:t>ENRICH</a:t>
            </a:r>
            <a:endParaRPr lang="en-US" sz="1250" b="0" u="none" strike="noStrike">
              <a:solidFill>
                <a:srgbClr val="000000"/>
              </a:solidFill>
              <a:effectLst/>
              <a:uFillTx/>
              <a:latin typeface="Arial"/>
            </a:endParaRPr>
          </a:p>
        </p:txBody>
      </p:sp>
      <p:sp>
        <p:nvSpPr>
          <p:cNvPr id="176" name="TextBox 16"/>
          <p:cNvSpPr/>
          <p:nvPr/>
        </p:nvSpPr>
        <p:spPr>
          <a:xfrm>
            <a:off x="2624400" y="3081600"/>
            <a:ext cx="1398600" cy="200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850" b="0" u="none" strike="noStrike">
                <a:solidFill>
                  <a:srgbClr val="6B7C93"/>
                </a:solidFill>
                <a:effectLst/>
                <a:uFillTx/>
                <a:latin typeface="Consolas"/>
              </a:rPr>
              <a:t>agri · bureau</a:t>
            </a:r>
            <a:endParaRPr lang="en-US" sz="850" b="0" u="none" strike="noStrike">
              <a:solidFill>
                <a:srgbClr val="000000"/>
              </a:solidFill>
              <a:effectLst/>
              <a:uFillTx/>
              <a:latin typeface="Arial"/>
            </a:endParaRPr>
          </a:p>
        </p:txBody>
      </p:sp>
      <p:sp>
        <p:nvSpPr>
          <p:cNvPr id="177" name="TextBox 17"/>
          <p:cNvSpPr/>
          <p:nvPr/>
        </p:nvSpPr>
        <p:spPr>
          <a:xfrm>
            <a:off x="2624400" y="3355920"/>
            <a:ext cx="1398600" cy="1142640"/>
          </a:xfrm>
          <a:prstGeom prst="rect">
            <a:avLst/>
          </a:prstGeom>
          <a:noFill/>
          <a:ln w="0">
            <a:noFill/>
          </a:ln>
        </p:spPr>
        <p:style>
          <a:lnRef idx="0"/>
          <a:fillRef idx="0"/>
          <a:effectRef idx="0"/>
          <a:fontRef idx="minor"/>
        </p:style>
        <p:txBody>
          <a:bodyPr lIns="0" tIns="0" rIns="0" bIns="0" anchor="t">
            <a:spAutoFit/>
          </a:bodyPr>
          <a:p>
            <a:pPr defTabSz="457200">
              <a:lnSpc>
                <a:spcPct val="116000"/>
              </a:lnSpc>
            </a:pPr>
            <a:r>
              <a:rPr lang="en-US" sz="900" b="0" u="none" strike="noStrike">
                <a:solidFill>
                  <a:srgbClr val="475467"/>
                </a:solidFill>
                <a:effectLst/>
                <a:uFillTx/>
                <a:latin typeface="Segoe UI"/>
              </a:rPr>
              <a:t>Field boundary, rainfall shortfall, crop greenness over time, credit record, bank-statement summary.</a:t>
            </a:r>
            <a:endParaRPr lang="en-US" sz="900" b="0" u="none" strike="noStrike">
              <a:solidFill>
                <a:srgbClr val="000000"/>
              </a:solidFill>
              <a:effectLst/>
              <a:uFillTx/>
              <a:latin typeface="Arial"/>
            </a:endParaRPr>
          </a:p>
        </p:txBody>
      </p:sp>
      <p:sp>
        <p:nvSpPr>
          <p:cNvPr id="178" name="TextBox 18"/>
          <p:cNvSpPr/>
          <p:nvPr/>
        </p:nvSpPr>
        <p:spPr>
          <a:xfrm>
            <a:off x="4160520" y="3383280"/>
            <a:ext cx="145800" cy="27396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500" b="1" u="none" strike="noStrike">
                <a:solidFill>
                  <a:srgbClr val="ADC9E5"/>
                </a:solidFill>
                <a:effectLst/>
                <a:uFillTx/>
                <a:latin typeface="Segoe UI"/>
              </a:rPr>
              <a:t>›</a:t>
            </a:r>
            <a:endParaRPr lang="en-US" sz="1500" b="0" u="none" strike="noStrike">
              <a:solidFill>
                <a:srgbClr val="000000"/>
              </a:solidFill>
              <a:effectLst/>
              <a:uFillTx/>
              <a:latin typeface="Arial"/>
            </a:endParaRPr>
          </a:p>
        </p:txBody>
      </p:sp>
      <p:sp>
        <p:nvSpPr>
          <p:cNvPr id="179" name="Rectangle 19"/>
          <p:cNvSpPr/>
          <p:nvPr/>
        </p:nvSpPr>
        <p:spPr>
          <a:xfrm>
            <a:off x="4297680" y="2331720"/>
            <a:ext cx="1672920" cy="2285640"/>
          </a:xfrm>
          <a:prstGeom prst="rect">
            <a:avLst/>
          </a:prstGeom>
          <a:noFill/>
          <a:ln>
            <a:solidFill>
              <a:srgbClr val="DBE3E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0" name="Rectangle 20"/>
          <p:cNvSpPr/>
          <p:nvPr/>
        </p:nvSpPr>
        <p:spPr>
          <a:xfrm>
            <a:off x="4297680" y="2331720"/>
            <a:ext cx="1672920" cy="40680"/>
          </a:xfrm>
          <a:prstGeom prst="rect">
            <a:avLst/>
          </a:prstGeom>
          <a:solidFill>
            <a:srgbClr val="0D4A8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p>
            <a:endParaRPr lang="en-US" sz="1800" b="0" u="none" strike="noStrike">
              <a:solidFill>
                <a:schemeClr val="lt1"/>
              </a:solidFill>
              <a:effectLst/>
              <a:uFillTx/>
              <a:latin typeface="Calibri"/>
            </a:endParaRPr>
          </a:p>
        </p:txBody>
      </p:sp>
      <p:sp>
        <p:nvSpPr>
          <p:cNvPr id="181" name="TextBox 21"/>
          <p:cNvSpPr/>
          <p:nvPr/>
        </p:nvSpPr>
        <p:spPr>
          <a:xfrm>
            <a:off x="4443840" y="2532960"/>
            <a:ext cx="1398600" cy="228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1" u="none" strike="noStrike">
                <a:solidFill>
                  <a:srgbClr val="2166A3"/>
                </a:solidFill>
                <a:effectLst/>
                <a:uFillTx/>
                <a:latin typeface="Consolas"/>
              </a:rPr>
              <a:t>3</a:t>
            </a:r>
            <a:endParaRPr lang="en-US" sz="1100" b="0" u="none" strike="noStrike">
              <a:solidFill>
                <a:srgbClr val="000000"/>
              </a:solidFill>
              <a:effectLst/>
              <a:uFillTx/>
              <a:latin typeface="Arial"/>
            </a:endParaRPr>
          </a:p>
        </p:txBody>
      </p:sp>
      <p:sp>
        <p:nvSpPr>
          <p:cNvPr id="182" name="TextBox 22"/>
          <p:cNvSpPr/>
          <p:nvPr/>
        </p:nvSpPr>
        <p:spPr>
          <a:xfrm>
            <a:off x="4443840" y="2807280"/>
            <a:ext cx="1398600" cy="228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1" u="none" strike="noStrike">
                <a:solidFill>
                  <a:srgbClr val="0A3A68"/>
                </a:solidFill>
                <a:effectLst/>
                <a:uFillTx/>
                <a:latin typeface="Georgia"/>
              </a:rPr>
              <a:t>SCREEN</a:t>
            </a:r>
            <a:endParaRPr lang="en-US" sz="1250" b="0" u="none" strike="noStrike">
              <a:solidFill>
                <a:srgbClr val="000000"/>
              </a:solidFill>
              <a:effectLst/>
              <a:uFillTx/>
              <a:latin typeface="Arial"/>
            </a:endParaRPr>
          </a:p>
        </p:txBody>
      </p:sp>
      <p:sp>
        <p:nvSpPr>
          <p:cNvPr id="183" name="TextBox 23"/>
          <p:cNvSpPr/>
          <p:nvPr/>
        </p:nvSpPr>
        <p:spPr>
          <a:xfrm>
            <a:off x="4443840" y="3081600"/>
            <a:ext cx="1398600" cy="200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850" b="0" u="none" strike="noStrike">
                <a:solidFill>
                  <a:srgbClr val="6B7C93"/>
                </a:solidFill>
                <a:effectLst/>
                <a:uFillTx/>
                <a:latin typeface="Consolas"/>
              </a:rPr>
              <a:t>fraud</a:t>
            </a:r>
            <a:endParaRPr lang="en-US" sz="850" b="0" u="none" strike="noStrike">
              <a:solidFill>
                <a:srgbClr val="000000"/>
              </a:solidFill>
              <a:effectLst/>
              <a:uFillTx/>
              <a:latin typeface="Arial"/>
            </a:endParaRPr>
          </a:p>
        </p:txBody>
      </p:sp>
      <p:sp>
        <p:nvSpPr>
          <p:cNvPr id="184" name="TextBox 24"/>
          <p:cNvSpPr/>
          <p:nvPr/>
        </p:nvSpPr>
        <p:spPr>
          <a:xfrm>
            <a:off x="4443840" y="3355920"/>
            <a:ext cx="1398600" cy="1142640"/>
          </a:xfrm>
          <a:prstGeom prst="rect">
            <a:avLst/>
          </a:prstGeom>
          <a:noFill/>
          <a:ln w="0">
            <a:noFill/>
          </a:ln>
        </p:spPr>
        <p:style>
          <a:lnRef idx="0"/>
          <a:fillRef idx="0"/>
          <a:effectRef idx="0"/>
          <a:fontRef idx="minor"/>
        </p:style>
        <p:txBody>
          <a:bodyPr lIns="0" tIns="0" rIns="0" bIns="0" anchor="t">
            <a:spAutoFit/>
          </a:bodyPr>
          <a:p>
            <a:pPr defTabSz="457200">
              <a:lnSpc>
                <a:spcPct val="116000"/>
              </a:lnSpc>
            </a:pPr>
            <a:r>
              <a:rPr lang="en-US" sz="900" b="0" u="none" strike="noStrike">
                <a:solidFill>
                  <a:srgbClr val="475467"/>
                </a:solidFill>
                <a:effectLst/>
                <a:uFillTx/>
                <a:latin typeface="Segoe UI"/>
              </a:rPr>
              <a:t>Match against other applications by phone, device and address. Flag unusual behaviour and hidden clusters.</a:t>
            </a:r>
            <a:endParaRPr lang="en-US" sz="900" b="0" u="none" strike="noStrike">
              <a:solidFill>
                <a:srgbClr val="000000"/>
              </a:solidFill>
              <a:effectLst/>
              <a:uFillTx/>
              <a:latin typeface="Arial"/>
            </a:endParaRPr>
          </a:p>
        </p:txBody>
      </p:sp>
      <p:sp>
        <p:nvSpPr>
          <p:cNvPr id="185" name="TextBox 25"/>
          <p:cNvSpPr/>
          <p:nvPr/>
        </p:nvSpPr>
        <p:spPr>
          <a:xfrm>
            <a:off x="5980320" y="3383280"/>
            <a:ext cx="145800" cy="27396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500" b="1" u="none" strike="noStrike">
                <a:solidFill>
                  <a:srgbClr val="ADC9E5"/>
                </a:solidFill>
                <a:effectLst/>
                <a:uFillTx/>
                <a:latin typeface="Segoe UI"/>
              </a:rPr>
              <a:t>›</a:t>
            </a:r>
            <a:endParaRPr lang="en-US" sz="1500" b="0" u="none" strike="noStrike">
              <a:solidFill>
                <a:srgbClr val="000000"/>
              </a:solidFill>
              <a:effectLst/>
              <a:uFillTx/>
              <a:latin typeface="Arial"/>
            </a:endParaRPr>
          </a:p>
        </p:txBody>
      </p:sp>
      <p:sp>
        <p:nvSpPr>
          <p:cNvPr id="186" name="Rectangle 26"/>
          <p:cNvSpPr/>
          <p:nvPr/>
        </p:nvSpPr>
        <p:spPr>
          <a:xfrm>
            <a:off x="6117480" y="2331720"/>
            <a:ext cx="1672920" cy="2285640"/>
          </a:xfrm>
          <a:prstGeom prst="rect">
            <a:avLst/>
          </a:prstGeom>
          <a:noFill/>
          <a:ln>
            <a:solidFill>
              <a:srgbClr val="DBE3E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7" name="Rectangle 27"/>
          <p:cNvSpPr/>
          <p:nvPr/>
        </p:nvSpPr>
        <p:spPr>
          <a:xfrm>
            <a:off x="6117480" y="2331720"/>
            <a:ext cx="1672920" cy="40680"/>
          </a:xfrm>
          <a:prstGeom prst="rect">
            <a:avLst/>
          </a:prstGeom>
          <a:solidFill>
            <a:srgbClr val="0D4A8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p>
            <a:endParaRPr lang="en-US" sz="1800" b="0" u="none" strike="noStrike">
              <a:solidFill>
                <a:schemeClr val="lt1"/>
              </a:solidFill>
              <a:effectLst/>
              <a:uFillTx/>
              <a:latin typeface="Calibri"/>
            </a:endParaRPr>
          </a:p>
        </p:txBody>
      </p:sp>
      <p:sp>
        <p:nvSpPr>
          <p:cNvPr id="188" name="TextBox 28"/>
          <p:cNvSpPr/>
          <p:nvPr/>
        </p:nvSpPr>
        <p:spPr>
          <a:xfrm>
            <a:off x="6263640" y="2532960"/>
            <a:ext cx="1398600" cy="228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1" u="none" strike="noStrike">
                <a:solidFill>
                  <a:srgbClr val="2166A3"/>
                </a:solidFill>
                <a:effectLst/>
                <a:uFillTx/>
                <a:latin typeface="Consolas"/>
              </a:rPr>
              <a:t>4</a:t>
            </a:r>
            <a:endParaRPr lang="en-US" sz="1100" b="0" u="none" strike="noStrike">
              <a:solidFill>
                <a:srgbClr val="000000"/>
              </a:solidFill>
              <a:effectLst/>
              <a:uFillTx/>
              <a:latin typeface="Arial"/>
            </a:endParaRPr>
          </a:p>
        </p:txBody>
      </p:sp>
      <p:sp>
        <p:nvSpPr>
          <p:cNvPr id="189" name="TextBox 29"/>
          <p:cNvSpPr/>
          <p:nvPr/>
        </p:nvSpPr>
        <p:spPr>
          <a:xfrm>
            <a:off x="6263640" y="2807280"/>
            <a:ext cx="1398600" cy="228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1" u="none" strike="noStrike">
                <a:solidFill>
                  <a:srgbClr val="0A3A68"/>
                </a:solidFill>
                <a:effectLst/>
                <a:uFillTx/>
                <a:latin typeface="Georgia"/>
              </a:rPr>
              <a:t>SCORE</a:t>
            </a:r>
            <a:endParaRPr lang="en-US" sz="1250" b="0" u="none" strike="noStrike">
              <a:solidFill>
                <a:srgbClr val="000000"/>
              </a:solidFill>
              <a:effectLst/>
              <a:uFillTx/>
              <a:latin typeface="Arial"/>
            </a:endParaRPr>
          </a:p>
        </p:txBody>
      </p:sp>
      <p:sp>
        <p:nvSpPr>
          <p:cNvPr id="190" name="TextBox 30"/>
          <p:cNvSpPr/>
          <p:nvPr/>
        </p:nvSpPr>
        <p:spPr>
          <a:xfrm>
            <a:off x="6263640" y="3081600"/>
            <a:ext cx="1398600" cy="200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850" b="0" u="none" strike="noStrike">
                <a:solidFill>
                  <a:srgbClr val="6B7C93"/>
                </a:solidFill>
                <a:effectLst/>
                <a:uFillTx/>
                <a:latin typeface="Consolas"/>
              </a:rPr>
              <a:t>scoring</a:t>
            </a:r>
            <a:endParaRPr lang="en-US" sz="850" b="0" u="none" strike="noStrike">
              <a:solidFill>
                <a:srgbClr val="000000"/>
              </a:solidFill>
              <a:effectLst/>
              <a:uFillTx/>
              <a:latin typeface="Arial"/>
            </a:endParaRPr>
          </a:p>
        </p:txBody>
      </p:sp>
      <p:sp>
        <p:nvSpPr>
          <p:cNvPr id="191" name="TextBox 31"/>
          <p:cNvSpPr/>
          <p:nvPr/>
        </p:nvSpPr>
        <p:spPr>
          <a:xfrm>
            <a:off x="6263640" y="3355920"/>
            <a:ext cx="1398600" cy="1142640"/>
          </a:xfrm>
          <a:prstGeom prst="rect">
            <a:avLst/>
          </a:prstGeom>
          <a:noFill/>
          <a:ln w="0">
            <a:noFill/>
          </a:ln>
        </p:spPr>
        <p:style>
          <a:lnRef idx="0"/>
          <a:fillRef idx="0"/>
          <a:effectRef idx="0"/>
          <a:fontRef idx="minor"/>
        </p:style>
        <p:txBody>
          <a:bodyPr lIns="0" tIns="0" rIns="0" bIns="0" anchor="t">
            <a:spAutoFit/>
          </a:bodyPr>
          <a:p>
            <a:pPr defTabSz="457200">
              <a:lnSpc>
                <a:spcPct val="116000"/>
              </a:lnSpc>
            </a:pPr>
            <a:r>
              <a:rPr lang="en-US" sz="900" b="0" u="none" strike="noStrike">
                <a:solidFill>
                  <a:srgbClr val="475467"/>
                </a:solidFill>
                <a:effectLst/>
                <a:uFillTx/>
                <a:latin typeface="Segoe UI"/>
              </a:rPr>
              <a:t>Two models score the application and the reasons are recorded. Policy decides: approve, review or decline.</a:t>
            </a:r>
            <a:endParaRPr lang="en-US" sz="900" b="0" u="none" strike="noStrike">
              <a:solidFill>
                <a:srgbClr val="000000"/>
              </a:solidFill>
              <a:effectLst/>
              <a:uFillTx/>
              <a:latin typeface="Arial"/>
            </a:endParaRPr>
          </a:p>
        </p:txBody>
      </p:sp>
      <p:sp>
        <p:nvSpPr>
          <p:cNvPr id="192" name="TextBox 32"/>
          <p:cNvSpPr/>
          <p:nvPr/>
        </p:nvSpPr>
        <p:spPr>
          <a:xfrm>
            <a:off x="7799760" y="3383280"/>
            <a:ext cx="145800" cy="27396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500" b="1" u="none" strike="noStrike">
                <a:solidFill>
                  <a:srgbClr val="ADC9E5"/>
                </a:solidFill>
                <a:effectLst/>
                <a:uFillTx/>
                <a:latin typeface="Segoe UI"/>
              </a:rPr>
              <a:t>›</a:t>
            </a:r>
            <a:endParaRPr lang="en-US" sz="1500" b="0" u="none" strike="noStrike">
              <a:solidFill>
                <a:srgbClr val="000000"/>
              </a:solidFill>
              <a:effectLst/>
              <a:uFillTx/>
              <a:latin typeface="Arial"/>
            </a:endParaRPr>
          </a:p>
        </p:txBody>
      </p:sp>
      <p:sp>
        <p:nvSpPr>
          <p:cNvPr id="193" name="Rectangle 33"/>
          <p:cNvSpPr/>
          <p:nvPr/>
        </p:nvSpPr>
        <p:spPr>
          <a:xfrm>
            <a:off x="7936920" y="2331720"/>
            <a:ext cx="1672920" cy="2285640"/>
          </a:xfrm>
          <a:prstGeom prst="rect">
            <a:avLst/>
          </a:prstGeom>
          <a:noFill/>
          <a:ln>
            <a:solidFill>
              <a:srgbClr val="DBE3E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4" name="Rectangle 34"/>
          <p:cNvSpPr/>
          <p:nvPr/>
        </p:nvSpPr>
        <p:spPr>
          <a:xfrm>
            <a:off x="7936920" y="2331720"/>
            <a:ext cx="1672920" cy="40680"/>
          </a:xfrm>
          <a:prstGeom prst="rect">
            <a:avLst/>
          </a:prstGeom>
          <a:solidFill>
            <a:srgbClr val="0D4A8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p>
            <a:endParaRPr lang="en-US" sz="1800" b="0" u="none" strike="noStrike">
              <a:solidFill>
                <a:schemeClr val="lt1"/>
              </a:solidFill>
              <a:effectLst/>
              <a:uFillTx/>
              <a:latin typeface="Calibri"/>
            </a:endParaRPr>
          </a:p>
        </p:txBody>
      </p:sp>
      <p:sp>
        <p:nvSpPr>
          <p:cNvPr id="195" name="TextBox 35"/>
          <p:cNvSpPr/>
          <p:nvPr/>
        </p:nvSpPr>
        <p:spPr>
          <a:xfrm>
            <a:off x="8083440" y="2532960"/>
            <a:ext cx="1398600" cy="228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1" u="none" strike="noStrike">
                <a:solidFill>
                  <a:srgbClr val="2166A3"/>
                </a:solidFill>
                <a:effectLst/>
                <a:uFillTx/>
                <a:latin typeface="Consolas"/>
              </a:rPr>
              <a:t>5</a:t>
            </a:r>
            <a:endParaRPr lang="en-US" sz="1100" b="0" u="none" strike="noStrike">
              <a:solidFill>
                <a:srgbClr val="000000"/>
              </a:solidFill>
              <a:effectLst/>
              <a:uFillTx/>
              <a:latin typeface="Arial"/>
            </a:endParaRPr>
          </a:p>
        </p:txBody>
      </p:sp>
      <p:sp>
        <p:nvSpPr>
          <p:cNvPr id="196" name="TextBox 36"/>
          <p:cNvSpPr/>
          <p:nvPr/>
        </p:nvSpPr>
        <p:spPr>
          <a:xfrm>
            <a:off x="8083440" y="2807280"/>
            <a:ext cx="1398600" cy="228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1" u="none" strike="noStrike">
                <a:solidFill>
                  <a:srgbClr val="0A3A68"/>
                </a:solidFill>
                <a:effectLst/>
                <a:uFillTx/>
                <a:latin typeface="Georgia"/>
              </a:rPr>
              <a:t>OFFER</a:t>
            </a:r>
            <a:endParaRPr lang="en-US" sz="1250" b="0" u="none" strike="noStrike">
              <a:solidFill>
                <a:srgbClr val="000000"/>
              </a:solidFill>
              <a:effectLst/>
              <a:uFillTx/>
              <a:latin typeface="Arial"/>
            </a:endParaRPr>
          </a:p>
        </p:txBody>
      </p:sp>
      <p:sp>
        <p:nvSpPr>
          <p:cNvPr id="197" name="TextBox 37"/>
          <p:cNvSpPr/>
          <p:nvPr/>
        </p:nvSpPr>
        <p:spPr>
          <a:xfrm>
            <a:off x="8083440" y="3081600"/>
            <a:ext cx="1398600" cy="200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850" b="0" u="none" strike="noStrike">
                <a:solidFill>
                  <a:srgbClr val="6B7C93"/>
                </a:solidFill>
                <a:effectLst/>
                <a:uFillTx/>
                <a:latin typeface="Consolas"/>
              </a:rPr>
              <a:t>reco</a:t>
            </a:r>
            <a:endParaRPr lang="en-US" sz="850" b="0" u="none" strike="noStrike">
              <a:solidFill>
                <a:srgbClr val="000000"/>
              </a:solidFill>
              <a:effectLst/>
              <a:uFillTx/>
              <a:latin typeface="Arial"/>
            </a:endParaRPr>
          </a:p>
        </p:txBody>
      </p:sp>
      <p:sp>
        <p:nvSpPr>
          <p:cNvPr id="198" name="TextBox 38"/>
          <p:cNvSpPr/>
          <p:nvPr/>
        </p:nvSpPr>
        <p:spPr>
          <a:xfrm>
            <a:off x="8083440" y="3355920"/>
            <a:ext cx="1398600" cy="1142640"/>
          </a:xfrm>
          <a:prstGeom prst="rect">
            <a:avLst/>
          </a:prstGeom>
          <a:noFill/>
          <a:ln w="0">
            <a:noFill/>
          </a:ln>
        </p:spPr>
        <p:style>
          <a:lnRef idx="0"/>
          <a:fillRef idx="0"/>
          <a:effectRef idx="0"/>
          <a:fontRef idx="minor"/>
        </p:style>
        <p:txBody>
          <a:bodyPr lIns="0" tIns="0" rIns="0" bIns="0" anchor="t">
            <a:spAutoFit/>
          </a:bodyPr>
          <a:p>
            <a:pPr defTabSz="457200">
              <a:lnSpc>
                <a:spcPct val="116000"/>
              </a:lnSpc>
            </a:pPr>
            <a:r>
              <a:rPr lang="en-US" sz="900" b="0" u="none" strike="noStrike">
                <a:solidFill>
                  <a:srgbClr val="475467"/>
                </a:solidFill>
                <a:effectLst/>
                <a:uFillTx/>
                <a:latin typeface="Segoe UI"/>
              </a:rPr>
              <a:t>Work out what the borrower can afford, price it, then rank the options that policy allows.</a:t>
            </a:r>
            <a:endParaRPr lang="en-US" sz="900" b="0" u="none" strike="noStrike">
              <a:solidFill>
                <a:srgbClr val="000000"/>
              </a:solidFill>
              <a:effectLst/>
              <a:uFillTx/>
              <a:latin typeface="Arial"/>
            </a:endParaRPr>
          </a:p>
        </p:txBody>
      </p:sp>
      <p:sp>
        <p:nvSpPr>
          <p:cNvPr id="199" name="TextBox 39"/>
          <p:cNvSpPr/>
          <p:nvPr/>
        </p:nvSpPr>
        <p:spPr>
          <a:xfrm>
            <a:off x="9619560" y="3383280"/>
            <a:ext cx="145800" cy="27396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500" b="1" u="none" strike="noStrike">
                <a:solidFill>
                  <a:srgbClr val="ADC9E5"/>
                </a:solidFill>
                <a:effectLst/>
                <a:uFillTx/>
                <a:latin typeface="Segoe UI"/>
              </a:rPr>
              <a:t>›</a:t>
            </a:r>
            <a:endParaRPr lang="en-US" sz="1500" b="0" u="none" strike="noStrike">
              <a:solidFill>
                <a:srgbClr val="000000"/>
              </a:solidFill>
              <a:effectLst/>
              <a:uFillTx/>
              <a:latin typeface="Arial"/>
            </a:endParaRPr>
          </a:p>
        </p:txBody>
      </p:sp>
      <p:sp>
        <p:nvSpPr>
          <p:cNvPr id="200" name="Rectangle 40"/>
          <p:cNvSpPr/>
          <p:nvPr/>
        </p:nvSpPr>
        <p:spPr>
          <a:xfrm>
            <a:off x="9756720" y="2331720"/>
            <a:ext cx="1672920" cy="2285640"/>
          </a:xfrm>
          <a:prstGeom prst="rect">
            <a:avLst/>
          </a:prstGeom>
          <a:noFill/>
          <a:ln>
            <a:solidFill>
              <a:srgbClr val="DBE3E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1" name="Rectangle 41"/>
          <p:cNvSpPr/>
          <p:nvPr/>
        </p:nvSpPr>
        <p:spPr>
          <a:xfrm>
            <a:off x="9756720" y="2331720"/>
            <a:ext cx="1672920" cy="40680"/>
          </a:xfrm>
          <a:prstGeom prst="rect">
            <a:avLst/>
          </a:prstGeom>
          <a:solidFill>
            <a:srgbClr val="0D4A8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p>
            <a:endParaRPr lang="en-US" sz="1800" b="0" u="none" strike="noStrike">
              <a:solidFill>
                <a:schemeClr val="lt1"/>
              </a:solidFill>
              <a:effectLst/>
              <a:uFillTx/>
              <a:latin typeface="Calibri"/>
            </a:endParaRPr>
          </a:p>
        </p:txBody>
      </p:sp>
      <p:sp>
        <p:nvSpPr>
          <p:cNvPr id="202" name="TextBox 42"/>
          <p:cNvSpPr/>
          <p:nvPr/>
        </p:nvSpPr>
        <p:spPr>
          <a:xfrm>
            <a:off x="9902880" y="2532960"/>
            <a:ext cx="1398600" cy="228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1" u="none" strike="noStrike">
                <a:solidFill>
                  <a:srgbClr val="2166A3"/>
                </a:solidFill>
                <a:effectLst/>
                <a:uFillTx/>
                <a:latin typeface="Consolas"/>
              </a:rPr>
              <a:t>6</a:t>
            </a:r>
            <a:endParaRPr lang="en-US" sz="1100" b="0" u="none" strike="noStrike">
              <a:solidFill>
                <a:srgbClr val="000000"/>
              </a:solidFill>
              <a:effectLst/>
              <a:uFillTx/>
              <a:latin typeface="Arial"/>
            </a:endParaRPr>
          </a:p>
        </p:txBody>
      </p:sp>
      <p:sp>
        <p:nvSpPr>
          <p:cNvPr id="203" name="TextBox 43"/>
          <p:cNvSpPr/>
          <p:nvPr/>
        </p:nvSpPr>
        <p:spPr>
          <a:xfrm>
            <a:off x="9902880" y="2807280"/>
            <a:ext cx="1398600" cy="228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50" b="1" u="none" strike="noStrike">
                <a:solidFill>
                  <a:srgbClr val="0A3A68"/>
                </a:solidFill>
                <a:effectLst/>
                <a:uFillTx/>
                <a:latin typeface="Georgia"/>
              </a:rPr>
              <a:t>MONITOR</a:t>
            </a:r>
            <a:endParaRPr lang="en-US" sz="1250" b="0" u="none" strike="noStrike">
              <a:solidFill>
                <a:srgbClr val="000000"/>
              </a:solidFill>
              <a:effectLst/>
              <a:uFillTx/>
              <a:latin typeface="Arial"/>
            </a:endParaRPr>
          </a:p>
        </p:txBody>
      </p:sp>
      <p:sp>
        <p:nvSpPr>
          <p:cNvPr id="204" name="TextBox 44"/>
          <p:cNvSpPr/>
          <p:nvPr/>
        </p:nvSpPr>
        <p:spPr>
          <a:xfrm>
            <a:off x="9902880" y="3081600"/>
            <a:ext cx="1398600" cy="200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850" b="0" u="none" strike="noStrike">
                <a:solidFill>
                  <a:srgbClr val="6B7C93"/>
                </a:solidFill>
                <a:effectLst/>
                <a:uFillTx/>
                <a:latin typeface="Consolas"/>
              </a:rPr>
              <a:t>portfolio · ews</a:t>
            </a:r>
            <a:endParaRPr lang="en-US" sz="850" b="0" u="none" strike="noStrike">
              <a:solidFill>
                <a:srgbClr val="000000"/>
              </a:solidFill>
              <a:effectLst/>
              <a:uFillTx/>
              <a:latin typeface="Arial"/>
            </a:endParaRPr>
          </a:p>
        </p:txBody>
      </p:sp>
      <p:sp>
        <p:nvSpPr>
          <p:cNvPr id="205" name="TextBox 45"/>
          <p:cNvSpPr/>
          <p:nvPr/>
        </p:nvSpPr>
        <p:spPr>
          <a:xfrm>
            <a:off x="9902880" y="3355920"/>
            <a:ext cx="1398600" cy="1142640"/>
          </a:xfrm>
          <a:prstGeom prst="rect">
            <a:avLst/>
          </a:prstGeom>
          <a:noFill/>
          <a:ln w="0">
            <a:noFill/>
          </a:ln>
        </p:spPr>
        <p:style>
          <a:lnRef idx="0"/>
          <a:fillRef idx="0"/>
          <a:effectRef idx="0"/>
          <a:fontRef idx="minor"/>
        </p:style>
        <p:txBody>
          <a:bodyPr lIns="0" tIns="0" rIns="0" bIns="0" anchor="t">
            <a:spAutoFit/>
          </a:bodyPr>
          <a:p>
            <a:pPr defTabSz="457200">
              <a:lnSpc>
                <a:spcPct val="116000"/>
              </a:lnSpc>
            </a:pPr>
            <a:r>
              <a:rPr lang="en-US" sz="900" b="0" u="none" strike="noStrike">
                <a:solidFill>
                  <a:srgbClr val="475467"/>
                </a:solidFill>
                <a:effectLst/>
                <a:uFillTx/>
                <a:latin typeface="Segoe UI"/>
              </a:rPr>
              <a:t>Risk re-estimated every month. A change in behaviour raises an alert with somebody's name on it.</a:t>
            </a:r>
            <a:endParaRPr lang="en-US" sz="900" b="0" u="none" strike="noStrike">
              <a:solidFill>
                <a:srgbClr val="000000"/>
              </a:solidFill>
              <a:effectLst/>
              <a:uFillTx/>
              <a:latin typeface="Arial"/>
            </a:endParaRPr>
          </a:p>
        </p:txBody>
      </p:sp>
      <p:sp>
        <p:nvSpPr>
          <p:cNvPr id="206" name="Rectangle 46"/>
          <p:cNvSpPr/>
          <p:nvPr/>
        </p:nvSpPr>
        <p:spPr>
          <a:xfrm>
            <a:off x="658440" y="4892040"/>
            <a:ext cx="10881000" cy="868320"/>
          </a:xfrm>
          <a:prstGeom prst="rect">
            <a:avLst/>
          </a:prstGeom>
          <a:solidFill>
            <a:srgbClr val="EEF4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7" name="Rectangle 47"/>
          <p:cNvSpPr/>
          <p:nvPr/>
        </p:nvSpPr>
        <p:spPr>
          <a:xfrm>
            <a:off x="658440" y="4892040"/>
            <a:ext cx="36360" cy="868320"/>
          </a:xfrm>
          <a:prstGeom prst="rect">
            <a:avLst/>
          </a:prstGeom>
          <a:solidFill>
            <a:srgbClr val="2166A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8" name="TextBox 48"/>
          <p:cNvSpPr/>
          <p:nvPr/>
        </p:nvSpPr>
        <p:spPr>
          <a:xfrm>
            <a:off x="859680" y="5010840"/>
            <a:ext cx="10496880" cy="63072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150" b="0" u="none" strike="noStrike">
                <a:solidFill>
                  <a:srgbClr val="475467"/>
                </a:solidFill>
                <a:effectLst/>
                <a:uFillTx/>
                <a:latin typeface="Segoe UI"/>
              </a:rPr>
              <a:t>The screens only ever talk to one backend, never straight to a model. If a score arrives without its label, the app refuses to show it — so a number nobody can trace never reaches a customer.</a:t>
            </a:r>
            <a:endParaRPr lang="en-US" sz="1150" b="0" u="none" strike="noStrike">
              <a:solidFill>
                <a:srgbClr val="000000"/>
              </a:solidFill>
              <a:effectLst/>
              <a:uFillTx/>
              <a:latin typeface="Arial"/>
            </a:endParaRPr>
          </a:p>
        </p:txBody>
      </p:sp>
      <p:sp>
        <p:nvSpPr>
          <p:cNvPr id="209" name="Rectangle 49"/>
          <p:cNvSpPr/>
          <p:nvPr/>
        </p:nvSpPr>
        <p:spPr>
          <a:xfrm>
            <a:off x="658440" y="5897880"/>
            <a:ext cx="10881000" cy="658080"/>
          </a:xfrm>
          <a:prstGeom prst="rect">
            <a:avLst/>
          </a:prstGeom>
          <a:solidFill>
            <a:srgbClr val="FDF3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0" name="Rectangle 50"/>
          <p:cNvSpPr/>
          <p:nvPr/>
        </p:nvSpPr>
        <p:spPr>
          <a:xfrm>
            <a:off x="658440" y="5897880"/>
            <a:ext cx="36360" cy="658080"/>
          </a:xfrm>
          <a:prstGeom prst="rect">
            <a:avLst/>
          </a:prstGeom>
          <a:solidFill>
            <a:srgbClr val="B547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1" name="TextBox 51"/>
          <p:cNvSpPr/>
          <p:nvPr/>
        </p:nvSpPr>
        <p:spPr>
          <a:xfrm>
            <a:off x="859680" y="6016680"/>
            <a:ext cx="10496880" cy="42012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150" b="0" u="none" strike="noStrike">
                <a:solidFill>
                  <a:srgbClr val="475467"/>
                </a:solidFill>
                <a:effectLst/>
                <a:uFillTx/>
                <a:latin typeface="Segoe UI"/>
              </a:rPr>
              <a:t>Where a step needs a number nobody has approved, it stops and says who must approve it. Seventeen of the twenty-one endpoints do exactly that today.</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2" name="TextBox 1"/>
          <p:cNvSpPr/>
          <p:nvPr/>
        </p:nvSpPr>
        <p:spPr>
          <a:xfrm>
            <a:off x="11338560" y="384120"/>
            <a:ext cx="548280" cy="228240"/>
          </a:xfrm>
          <a:prstGeom prst="rect">
            <a:avLst/>
          </a:prstGeom>
          <a:noFill/>
          <a:ln w="0">
            <a:noFill/>
          </a:ln>
        </p:spPr>
        <p:style>
          <a:lnRef idx="0"/>
          <a:fillRef idx="0"/>
          <a:effectRef idx="0"/>
          <a:fontRef idx="minor"/>
        </p:style>
        <p:txBody>
          <a:bodyPr lIns="0" tIns="0" rIns="0" bIns="0" anchor="t">
            <a:spAutoFit/>
          </a:bodyPr>
          <a:p>
            <a:pPr algn="r" defTabSz="457200">
              <a:lnSpc>
                <a:spcPct val="100000"/>
              </a:lnSpc>
            </a:pPr>
            <a:r>
              <a:rPr lang="en-US" sz="900" b="0" u="none" strike="noStrike">
                <a:solidFill>
                  <a:srgbClr val="6B7C93"/>
                </a:solidFill>
                <a:effectLst/>
                <a:uFillTx/>
                <a:latin typeface="Consolas"/>
              </a:rPr>
              <a:t>06</a:t>
            </a:r>
            <a:endParaRPr lang="en-US" sz="900" b="0" u="none" strike="noStrike">
              <a:solidFill>
                <a:srgbClr val="000000"/>
              </a:solidFill>
              <a:effectLst/>
              <a:uFillTx/>
              <a:latin typeface="Arial"/>
            </a:endParaRPr>
          </a:p>
        </p:txBody>
      </p:sp>
      <p:sp>
        <p:nvSpPr>
          <p:cNvPr id="213" name="TextBox 2"/>
          <p:cNvSpPr/>
          <p:nvPr/>
        </p:nvSpPr>
        <p:spPr>
          <a:xfrm>
            <a:off x="658440" y="457200"/>
            <a:ext cx="10058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0" u="none" strike="noStrike">
                <a:solidFill>
                  <a:srgbClr val="2166A3"/>
                </a:solidFill>
                <a:effectLst/>
                <a:uFillTx/>
                <a:latin typeface="Consolas"/>
              </a:rPr>
              <a:t>SCOPE</a:t>
            </a:r>
            <a:endParaRPr lang="en-US" sz="1050" b="0" u="none" strike="noStrike">
              <a:solidFill>
                <a:srgbClr val="000000"/>
              </a:solidFill>
              <a:effectLst/>
              <a:uFillTx/>
              <a:latin typeface="Arial"/>
            </a:endParaRPr>
          </a:p>
        </p:txBody>
      </p:sp>
      <p:sp>
        <p:nvSpPr>
          <p:cNvPr id="214" name="TextBox 3"/>
          <p:cNvSpPr/>
          <p:nvPr/>
        </p:nvSpPr>
        <p:spPr>
          <a:xfrm>
            <a:off x="658440" y="777240"/>
            <a:ext cx="10423800" cy="914040"/>
          </a:xfrm>
          <a:prstGeom prst="rect">
            <a:avLst/>
          </a:prstGeom>
          <a:noFill/>
          <a:ln w="0">
            <a:noFill/>
          </a:ln>
        </p:spPr>
        <p:style>
          <a:lnRef idx="0"/>
          <a:fillRef idx="0"/>
          <a:effectRef idx="0"/>
          <a:fontRef idx="minor"/>
        </p:style>
        <p:txBody>
          <a:bodyPr lIns="0" tIns="0" rIns="0" bIns="0" anchor="t">
            <a:spAutoFit/>
          </a:bodyPr>
          <a:p>
            <a:pPr defTabSz="457200">
              <a:lnSpc>
                <a:spcPct val="95000"/>
              </a:lnSpc>
            </a:pPr>
            <a:r>
              <a:rPr lang="en-US" sz="3200" b="1" u="none" strike="noStrike">
                <a:solidFill>
                  <a:srgbClr val="0A3A68"/>
                </a:solidFill>
                <a:effectLst/>
                <a:uFillTx/>
                <a:latin typeface="Georgia"/>
              </a:rPr>
              <a:t>Every module in the brief, built</a:t>
            </a:r>
            <a:endParaRPr lang="en-US" sz="3200" b="0" u="none" strike="noStrike">
              <a:solidFill>
                <a:srgbClr val="000000"/>
              </a:solidFill>
              <a:effectLst/>
              <a:uFillTx/>
              <a:latin typeface="Arial"/>
            </a:endParaRPr>
          </a:p>
        </p:txBody>
      </p:sp>
      <p:sp>
        <p:nvSpPr>
          <p:cNvPr id="215" name="TextBox 4"/>
          <p:cNvSpPr/>
          <p:nvPr/>
        </p:nvSpPr>
        <p:spPr>
          <a:xfrm>
            <a:off x="658440" y="1691640"/>
            <a:ext cx="10515240" cy="548280"/>
          </a:xfrm>
          <a:prstGeom prst="rect">
            <a:avLst/>
          </a:prstGeom>
          <a:noFill/>
          <a:ln w="0">
            <a:noFill/>
          </a:ln>
        </p:spPr>
        <p:style>
          <a:lnRef idx="0"/>
          <a:fillRef idx="0"/>
          <a:effectRef idx="0"/>
          <a:fontRef idx="minor"/>
        </p:style>
        <p:txBody>
          <a:bodyPr lIns="0" tIns="0" rIns="0" bIns="0" anchor="t">
            <a:spAutoFit/>
          </a:bodyPr>
          <a:p>
            <a:pPr defTabSz="457200">
              <a:lnSpc>
                <a:spcPct val="125000"/>
              </a:lnSpc>
            </a:pPr>
            <a:r>
              <a:rPr lang="en-US" sz="1200" b="0" u="none" strike="noStrike">
                <a:solidFill>
                  <a:srgbClr val="475467"/>
                </a:solidFill>
                <a:effectLst/>
                <a:uFillTx/>
                <a:latin typeface="Segoe UI"/>
              </a:rPr>
              <a:t>Eight phases, twenty-three packages. The core is standard-library Python throughout — every algorithm is a reference port naming the library it replaces, so a bank swaps in LightGBM or lifelines behind the same interface without touching a call site.</a:t>
            </a:r>
            <a:endParaRPr lang="en-US" sz="1200" b="0" u="none" strike="noStrike">
              <a:solidFill>
                <a:srgbClr val="000000"/>
              </a:solidFill>
              <a:effectLst/>
              <a:uFillTx/>
              <a:latin typeface="Arial"/>
            </a:endParaRPr>
          </a:p>
        </p:txBody>
      </p:sp>
      <p:sp>
        <p:nvSpPr>
          <p:cNvPr id="216" name="TextBox 5"/>
          <p:cNvSpPr/>
          <p:nvPr/>
        </p:nvSpPr>
        <p:spPr>
          <a:xfrm>
            <a:off x="658440" y="2697480"/>
            <a:ext cx="338292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0" u="none" strike="noStrike">
                <a:solidFill>
                  <a:srgbClr val="6B7C93"/>
                </a:solidFill>
                <a:effectLst/>
                <a:uFillTx/>
                <a:latin typeface="Consolas"/>
              </a:rPr>
              <a:t>DECISIONING</a:t>
            </a:r>
            <a:endParaRPr lang="en-US" sz="950" b="0" u="none" strike="noStrike">
              <a:solidFill>
                <a:srgbClr val="000000"/>
              </a:solidFill>
              <a:effectLst/>
              <a:uFillTx/>
              <a:latin typeface="Arial"/>
            </a:endParaRPr>
          </a:p>
        </p:txBody>
      </p:sp>
      <p:sp>
        <p:nvSpPr>
          <p:cNvPr id="217" name="TextBox 6"/>
          <p:cNvSpPr/>
          <p:nvPr/>
        </p:nvSpPr>
        <p:spPr>
          <a:xfrm>
            <a:off x="658440" y="312732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P1</a:t>
            </a:r>
            <a:endParaRPr lang="en-US" sz="1000" b="0" u="none" strike="noStrike">
              <a:solidFill>
                <a:srgbClr val="000000"/>
              </a:solidFill>
              <a:effectLst/>
              <a:uFillTx/>
              <a:latin typeface="Arial"/>
            </a:endParaRPr>
          </a:p>
        </p:txBody>
      </p:sp>
      <p:sp>
        <p:nvSpPr>
          <p:cNvPr id="218" name="TextBox 7"/>
          <p:cNvSpPr/>
          <p:nvPr/>
        </p:nvSpPr>
        <p:spPr>
          <a:xfrm>
            <a:off x="1481400" y="3127320"/>
            <a:ext cx="25599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Credit scoring</a:t>
            </a:r>
            <a:endParaRPr lang="en-US" sz="1200" b="0" u="none" strike="noStrike">
              <a:solidFill>
                <a:srgbClr val="000000"/>
              </a:solidFill>
              <a:effectLst/>
              <a:uFillTx/>
              <a:latin typeface="Arial"/>
            </a:endParaRPr>
          </a:p>
        </p:txBody>
      </p:sp>
      <p:sp>
        <p:nvSpPr>
          <p:cNvPr id="219" name="TextBox 8"/>
          <p:cNvSpPr/>
          <p:nvPr/>
        </p:nvSpPr>
        <p:spPr>
          <a:xfrm>
            <a:off x="1481400" y="3342240"/>
            <a:ext cx="255996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WoE scorecard + GBM challenger, SHAP reasons, fairness</a:t>
            </a:r>
            <a:endParaRPr lang="en-US" sz="950" b="0" u="none" strike="noStrike">
              <a:solidFill>
                <a:srgbClr val="000000"/>
              </a:solidFill>
              <a:effectLst/>
              <a:uFillTx/>
              <a:latin typeface="Arial"/>
            </a:endParaRPr>
          </a:p>
        </p:txBody>
      </p:sp>
      <p:sp>
        <p:nvSpPr>
          <p:cNvPr id="220" name="Rectangle 9"/>
          <p:cNvSpPr/>
          <p:nvPr/>
        </p:nvSpPr>
        <p:spPr>
          <a:xfrm>
            <a:off x="658440" y="3730680"/>
            <a:ext cx="338292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221" name="TextBox 10"/>
          <p:cNvSpPr/>
          <p:nvPr/>
        </p:nvSpPr>
        <p:spPr>
          <a:xfrm>
            <a:off x="658440" y="427932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P1</a:t>
            </a:r>
            <a:endParaRPr lang="en-US" sz="1000" b="0" u="none" strike="noStrike">
              <a:solidFill>
                <a:srgbClr val="000000"/>
              </a:solidFill>
              <a:effectLst/>
              <a:uFillTx/>
              <a:latin typeface="Arial"/>
            </a:endParaRPr>
          </a:p>
        </p:txBody>
      </p:sp>
      <p:sp>
        <p:nvSpPr>
          <p:cNvPr id="222" name="TextBox 11"/>
          <p:cNvSpPr/>
          <p:nvPr/>
        </p:nvSpPr>
        <p:spPr>
          <a:xfrm>
            <a:off x="1481400" y="4279320"/>
            <a:ext cx="25599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Fraud detection</a:t>
            </a:r>
            <a:endParaRPr lang="en-US" sz="1200" b="0" u="none" strike="noStrike">
              <a:solidFill>
                <a:srgbClr val="000000"/>
              </a:solidFill>
              <a:effectLst/>
              <a:uFillTx/>
              <a:latin typeface="Arial"/>
            </a:endParaRPr>
          </a:p>
        </p:txBody>
      </p:sp>
      <p:sp>
        <p:nvSpPr>
          <p:cNvPr id="223" name="TextBox 12"/>
          <p:cNvSpPr/>
          <p:nvPr/>
        </p:nvSpPr>
        <p:spPr>
          <a:xfrm>
            <a:off x="1481400" y="4494240"/>
            <a:ext cx="255996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Entity resolution, velocity, anomaly, documents</a:t>
            </a:r>
            <a:endParaRPr lang="en-US" sz="950" b="0" u="none" strike="noStrike">
              <a:solidFill>
                <a:srgbClr val="000000"/>
              </a:solidFill>
              <a:effectLst/>
              <a:uFillTx/>
              <a:latin typeface="Arial"/>
            </a:endParaRPr>
          </a:p>
        </p:txBody>
      </p:sp>
      <p:sp>
        <p:nvSpPr>
          <p:cNvPr id="224" name="Rectangle 13"/>
          <p:cNvSpPr/>
          <p:nvPr/>
        </p:nvSpPr>
        <p:spPr>
          <a:xfrm>
            <a:off x="658440" y="4883040"/>
            <a:ext cx="338292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225" name="TextBox 14"/>
          <p:cNvSpPr/>
          <p:nvPr/>
        </p:nvSpPr>
        <p:spPr>
          <a:xfrm>
            <a:off x="658440" y="543168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P4</a:t>
            </a:r>
            <a:endParaRPr lang="en-US" sz="1000" b="0" u="none" strike="noStrike">
              <a:solidFill>
                <a:srgbClr val="000000"/>
              </a:solidFill>
              <a:effectLst/>
              <a:uFillTx/>
              <a:latin typeface="Arial"/>
            </a:endParaRPr>
          </a:p>
        </p:txBody>
      </p:sp>
      <p:sp>
        <p:nvSpPr>
          <p:cNvPr id="226" name="TextBox 15"/>
          <p:cNvSpPr/>
          <p:nvPr/>
        </p:nvSpPr>
        <p:spPr>
          <a:xfrm>
            <a:off x="1481400" y="5431680"/>
            <a:ext cx="25599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Recommendations</a:t>
            </a:r>
            <a:endParaRPr lang="en-US" sz="1200" b="0" u="none" strike="noStrike">
              <a:solidFill>
                <a:srgbClr val="000000"/>
              </a:solidFill>
              <a:effectLst/>
              <a:uFillTx/>
              <a:latin typeface="Arial"/>
            </a:endParaRPr>
          </a:p>
        </p:txBody>
      </p:sp>
      <p:sp>
        <p:nvSpPr>
          <p:cNvPr id="227" name="TextBox 16"/>
          <p:cNvSpPr/>
          <p:nvPr/>
        </p:nvSpPr>
        <p:spPr>
          <a:xfrm>
            <a:off x="1481400" y="5646600"/>
            <a:ext cx="255996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Feasible set, ALM pricing, LinUCB bandit, suitability</a:t>
            </a:r>
            <a:endParaRPr lang="en-US" sz="950" b="0" u="none" strike="noStrike">
              <a:solidFill>
                <a:srgbClr val="000000"/>
              </a:solidFill>
              <a:effectLst/>
              <a:uFillTx/>
              <a:latin typeface="Arial"/>
            </a:endParaRPr>
          </a:p>
        </p:txBody>
      </p:sp>
      <p:sp>
        <p:nvSpPr>
          <p:cNvPr id="228" name="Rectangle 17"/>
          <p:cNvSpPr/>
          <p:nvPr/>
        </p:nvSpPr>
        <p:spPr>
          <a:xfrm>
            <a:off x="658440" y="6035040"/>
            <a:ext cx="338292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229" name="TextBox 18"/>
          <p:cNvSpPr/>
          <p:nvPr/>
        </p:nvSpPr>
        <p:spPr>
          <a:xfrm>
            <a:off x="4370760" y="2697480"/>
            <a:ext cx="338292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0" u="none" strike="noStrike">
                <a:solidFill>
                  <a:srgbClr val="6B7C93"/>
                </a:solidFill>
                <a:effectLst/>
                <a:uFillTx/>
                <a:latin typeface="Consolas"/>
              </a:rPr>
              <a:t>RISK &amp; AGRICULTURE</a:t>
            </a:r>
            <a:endParaRPr lang="en-US" sz="950" b="0" u="none" strike="noStrike">
              <a:solidFill>
                <a:srgbClr val="000000"/>
              </a:solidFill>
              <a:effectLst/>
              <a:uFillTx/>
              <a:latin typeface="Arial"/>
            </a:endParaRPr>
          </a:p>
        </p:txBody>
      </p:sp>
      <p:sp>
        <p:nvSpPr>
          <p:cNvPr id="230" name="TextBox 19"/>
          <p:cNvSpPr/>
          <p:nvPr/>
        </p:nvSpPr>
        <p:spPr>
          <a:xfrm>
            <a:off x="4370760" y="312732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P2</a:t>
            </a:r>
            <a:endParaRPr lang="en-US" sz="1000" b="0" u="none" strike="noStrike">
              <a:solidFill>
                <a:srgbClr val="000000"/>
              </a:solidFill>
              <a:effectLst/>
              <a:uFillTx/>
              <a:latin typeface="Arial"/>
            </a:endParaRPr>
          </a:p>
        </p:txBody>
      </p:sp>
      <p:sp>
        <p:nvSpPr>
          <p:cNvPr id="231" name="TextBox 20"/>
          <p:cNvSpPr/>
          <p:nvPr/>
        </p:nvSpPr>
        <p:spPr>
          <a:xfrm>
            <a:off x="5193720" y="3127320"/>
            <a:ext cx="25599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Agri intelligence</a:t>
            </a:r>
            <a:endParaRPr lang="en-US" sz="1200" b="0" u="none" strike="noStrike">
              <a:solidFill>
                <a:srgbClr val="000000"/>
              </a:solidFill>
              <a:effectLst/>
              <a:uFillTx/>
              <a:latin typeface="Arial"/>
            </a:endParaRPr>
          </a:p>
        </p:txBody>
      </p:sp>
      <p:sp>
        <p:nvSpPr>
          <p:cNvPr id="232" name="TextBox 21"/>
          <p:cNvSpPr/>
          <p:nvPr/>
        </p:nvSpPr>
        <p:spPr>
          <a:xfrm>
            <a:off x="5193720" y="3342240"/>
            <a:ext cx="255996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SPI/SPEI drought, NDVI/EVI, plot registry, yield</a:t>
            </a:r>
            <a:endParaRPr lang="en-US" sz="950" b="0" u="none" strike="noStrike">
              <a:solidFill>
                <a:srgbClr val="000000"/>
              </a:solidFill>
              <a:effectLst/>
              <a:uFillTx/>
              <a:latin typeface="Arial"/>
            </a:endParaRPr>
          </a:p>
        </p:txBody>
      </p:sp>
      <p:sp>
        <p:nvSpPr>
          <p:cNvPr id="233" name="Rectangle 22"/>
          <p:cNvSpPr/>
          <p:nvPr/>
        </p:nvSpPr>
        <p:spPr>
          <a:xfrm>
            <a:off x="4370760" y="3730680"/>
            <a:ext cx="338292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234" name="TextBox 23"/>
          <p:cNvSpPr/>
          <p:nvPr/>
        </p:nvSpPr>
        <p:spPr>
          <a:xfrm>
            <a:off x="4370760" y="427932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P3</a:t>
            </a:r>
            <a:endParaRPr lang="en-US" sz="1000" b="0" u="none" strike="noStrike">
              <a:solidFill>
                <a:srgbClr val="000000"/>
              </a:solidFill>
              <a:effectLst/>
              <a:uFillTx/>
              <a:latin typeface="Arial"/>
            </a:endParaRPr>
          </a:p>
        </p:txBody>
      </p:sp>
      <p:sp>
        <p:nvSpPr>
          <p:cNvPr id="235" name="TextBox 24"/>
          <p:cNvSpPr/>
          <p:nvPr/>
        </p:nvSpPr>
        <p:spPr>
          <a:xfrm>
            <a:off x="5193720" y="4279320"/>
            <a:ext cx="25599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Portfolio brain</a:t>
            </a:r>
            <a:endParaRPr lang="en-US" sz="1200" b="0" u="none" strike="noStrike">
              <a:solidFill>
                <a:srgbClr val="000000"/>
              </a:solidFill>
              <a:effectLst/>
              <a:uFillTx/>
              <a:latin typeface="Arial"/>
            </a:endParaRPr>
          </a:p>
        </p:txBody>
      </p:sp>
      <p:sp>
        <p:nvSpPr>
          <p:cNvPr id="236" name="TextBox 25"/>
          <p:cNvSpPr/>
          <p:nvPr/>
        </p:nvSpPr>
        <p:spPr>
          <a:xfrm>
            <a:off x="5193720" y="4494240"/>
            <a:ext cx="255996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PD/LGD/EAD, Cox &amp; discrete hazard, IFRS 9 staging</a:t>
            </a:r>
            <a:endParaRPr lang="en-US" sz="950" b="0" u="none" strike="noStrike">
              <a:solidFill>
                <a:srgbClr val="000000"/>
              </a:solidFill>
              <a:effectLst/>
              <a:uFillTx/>
              <a:latin typeface="Arial"/>
            </a:endParaRPr>
          </a:p>
        </p:txBody>
      </p:sp>
      <p:sp>
        <p:nvSpPr>
          <p:cNvPr id="237" name="Rectangle 26"/>
          <p:cNvSpPr/>
          <p:nvPr/>
        </p:nvSpPr>
        <p:spPr>
          <a:xfrm>
            <a:off x="4370760" y="4883040"/>
            <a:ext cx="338292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238" name="TextBox 27"/>
          <p:cNvSpPr/>
          <p:nvPr/>
        </p:nvSpPr>
        <p:spPr>
          <a:xfrm>
            <a:off x="4370760" y="543168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P4</a:t>
            </a:r>
            <a:endParaRPr lang="en-US" sz="1000" b="0" u="none" strike="noStrike">
              <a:solidFill>
                <a:srgbClr val="000000"/>
              </a:solidFill>
              <a:effectLst/>
              <a:uFillTx/>
              <a:latin typeface="Arial"/>
            </a:endParaRPr>
          </a:p>
        </p:txBody>
      </p:sp>
      <p:sp>
        <p:nvSpPr>
          <p:cNvPr id="239" name="TextBox 28"/>
          <p:cNvSpPr/>
          <p:nvPr/>
        </p:nvSpPr>
        <p:spPr>
          <a:xfrm>
            <a:off x="5193720" y="5431680"/>
            <a:ext cx="25599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Early warning</a:t>
            </a:r>
            <a:endParaRPr lang="en-US" sz="1200" b="0" u="none" strike="noStrike">
              <a:solidFill>
                <a:srgbClr val="000000"/>
              </a:solidFill>
              <a:effectLst/>
              <a:uFillTx/>
              <a:latin typeface="Arial"/>
            </a:endParaRPr>
          </a:p>
        </p:txBody>
      </p:sp>
      <p:sp>
        <p:nvSpPr>
          <p:cNvPr id="240" name="TextBox 29"/>
          <p:cNvSpPr/>
          <p:nvPr/>
        </p:nvSpPr>
        <p:spPr>
          <a:xfrm>
            <a:off x="5193720" y="5646600"/>
            <a:ext cx="255996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Signals, velocity, BOCPD change-point, routing</a:t>
            </a:r>
            <a:endParaRPr lang="en-US" sz="950" b="0" u="none" strike="noStrike">
              <a:solidFill>
                <a:srgbClr val="000000"/>
              </a:solidFill>
              <a:effectLst/>
              <a:uFillTx/>
              <a:latin typeface="Arial"/>
            </a:endParaRPr>
          </a:p>
        </p:txBody>
      </p:sp>
      <p:sp>
        <p:nvSpPr>
          <p:cNvPr id="241" name="Rectangle 30"/>
          <p:cNvSpPr/>
          <p:nvPr/>
        </p:nvSpPr>
        <p:spPr>
          <a:xfrm>
            <a:off x="4370760" y="6035040"/>
            <a:ext cx="338292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242" name="TextBox 31"/>
          <p:cNvSpPr/>
          <p:nvPr/>
        </p:nvSpPr>
        <p:spPr>
          <a:xfrm>
            <a:off x="8083440" y="2697480"/>
            <a:ext cx="338292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0" u="none" strike="noStrike">
                <a:solidFill>
                  <a:srgbClr val="6B7C93"/>
                </a:solidFill>
                <a:effectLst/>
                <a:uFillTx/>
                <a:latin typeface="Consolas"/>
              </a:rPr>
              <a:t>DELIVERY</a:t>
            </a:r>
            <a:endParaRPr lang="en-US" sz="950" b="0" u="none" strike="noStrike">
              <a:solidFill>
                <a:srgbClr val="000000"/>
              </a:solidFill>
              <a:effectLst/>
              <a:uFillTx/>
              <a:latin typeface="Arial"/>
            </a:endParaRPr>
          </a:p>
        </p:txBody>
      </p:sp>
      <p:sp>
        <p:nvSpPr>
          <p:cNvPr id="243" name="TextBox 32"/>
          <p:cNvSpPr/>
          <p:nvPr/>
        </p:nvSpPr>
        <p:spPr>
          <a:xfrm>
            <a:off x="8083440" y="312732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P5</a:t>
            </a:r>
            <a:endParaRPr lang="en-US" sz="1000" b="0" u="none" strike="noStrike">
              <a:solidFill>
                <a:srgbClr val="000000"/>
              </a:solidFill>
              <a:effectLst/>
              <a:uFillTx/>
              <a:latin typeface="Arial"/>
            </a:endParaRPr>
          </a:p>
        </p:txBody>
      </p:sp>
      <p:sp>
        <p:nvSpPr>
          <p:cNvPr id="244" name="TextBox 33"/>
          <p:cNvSpPr/>
          <p:nvPr/>
        </p:nvSpPr>
        <p:spPr>
          <a:xfrm>
            <a:off x="8906400" y="3127320"/>
            <a:ext cx="25599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GenAI assistant</a:t>
            </a:r>
            <a:endParaRPr lang="en-US" sz="1200" b="0" u="none" strike="noStrike">
              <a:solidFill>
                <a:srgbClr val="000000"/>
              </a:solidFill>
              <a:effectLst/>
              <a:uFillTx/>
              <a:latin typeface="Arial"/>
            </a:endParaRPr>
          </a:p>
        </p:txBody>
      </p:sp>
      <p:sp>
        <p:nvSpPr>
          <p:cNvPr id="245" name="TextBox 34"/>
          <p:cNvSpPr/>
          <p:nvPr/>
        </p:nvSpPr>
        <p:spPr>
          <a:xfrm>
            <a:off x="8906400" y="3342240"/>
            <a:ext cx="255996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Hybrid retrieval, citation contract, validator</a:t>
            </a:r>
            <a:endParaRPr lang="en-US" sz="950" b="0" u="none" strike="noStrike">
              <a:solidFill>
                <a:srgbClr val="000000"/>
              </a:solidFill>
              <a:effectLst/>
              <a:uFillTx/>
              <a:latin typeface="Arial"/>
            </a:endParaRPr>
          </a:p>
        </p:txBody>
      </p:sp>
      <p:sp>
        <p:nvSpPr>
          <p:cNvPr id="246" name="Rectangle 35"/>
          <p:cNvSpPr/>
          <p:nvPr/>
        </p:nvSpPr>
        <p:spPr>
          <a:xfrm>
            <a:off x="8083440" y="3730680"/>
            <a:ext cx="338292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247" name="TextBox 36"/>
          <p:cNvSpPr/>
          <p:nvPr/>
        </p:nvSpPr>
        <p:spPr>
          <a:xfrm>
            <a:off x="8083440" y="427932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P6</a:t>
            </a:r>
            <a:endParaRPr lang="en-US" sz="1000" b="0" u="none" strike="noStrike">
              <a:solidFill>
                <a:srgbClr val="000000"/>
              </a:solidFill>
              <a:effectLst/>
              <a:uFillTx/>
              <a:latin typeface="Arial"/>
            </a:endParaRPr>
          </a:p>
        </p:txBody>
      </p:sp>
      <p:sp>
        <p:nvSpPr>
          <p:cNvPr id="248" name="TextBox 37"/>
          <p:cNvSpPr/>
          <p:nvPr/>
        </p:nvSpPr>
        <p:spPr>
          <a:xfrm>
            <a:off x="8906400" y="4279320"/>
            <a:ext cx="25599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Learning loops</a:t>
            </a:r>
            <a:endParaRPr lang="en-US" sz="1200" b="0" u="none" strike="noStrike">
              <a:solidFill>
                <a:srgbClr val="000000"/>
              </a:solidFill>
              <a:effectLst/>
              <a:uFillTx/>
              <a:latin typeface="Arial"/>
            </a:endParaRPr>
          </a:p>
        </p:txBody>
      </p:sp>
      <p:sp>
        <p:nvSpPr>
          <p:cNvPr id="249" name="TextBox 38"/>
          <p:cNvSpPr/>
          <p:nvPr/>
        </p:nvSpPr>
        <p:spPr>
          <a:xfrm>
            <a:off x="8906400" y="4494240"/>
            <a:ext cx="255996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Promotion gate, uplift, off-policy, Louvain</a:t>
            </a:r>
            <a:endParaRPr lang="en-US" sz="950" b="0" u="none" strike="noStrike">
              <a:solidFill>
                <a:srgbClr val="000000"/>
              </a:solidFill>
              <a:effectLst/>
              <a:uFillTx/>
              <a:latin typeface="Arial"/>
            </a:endParaRPr>
          </a:p>
        </p:txBody>
      </p:sp>
      <p:sp>
        <p:nvSpPr>
          <p:cNvPr id="250" name="Rectangle 39"/>
          <p:cNvSpPr/>
          <p:nvPr/>
        </p:nvSpPr>
        <p:spPr>
          <a:xfrm>
            <a:off x="8083440" y="4883040"/>
            <a:ext cx="338292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251" name="TextBox 40"/>
          <p:cNvSpPr/>
          <p:nvPr/>
        </p:nvSpPr>
        <p:spPr>
          <a:xfrm>
            <a:off x="8083440" y="543168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P7</a:t>
            </a:r>
            <a:endParaRPr lang="en-US" sz="1000" b="0" u="none" strike="noStrike">
              <a:solidFill>
                <a:srgbClr val="000000"/>
              </a:solidFill>
              <a:effectLst/>
              <a:uFillTx/>
              <a:latin typeface="Arial"/>
            </a:endParaRPr>
          </a:p>
        </p:txBody>
      </p:sp>
      <p:sp>
        <p:nvSpPr>
          <p:cNvPr id="252" name="TextBox 41"/>
          <p:cNvSpPr/>
          <p:nvPr/>
        </p:nvSpPr>
        <p:spPr>
          <a:xfrm>
            <a:off x="8906400" y="5431680"/>
            <a:ext cx="25599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Interfaces</a:t>
            </a:r>
            <a:endParaRPr lang="en-US" sz="1200" b="0" u="none" strike="noStrike">
              <a:solidFill>
                <a:srgbClr val="000000"/>
              </a:solidFill>
              <a:effectLst/>
              <a:uFillTx/>
              <a:latin typeface="Arial"/>
            </a:endParaRPr>
          </a:p>
        </p:txBody>
      </p:sp>
      <p:sp>
        <p:nvSpPr>
          <p:cNvPr id="253" name="TextBox 42"/>
          <p:cNvSpPr/>
          <p:nvPr/>
        </p:nvSpPr>
        <p:spPr>
          <a:xfrm>
            <a:off x="8906400" y="5646600"/>
            <a:ext cx="255996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Officer workbench, collections console, dashboards</a:t>
            </a:r>
            <a:endParaRPr lang="en-US" sz="950" b="0" u="none" strike="noStrike">
              <a:solidFill>
                <a:srgbClr val="000000"/>
              </a:solidFill>
              <a:effectLst/>
              <a:uFillTx/>
              <a:latin typeface="Arial"/>
            </a:endParaRPr>
          </a:p>
        </p:txBody>
      </p:sp>
      <p:sp>
        <p:nvSpPr>
          <p:cNvPr id="254" name="Rectangle 43"/>
          <p:cNvSpPr/>
          <p:nvPr/>
        </p:nvSpPr>
        <p:spPr>
          <a:xfrm>
            <a:off x="8083440" y="6035040"/>
            <a:ext cx="338292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5" name="TextBox 1"/>
          <p:cNvSpPr/>
          <p:nvPr/>
        </p:nvSpPr>
        <p:spPr>
          <a:xfrm>
            <a:off x="11338560" y="384120"/>
            <a:ext cx="548280" cy="228240"/>
          </a:xfrm>
          <a:prstGeom prst="rect">
            <a:avLst/>
          </a:prstGeom>
          <a:noFill/>
          <a:ln w="0">
            <a:noFill/>
          </a:ln>
        </p:spPr>
        <p:style>
          <a:lnRef idx="0"/>
          <a:fillRef idx="0"/>
          <a:effectRef idx="0"/>
          <a:fontRef idx="minor"/>
        </p:style>
        <p:txBody>
          <a:bodyPr lIns="0" tIns="0" rIns="0" bIns="0" anchor="t">
            <a:spAutoFit/>
          </a:bodyPr>
          <a:p>
            <a:pPr algn="r" defTabSz="457200">
              <a:lnSpc>
                <a:spcPct val="100000"/>
              </a:lnSpc>
            </a:pPr>
            <a:r>
              <a:rPr lang="en-US" sz="900" b="0" u="none" strike="noStrike">
                <a:solidFill>
                  <a:srgbClr val="6B7C93"/>
                </a:solidFill>
                <a:effectLst/>
                <a:uFillTx/>
                <a:latin typeface="Consolas"/>
              </a:rPr>
              <a:t>07</a:t>
            </a:r>
            <a:endParaRPr lang="en-US" sz="900" b="0" u="none" strike="noStrike">
              <a:solidFill>
                <a:srgbClr val="000000"/>
              </a:solidFill>
              <a:effectLst/>
              <a:uFillTx/>
              <a:latin typeface="Arial"/>
            </a:endParaRPr>
          </a:p>
        </p:txBody>
      </p:sp>
      <p:sp>
        <p:nvSpPr>
          <p:cNvPr id="256" name="TextBox 2"/>
          <p:cNvSpPr/>
          <p:nvPr/>
        </p:nvSpPr>
        <p:spPr>
          <a:xfrm>
            <a:off x="658440" y="457200"/>
            <a:ext cx="10058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0" u="none" strike="noStrike">
                <a:solidFill>
                  <a:srgbClr val="2166A3"/>
                </a:solidFill>
                <a:effectLst/>
                <a:uFillTx/>
                <a:latin typeface="Consolas"/>
              </a:rPr>
              <a:t>ARCHITECTURE</a:t>
            </a:r>
            <a:endParaRPr lang="en-US" sz="1050" b="0" u="none" strike="noStrike">
              <a:solidFill>
                <a:srgbClr val="000000"/>
              </a:solidFill>
              <a:effectLst/>
              <a:uFillTx/>
              <a:latin typeface="Arial"/>
            </a:endParaRPr>
          </a:p>
        </p:txBody>
      </p:sp>
      <p:sp>
        <p:nvSpPr>
          <p:cNvPr id="257" name="TextBox 3"/>
          <p:cNvSpPr/>
          <p:nvPr/>
        </p:nvSpPr>
        <p:spPr>
          <a:xfrm>
            <a:off x="658440" y="777240"/>
            <a:ext cx="10423800" cy="914040"/>
          </a:xfrm>
          <a:prstGeom prst="rect">
            <a:avLst/>
          </a:prstGeom>
          <a:noFill/>
          <a:ln w="0">
            <a:noFill/>
          </a:ln>
        </p:spPr>
        <p:style>
          <a:lnRef idx="0"/>
          <a:fillRef idx="0"/>
          <a:effectRef idx="0"/>
          <a:fontRef idx="minor"/>
        </p:style>
        <p:txBody>
          <a:bodyPr lIns="0" tIns="0" rIns="0" bIns="0" anchor="t">
            <a:spAutoFit/>
          </a:bodyPr>
          <a:p>
            <a:pPr defTabSz="457200">
              <a:lnSpc>
                <a:spcPct val="95000"/>
              </a:lnSpc>
            </a:pPr>
            <a:r>
              <a:rPr lang="en-US" sz="3200" b="1" u="none" strike="noStrike">
                <a:solidFill>
                  <a:srgbClr val="0A3A68"/>
                </a:solidFill>
                <a:effectLst/>
                <a:uFillTx/>
                <a:latin typeface="Georgia"/>
              </a:rPr>
              <a:t>One gateway, eight engines, four surfaces</a:t>
            </a:r>
            <a:endParaRPr lang="en-US" sz="3200" b="0" u="none" strike="noStrike">
              <a:solidFill>
                <a:srgbClr val="000000"/>
              </a:solidFill>
              <a:effectLst/>
              <a:uFillTx/>
              <a:latin typeface="Arial"/>
            </a:endParaRPr>
          </a:p>
        </p:txBody>
      </p:sp>
      <p:sp>
        <p:nvSpPr>
          <p:cNvPr id="258" name="TextBox 4"/>
          <p:cNvSpPr/>
          <p:nvPr/>
        </p:nvSpPr>
        <p:spPr>
          <a:xfrm>
            <a:off x="658440" y="1691640"/>
            <a:ext cx="1051524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00" b="0" u="none" strike="noStrike">
                <a:solidFill>
                  <a:srgbClr val="6B7C93"/>
                </a:solidFill>
                <a:effectLst/>
                <a:uFillTx/>
                <a:latin typeface="Consolas"/>
              </a:rPr>
              <a:t>INTERFACES</a:t>
            </a:r>
            <a:endParaRPr lang="en-US" sz="900" b="0" u="none" strike="noStrike">
              <a:solidFill>
                <a:srgbClr val="000000"/>
              </a:solidFill>
              <a:effectLst/>
              <a:uFillTx/>
              <a:latin typeface="Arial"/>
            </a:endParaRPr>
          </a:p>
        </p:txBody>
      </p:sp>
      <p:sp>
        <p:nvSpPr>
          <p:cNvPr id="259" name="Rectangle 5"/>
          <p:cNvSpPr/>
          <p:nvPr/>
        </p:nvSpPr>
        <p:spPr>
          <a:xfrm>
            <a:off x="658440" y="1965960"/>
            <a:ext cx="2514240" cy="456840"/>
          </a:xfrm>
          <a:prstGeom prst="rect">
            <a:avLst/>
          </a:prstGeom>
          <a:solidFill>
            <a:srgbClr val="EEF4FA"/>
          </a:solidFill>
          <a:ln>
            <a:solidFill>
              <a:srgbClr val="ADC9E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0" name="TextBox 6"/>
          <p:cNvSpPr/>
          <p:nvPr/>
        </p:nvSpPr>
        <p:spPr>
          <a:xfrm>
            <a:off x="795600" y="2094120"/>
            <a:ext cx="2285640" cy="21924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100" b="1" u="none" strike="noStrike">
                <a:solidFill>
                  <a:srgbClr val="0A3A68"/>
                </a:solidFill>
                <a:effectLst/>
                <a:uFillTx/>
                <a:latin typeface="Segoe UI"/>
              </a:rPr>
              <a:t>Customer app</a:t>
            </a:r>
            <a:endParaRPr lang="en-US" sz="1100" b="0" u="none" strike="noStrike">
              <a:solidFill>
                <a:srgbClr val="000000"/>
              </a:solidFill>
              <a:effectLst/>
              <a:uFillTx/>
              <a:latin typeface="Arial"/>
            </a:endParaRPr>
          </a:p>
        </p:txBody>
      </p:sp>
      <p:sp>
        <p:nvSpPr>
          <p:cNvPr id="261" name="Rectangle 7"/>
          <p:cNvSpPr/>
          <p:nvPr/>
        </p:nvSpPr>
        <p:spPr>
          <a:xfrm>
            <a:off x="3383280" y="1965960"/>
            <a:ext cx="2514240" cy="456840"/>
          </a:xfrm>
          <a:prstGeom prst="rect">
            <a:avLst/>
          </a:prstGeom>
          <a:solidFill>
            <a:srgbClr val="EEF4FA"/>
          </a:solidFill>
          <a:ln>
            <a:solidFill>
              <a:srgbClr val="ADC9E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2" name="TextBox 8"/>
          <p:cNvSpPr/>
          <p:nvPr/>
        </p:nvSpPr>
        <p:spPr>
          <a:xfrm>
            <a:off x="3520440" y="2094120"/>
            <a:ext cx="2285640" cy="21924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100" b="1" u="none" strike="noStrike">
                <a:solidFill>
                  <a:srgbClr val="0A3A68"/>
                </a:solidFill>
                <a:effectLst/>
                <a:uFillTx/>
                <a:latin typeface="Segoe UI"/>
              </a:rPr>
              <a:t>Officer workbench</a:t>
            </a:r>
            <a:endParaRPr lang="en-US" sz="1100" b="0" u="none" strike="noStrike">
              <a:solidFill>
                <a:srgbClr val="000000"/>
              </a:solidFill>
              <a:effectLst/>
              <a:uFillTx/>
              <a:latin typeface="Arial"/>
            </a:endParaRPr>
          </a:p>
        </p:txBody>
      </p:sp>
      <p:sp>
        <p:nvSpPr>
          <p:cNvPr id="263" name="Rectangle 9"/>
          <p:cNvSpPr/>
          <p:nvPr/>
        </p:nvSpPr>
        <p:spPr>
          <a:xfrm>
            <a:off x="6108120" y="1965960"/>
            <a:ext cx="2514240" cy="456840"/>
          </a:xfrm>
          <a:prstGeom prst="rect">
            <a:avLst/>
          </a:prstGeom>
          <a:solidFill>
            <a:srgbClr val="EEF4FA"/>
          </a:solidFill>
          <a:ln>
            <a:solidFill>
              <a:srgbClr val="ADC9E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4" name="TextBox 10"/>
          <p:cNvSpPr/>
          <p:nvPr/>
        </p:nvSpPr>
        <p:spPr>
          <a:xfrm>
            <a:off x="6245280" y="2094120"/>
            <a:ext cx="2285640" cy="21924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100" b="1" u="none" strike="noStrike">
                <a:solidFill>
                  <a:srgbClr val="0A3A68"/>
                </a:solidFill>
                <a:effectLst/>
                <a:uFillTx/>
                <a:latin typeface="Segoe UI"/>
              </a:rPr>
              <a:t>Risk dashboards</a:t>
            </a:r>
            <a:endParaRPr lang="en-US" sz="1100" b="0" u="none" strike="noStrike">
              <a:solidFill>
                <a:srgbClr val="000000"/>
              </a:solidFill>
              <a:effectLst/>
              <a:uFillTx/>
              <a:latin typeface="Arial"/>
            </a:endParaRPr>
          </a:p>
        </p:txBody>
      </p:sp>
      <p:sp>
        <p:nvSpPr>
          <p:cNvPr id="265" name="Rectangle 11"/>
          <p:cNvSpPr/>
          <p:nvPr/>
        </p:nvSpPr>
        <p:spPr>
          <a:xfrm>
            <a:off x="8832960" y="1965960"/>
            <a:ext cx="2514240" cy="456840"/>
          </a:xfrm>
          <a:prstGeom prst="rect">
            <a:avLst/>
          </a:prstGeom>
          <a:solidFill>
            <a:srgbClr val="EEF4FA"/>
          </a:solidFill>
          <a:ln>
            <a:solidFill>
              <a:srgbClr val="ADC9E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6" name="TextBox 12"/>
          <p:cNvSpPr/>
          <p:nvPr/>
        </p:nvSpPr>
        <p:spPr>
          <a:xfrm>
            <a:off x="8970120" y="2094120"/>
            <a:ext cx="2285640" cy="21924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100" b="1" u="none" strike="noStrike">
                <a:solidFill>
                  <a:srgbClr val="0A3A68"/>
                </a:solidFill>
                <a:effectLst/>
                <a:uFillTx/>
                <a:latin typeface="Segoe UI"/>
              </a:rPr>
              <a:t>Collections</a:t>
            </a:r>
            <a:endParaRPr lang="en-US" sz="1100" b="0" u="none" strike="noStrike">
              <a:solidFill>
                <a:srgbClr val="000000"/>
              </a:solidFill>
              <a:effectLst/>
              <a:uFillTx/>
              <a:latin typeface="Arial"/>
            </a:endParaRPr>
          </a:p>
        </p:txBody>
      </p:sp>
      <p:sp>
        <p:nvSpPr>
          <p:cNvPr id="267" name="Rectangle 13"/>
          <p:cNvSpPr/>
          <p:nvPr/>
        </p:nvSpPr>
        <p:spPr>
          <a:xfrm>
            <a:off x="658440" y="2697480"/>
            <a:ext cx="10881000" cy="566640"/>
          </a:xfrm>
          <a:prstGeom prst="rect">
            <a:avLst/>
          </a:prstGeom>
          <a:solidFill>
            <a:srgbClr val="0D4A8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8" name="TextBox 14"/>
          <p:cNvSpPr/>
          <p:nvPr/>
        </p:nvSpPr>
        <p:spPr>
          <a:xfrm>
            <a:off x="887040" y="2797920"/>
            <a:ext cx="10423800" cy="21924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150" b="1" u="none" strike="noStrike">
                <a:solidFill>
                  <a:srgbClr val="FFFFFF"/>
                </a:solidFill>
                <a:effectLst/>
                <a:uFillTx/>
                <a:latin typeface="Segoe UI"/>
              </a:rPr>
              <a:t>DECISION ORCHESTRATOR  ·  every response carries its model id, version and decision-log reference</a:t>
            </a:r>
            <a:endParaRPr lang="en-US" sz="1150" b="0" u="none" strike="noStrike">
              <a:solidFill>
                <a:srgbClr val="000000"/>
              </a:solidFill>
              <a:effectLst/>
              <a:uFillTx/>
              <a:latin typeface="Arial"/>
            </a:endParaRPr>
          </a:p>
        </p:txBody>
      </p:sp>
      <p:sp>
        <p:nvSpPr>
          <p:cNvPr id="269" name="TextBox 15"/>
          <p:cNvSpPr/>
          <p:nvPr/>
        </p:nvSpPr>
        <p:spPr>
          <a:xfrm>
            <a:off x="887040" y="3017520"/>
            <a:ext cx="10423800" cy="20088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950" b="0" u="none" strike="noStrike">
                <a:solidFill>
                  <a:srgbClr val="ADC9E5"/>
                </a:solidFill>
                <a:effectLst/>
                <a:uFillTx/>
                <a:latin typeface="Consolas"/>
              </a:rPr>
              <a:t>a screen cannot be handed a number it cannot trace</a:t>
            </a:r>
            <a:endParaRPr lang="en-US" sz="950" b="0" u="none" strike="noStrike">
              <a:solidFill>
                <a:srgbClr val="000000"/>
              </a:solidFill>
              <a:effectLst/>
              <a:uFillTx/>
              <a:latin typeface="Arial"/>
            </a:endParaRPr>
          </a:p>
        </p:txBody>
      </p:sp>
      <p:sp>
        <p:nvSpPr>
          <p:cNvPr id="270" name="TextBox 16"/>
          <p:cNvSpPr/>
          <p:nvPr/>
        </p:nvSpPr>
        <p:spPr>
          <a:xfrm>
            <a:off x="658440" y="3456360"/>
            <a:ext cx="1051524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00" b="0" u="none" strike="noStrike">
                <a:solidFill>
                  <a:srgbClr val="6B7C93"/>
                </a:solidFill>
                <a:effectLst/>
                <a:uFillTx/>
                <a:latin typeface="Consolas"/>
              </a:rPr>
              <a:t>ENGINES</a:t>
            </a:r>
            <a:endParaRPr lang="en-US" sz="900" b="0" u="none" strike="noStrike">
              <a:solidFill>
                <a:srgbClr val="000000"/>
              </a:solidFill>
              <a:effectLst/>
              <a:uFillTx/>
              <a:latin typeface="Arial"/>
            </a:endParaRPr>
          </a:p>
        </p:txBody>
      </p:sp>
      <p:sp>
        <p:nvSpPr>
          <p:cNvPr id="271" name="Rectangle 17"/>
          <p:cNvSpPr/>
          <p:nvPr/>
        </p:nvSpPr>
        <p:spPr>
          <a:xfrm>
            <a:off x="658440" y="3730680"/>
            <a:ext cx="2514240" cy="658080"/>
          </a:xfrm>
          <a:prstGeom prst="rect">
            <a:avLst/>
          </a:prstGeom>
          <a:noFill/>
          <a:ln>
            <a:solidFill>
              <a:srgbClr val="DBE3E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2" name="Rectangle 18"/>
          <p:cNvSpPr/>
          <p:nvPr/>
        </p:nvSpPr>
        <p:spPr>
          <a:xfrm>
            <a:off x="658440" y="3730680"/>
            <a:ext cx="2514240" cy="3168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2960" rIns="90000" bIns="-12960" anchor="ctr">
            <a:noAutofit/>
          </a:bodyPr>
          <a:p>
            <a:endParaRPr lang="en-US" sz="1800" b="0" u="none" strike="noStrike">
              <a:solidFill>
                <a:schemeClr val="lt1"/>
              </a:solidFill>
              <a:effectLst/>
              <a:uFillTx/>
              <a:latin typeface="Calibri"/>
            </a:endParaRPr>
          </a:p>
        </p:txBody>
      </p:sp>
      <p:sp>
        <p:nvSpPr>
          <p:cNvPr id="273" name="TextBox 19"/>
          <p:cNvSpPr/>
          <p:nvPr/>
        </p:nvSpPr>
        <p:spPr>
          <a:xfrm>
            <a:off x="795600" y="3858840"/>
            <a:ext cx="219420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1" u="none" strike="noStrike">
                <a:solidFill>
                  <a:srgbClr val="101828"/>
                </a:solidFill>
                <a:effectLst/>
                <a:uFillTx/>
                <a:latin typeface="Segoe UI"/>
              </a:rPr>
              <a:t>Agri</a:t>
            </a:r>
            <a:endParaRPr lang="en-US" sz="1150" b="0" u="none" strike="noStrike">
              <a:solidFill>
                <a:srgbClr val="000000"/>
              </a:solidFill>
              <a:effectLst/>
              <a:uFillTx/>
              <a:latin typeface="Arial"/>
            </a:endParaRPr>
          </a:p>
        </p:txBody>
      </p:sp>
      <p:sp>
        <p:nvSpPr>
          <p:cNvPr id="274" name="TextBox 20"/>
          <p:cNvSpPr/>
          <p:nvPr/>
        </p:nvSpPr>
        <p:spPr>
          <a:xfrm>
            <a:off x="2670120" y="3858840"/>
            <a:ext cx="45684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00" b="0" u="none" strike="noStrike">
                <a:solidFill>
                  <a:srgbClr val="2166A3"/>
                </a:solidFill>
                <a:effectLst/>
                <a:uFillTx/>
                <a:latin typeface="Consolas"/>
              </a:rPr>
              <a:t>M1</a:t>
            </a:r>
            <a:endParaRPr lang="en-US" sz="900" b="0" u="none" strike="noStrike">
              <a:solidFill>
                <a:srgbClr val="000000"/>
              </a:solidFill>
              <a:effectLst/>
              <a:uFillTx/>
              <a:latin typeface="Arial"/>
            </a:endParaRPr>
          </a:p>
        </p:txBody>
      </p:sp>
      <p:sp>
        <p:nvSpPr>
          <p:cNvPr id="275" name="TextBox 21"/>
          <p:cNvSpPr/>
          <p:nvPr/>
        </p:nvSpPr>
        <p:spPr>
          <a:xfrm>
            <a:off x="795600" y="4096440"/>
            <a:ext cx="219420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0" u="none" strike="noStrike">
                <a:solidFill>
                  <a:srgbClr val="6B7C93"/>
                </a:solidFill>
                <a:effectLst/>
                <a:uFillTx/>
                <a:latin typeface="Segoe UI"/>
              </a:rPr>
              <a:t>drought, crop, plots</a:t>
            </a:r>
            <a:endParaRPr lang="en-US" sz="950" b="0" u="none" strike="noStrike">
              <a:solidFill>
                <a:srgbClr val="000000"/>
              </a:solidFill>
              <a:effectLst/>
              <a:uFillTx/>
              <a:latin typeface="Arial"/>
            </a:endParaRPr>
          </a:p>
        </p:txBody>
      </p:sp>
      <p:sp>
        <p:nvSpPr>
          <p:cNvPr id="276" name="Rectangle 22"/>
          <p:cNvSpPr/>
          <p:nvPr/>
        </p:nvSpPr>
        <p:spPr>
          <a:xfrm>
            <a:off x="3383280" y="3730680"/>
            <a:ext cx="2514240" cy="658080"/>
          </a:xfrm>
          <a:prstGeom prst="rect">
            <a:avLst/>
          </a:prstGeom>
          <a:noFill/>
          <a:ln>
            <a:solidFill>
              <a:srgbClr val="DBE3E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7" name="Rectangle 23"/>
          <p:cNvSpPr/>
          <p:nvPr/>
        </p:nvSpPr>
        <p:spPr>
          <a:xfrm>
            <a:off x="3383280" y="3730680"/>
            <a:ext cx="2514240" cy="3168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2960" rIns="90000" bIns="-12960" anchor="ctr">
            <a:noAutofit/>
          </a:bodyPr>
          <a:p>
            <a:endParaRPr lang="en-US" sz="1800" b="0" u="none" strike="noStrike">
              <a:solidFill>
                <a:schemeClr val="lt1"/>
              </a:solidFill>
              <a:effectLst/>
              <a:uFillTx/>
              <a:latin typeface="Calibri"/>
            </a:endParaRPr>
          </a:p>
        </p:txBody>
      </p:sp>
      <p:sp>
        <p:nvSpPr>
          <p:cNvPr id="278" name="TextBox 24"/>
          <p:cNvSpPr/>
          <p:nvPr/>
        </p:nvSpPr>
        <p:spPr>
          <a:xfrm>
            <a:off x="3520440" y="3858840"/>
            <a:ext cx="219420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1" u="none" strike="noStrike">
                <a:solidFill>
                  <a:srgbClr val="101828"/>
                </a:solidFill>
                <a:effectLst/>
                <a:uFillTx/>
                <a:latin typeface="Segoe UI"/>
              </a:rPr>
              <a:t>Scoring</a:t>
            </a:r>
            <a:endParaRPr lang="en-US" sz="1150" b="0" u="none" strike="noStrike">
              <a:solidFill>
                <a:srgbClr val="000000"/>
              </a:solidFill>
              <a:effectLst/>
              <a:uFillTx/>
              <a:latin typeface="Arial"/>
            </a:endParaRPr>
          </a:p>
        </p:txBody>
      </p:sp>
      <p:sp>
        <p:nvSpPr>
          <p:cNvPr id="279" name="TextBox 25"/>
          <p:cNvSpPr/>
          <p:nvPr/>
        </p:nvSpPr>
        <p:spPr>
          <a:xfrm>
            <a:off x="5394960" y="3858840"/>
            <a:ext cx="45684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00" b="0" u="none" strike="noStrike">
                <a:solidFill>
                  <a:srgbClr val="2166A3"/>
                </a:solidFill>
                <a:effectLst/>
                <a:uFillTx/>
                <a:latin typeface="Consolas"/>
              </a:rPr>
              <a:t>M2</a:t>
            </a:r>
            <a:endParaRPr lang="en-US" sz="900" b="0" u="none" strike="noStrike">
              <a:solidFill>
                <a:srgbClr val="000000"/>
              </a:solidFill>
              <a:effectLst/>
              <a:uFillTx/>
              <a:latin typeface="Arial"/>
            </a:endParaRPr>
          </a:p>
        </p:txBody>
      </p:sp>
      <p:sp>
        <p:nvSpPr>
          <p:cNvPr id="280" name="TextBox 26"/>
          <p:cNvSpPr/>
          <p:nvPr/>
        </p:nvSpPr>
        <p:spPr>
          <a:xfrm>
            <a:off x="3520440" y="4096440"/>
            <a:ext cx="219420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0" u="none" strike="noStrike">
                <a:solidFill>
                  <a:srgbClr val="6B7C93"/>
                </a:solidFill>
                <a:effectLst/>
                <a:uFillTx/>
                <a:latin typeface="Segoe UI"/>
              </a:rPr>
              <a:t>scorecard + GBM</a:t>
            </a:r>
            <a:endParaRPr lang="en-US" sz="950" b="0" u="none" strike="noStrike">
              <a:solidFill>
                <a:srgbClr val="000000"/>
              </a:solidFill>
              <a:effectLst/>
              <a:uFillTx/>
              <a:latin typeface="Arial"/>
            </a:endParaRPr>
          </a:p>
        </p:txBody>
      </p:sp>
      <p:sp>
        <p:nvSpPr>
          <p:cNvPr id="281" name="Rectangle 27"/>
          <p:cNvSpPr/>
          <p:nvPr/>
        </p:nvSpPr>
        <p:spPr>
          <a:xfrm>
            <a:off x="6108120" y="3730680"/>
            <a:ext cx="2514240" cy="658080"/>
          </a:xfrm>
          <a:prstGeom prst="rect">
            <a:avLst/>
          </a:prstGeom>
          <a:noFill/>
          <a:ln>
            <a:solidFill>
              <a:srgbClr val="DBE3E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2" name="Rectangle 28"/>
          <p:cNvSpPr/>
          <p:nvPr/>
        </p:nvSpPr>
        <p:spPr>
          <a:xfrm>
            <a:off x="6108120" y="3730680"/>
            <a:ext cx="2514240" cy="3168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2960" rIns="90000" bIns="-12960" anchor="ctr">
            <a:noAutofit/>
          </a:bodyPr>
          <a:p>
            <a:endParaRPr lang="en-US" sz="1800" b="0" u="none" strike="noStrike">
              <a:solidFill>
                <a:schemeClr val="lt1"/>
              </a:solidFill>
              <a:effectLst/>
              <a:uFillTx/>
              <a:latin typeface="Calibri"/>
            </a:endParaRPr>
          </a:p>
        </p:txBody>
      </p:sp>
      <p:sp>
        <p:nvSpPr>
          <p:cNvPr id="283" name="TextBox 29"/>
          <p:cNvSpPr/>
          <p:nvPr/>
        </p:nvSpPr>
        <p:spPr>
          <a:xfrm>
            <a:off x="6245280" y="3858840"/>
            <a:ext cx="219420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1" u="none" strike="noStrike">
                <a:solidFill>
                  <a:srgbClr val="101828"/>
                </a:solidFill>
                <a:effectLst/>
                <a:uFillTx/>
                <a:latin typeface="Segoe UI"/>
              </a:rPr>
              <a:t>Fraud</a:t>
            </a:r>
            <a:endParaRPr lang="en-US" sz="1150" b="0" u="none" strike="noStrike">
              <a:solidFill>
                <a:srgbClr val="000000"/>
              </a:solidFill>
              <a:effectLst/>
              <a:uFillTx/>
              <a:latin typeface="Arial"/>
            </a:endParaRPr>
          </a:p>
        </p:txBody>
      </p:sp>
      <p:sp>
        <p:nvSpPr>
          <p:cNvPr id="284" name="TextBox 30"/>
          <p:cNvSpPr/>
          <p:nvPr/>
        </p:nvSpPr>
        <p:spPr>
          <a:xfrm>
            <a:off x="8119800" y="3858840"/>
            <a:ext cx="45684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00" b="0" u="none" strike="noStrike">
                <a:solidFill>
                  <a:srgbClr val="2166A3"/>
                </a:solidFill>
                <a:effectLst/>
                <a:uFillTx/>
                <a:latin typeface="Consolas"/>
              </a:rPr>
              <a:t>M3</a:t>
            </a:r>
            <a:endParaRPr lang="en-US" sz="900" b="0" u="none" strike="noStrike">
              <a:solidFill>
                <a:srgbClr val="000000"/>
              </a:solidFill>
              <a:effectLst/>
              <a:uFillTx/>
              <a:latin typeface="Arial"/>
            </a:endParaRPr>
          </a:p>
        </p:txBody>
      </p:sp>
      <p:sp>
        <p:nvSpPr>
          <p:cNvPr id="285" name="TextBox 31"/>
          <p:cNvSpPr/>
          <p:nvPr/>
        </p:nvSpPr>
        <p:spPr>
          <a:xfrm>
            <a:off x="6245280" y="4096440"/>
            <a:ext cx="219420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0" u="none" strike="noStrike">
                <a:solidFill>
                  <a:srgbClr val="6B7C93"/>
                </a:solidFill>
                <a:effectLst/>
                <a:uFillTx/>
                <a:latin typeface="Segoe UI"/>
              </a:rPr>
              <a:t>graph, velocity, docs</a:t>
            </a:r>
            <a:endParaRPr lang="en-US" sz="950" b="0" u="none" strike="noStrike">
              <a:solidFill>
                <a:srgbClr val="000000"/>
              </a:solidFill>
              <a:effectLst/>
              <a:uFillTx/>
              <a:latin typeface="Arial"/>
            </a:endParaRPr>
          </a:p>
        </p:txBody>
      </p:sp>
      <p:sp>
        <p:nvSpPr>
          <p:cNvPr id="286" name="Rectangle 32"/>
          <p:cNvSpPr/>
          <p:nvPr/>
        </p:nvSpPr>
        <p:spPr>
          <a:xfrm>
            <a:off x="8832960" y="3730680"/>
            <a:ext cx="2514240" cy="658080"/>
          </a:xfrm>
          <a:prstGeom prst="rect">
            <a:avLst/>
          </a:prstGeom>
          <a:noFill/>
          <a:ln>
            <a:solidFill>
              <a:srgbClr val="DBE3E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7" name="Rectangle 33"/>
          <p:cNvSpPr/>
          <p:nvPr/>
        </p:nvSpPr>
        <p:spPr>
          <a:xfrm>
            <a:off x="8832960" y="3730680"/>
            <a:ext cx="2514240" cy="3168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2960" rIns="90000" bIns="-12960" anchor="ctr">
            <a:noAutofit/>
          </a:bodyPr>
          <a:p>
            <a:endParaRPr lang="en-US" sz="1800" b="0" u="none" strike="noStrike">
              <a:solidFill>
                <a:schemeClr val="lt1"/>
              </a:solidFill>
              <a:effectLst/>
              <a:uFillTx/>
              <a:latin typeface="Calibri"/>
            </a:endParaRPr>
          </a:p>
        </p:txBody>
      </p:sp>
      <p:sp>
        <p:nvSpPr>
          <p:cNvPr id="288" name="TextBox 34"/>
          <p:cNvSpPr/>
          <p:nvPr/>
        </p:nvSpPr>
        <p:spPr>
          <a:xfrm>
            <a:off x="8970120" y="3858840"/>
            <a:ext cx="219420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1" u="none" strike="noStrike">
                <a:solidFill>
                  <a:srgbClr val="101828"/>
                </a:solidFill>
                <a:effectLst/>
                <a:uFillTx/>
                <a:latin typeface="Segoe UI"/>
              </a:rPr>
              <a:t>Offers</a:t>
            </a:r>
            <a:endParaRPr lang="en-US" sz="1150" b="0" u="none" strike="noStrike">
              <a:solidFill>
                <a:srgbClr val="000000"/>
              </a:solidFill>
              <a:effectLst/>
              <a:uFillTx/>
              <a:latin typeface="Arial"/>
            </a:endParaRPr>
          </a:p>
        </p:txBody>
      </p:sp>
      <p:sp>
        <p:nvSpPr>
          <p:cNvPr id="289" name="TextBox 35"/>
          <p:cNvSpPr/>
          <p:nvPr/>
        </p:nvSpPr>
        <p:spPr>
          <a:xfrm>
            <a:off x="10844640" y="3858840"/>
            <a:ext cx="45684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00" b="0" u="none" strike="noStrike">
                <a:solidFill>
                  <a:srgbClr val="2166A3"/>
                </a:solidFill>
                <a:effectLst/>
                <a:uFillTx/>
                <a:latin typeface="Consolas"/>
              </a:rPr>
              <a:t>M4</a:t>
            </a:r>
            <a:endParaRPr lang="en-US" sz="900" b="0" u="none" strike="noStrike">
              <a:solidFill>
                <a:srgbClr val="000000"/>
              </a:solidFill>
              <a:effectLst/>
              <a:uFillTx/>
              <a:latin typeface="Arial"/>
            </a:endParaRPr>
          </a:p>
        </p:txBody>
      </p:sp>
      <p:sp>
        <p:nvSpPr>
          <p:cNvPr id="290" name="TextBox 36"/>
          <p:cNvSpPr/>
          <p:nvPr/>
        </p:nvSpPr>
        <p:spPr>
          <a:xfrm>
            <a:off x="8970120" y="4096440"/>
            <a:ext cx="219420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0" u="none" strike="noStrike">
                <a:solidFill>
                  <a:srgbClr val="6B7C93"/>
                </a:solidFill>
                <a:effectLst/>
                <a:uFillTx/>
                <a:latin typeface="Segoe UI"/>
              </a:rPr>
              <a:t>feasible set, pricing</a:t>
            </a:r>
            <a:endParaRPr lang="en-US" sz="950" b="0" u="none" strike="noStrike">
              <a:solidFill>
                <a:srgbClr val="000000"/>
              </a:solidFill>
              <a:effectLst/>
              <a:uFillTx/>
              <a:latin typeface="Arial"/>
            </a:endParaRPr>
          </a:p>
        </p:txBody>
      </p:sp>
      <p:sp>
        <p:nvSpPr>
          <p:cNvPr id="291" name="Rectangle 37"/>
          <p:cNvSpPr/>
          <p:nvPr/>
        </p:nvSpPr>
        <p:spPr>
          <a:xfrm>
            <a:off x="658440" y="4535280"/>
            <a:ext cx="2514240" cy="658080"/>
          </a:xfrm>
          <a:prstGeom prst="rect">
            <a:avLst/>
          </a:prstGeom>
          <a:noFill/>
          <a:ln>
            <a:solidFill>
              <a:srgbClr val="DBE3E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2" name="Rectangle 38"/>
          <p:cNvSpPr/>
          <p:nvPr/>
        </p:nvSpPr>
        <p:spPr>
          <a:xfrm>
            <a:off x="658440" y="4535280"/>
            <a:ext cx="2514240" cy="3168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2960" rIns="90000" bIns="-12960" anchor="ctr">
            <a:noAutofit/>
          </a:bodyPr>
          <a:p>
            <a:endParaRPr lang="en-US" sz="1800" b="0" u="none" strike="noStrike">
              <a:solidFill>
                <a:schemeClr val="lt1"/>
              </a:solidFill>
              <a:effectLst/>
              <a:uFillTx/>
              <a:latin typeface="Calibri"/>
            </a:endParaRPr>
          </a:p>
        </p:txBody>
      </p:sp>
      <p:sp>
        <p:nvSpPr>
          <p:cNvPr id="293" name="TextBox 39"/>
          <p:cNvSpPr/>
          <p:nvPr/>
        </p:nvSpPr>
        <p:spPr>
          <a:xfrm>
            <a:off x="795600" y="4663440"/>
            <a:ext cx="219420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1" u="none" strike="noStrike">
                <a:solidFill>
                  <a:srgbClr val="101828"/>
                </a:solidFill>
                <a:effectLst/>
                <a:uFillTx/>
                <a:latin typeface="Segoe UI"/>
              </a:rPr>
              <a:t>Default</a:t>
            </a:r>
            <a:endParaRPr lang="en-US" sz="1150" b="0" u="none" strike="noStrike">
              <a:solidFill>
                <a:srgbClr val="000000"/>
              </a:solidFill>
              <a:effectLst/>
              <a:uFillTx/>
              <a:latin typeface="Arial"/>
            </a:endParaRPr>
          </a:p>
        </p:txBody>
      </p:sp>
      <p:sp>
        <p:nvSpPr>
          <p:cNvPr id="294" name="TextBox 40"/>
          <p:cNvSpPr/>
          <p:nvPr/>
        </p:nvSpPr>
        <p:spPr>
          <a:xfrm>
            <a:off x="2670120" y="4663440"/>
            <a:ext cx="45684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00" b="0" u="none" strike="noStrike">
                <a:solidFill>
                  <a:srgbClr val="2166A3"/>
                </a:solidFill>
                <a:effectLst/>
                <a:uFillTx/>
                <a:latin typeface="Consolas"/>
              </a:rPr>
              <a:t>M5</a:t>
            </a:r>
            <a:endParaRPr lang="en-US" sz="900" b="0" u="none" strike="noStrike">
              <a:solidFill>
                <a:srgbClr val="000000"/>
              </a:solidFill>
              <a:effectLst/>
              <a:uFillTx/>
              <a:latin typeface="Arial"/>
            </a:endParaRPr>
          </a:p>
        </p:txBody>
      </p:sp>
      <p:sp>
        <p:nvSpPr>
          <p:cNvPr id="295" name="TextBox 41"/>
          <p:cNvSpPr/>
          <p:nvPr/>
        </p:nvSpPr>
        <p:spPr>
          <a:xfrm>
            <a:off x="795600" y="4901040"/>
            <a:ext cx="219420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0" u="none" strike="noStrike">
                <a:solidFill>
                  <a:srgbClr val="6B7C93"/>
                </a:solidFill>
                <a:effectLst/>
                <a:uFillTx/>
                <a:latin typeface="Segoe UI"/>
              </a:rPr>
              <a:t>PD / LGD / EAD</a:t>
            </a:r>
            <a:endParaRPr lang="en-US" sz="950" b="0" u="none" strike="noStrike">
              <a:solidFill>
                <a:srgbClr val="000000"/>
              </a:solidFill>
              <a:effectLst/>
              <a:uFillTx/>
              <a:latin typeface="Arial"/>
            </a:endParaRPr>
          </a:p>
        </p:txBody>
      </p:sp>
      <p:sp>
        <p:nvSpPr>
          <p:cNvPr id="296" name="Rectangle 42"/>
          <p:cNvSpPr/>
          <p:nvPr/>
        </p:nvSpPr>
        <p:spPr>
          <a:xfrm>
            <a:off x="3383280" y="4535280"/>
            <a:ext cx="2514240" cy="658080"/>
          </a:xfrm>
          <a:prstGeom prst="rect">
            <a:avLst/>
          </a:prstGeom>
          <a:noFill/>
          <a:ln>
            <a:solidFill>
              <a:srgbClr val="DBE3E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7" name="Rectangle 43"/>
          <p:cNvSpPr/>
          <p:nvPr/>
        </p:nvSpPr>
        <p:spPr>
          <a:xfrm>
            <a:off x="3383280" y="4535280"/>
            <a:ext cx="2514240" cy="3168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2960" rIns="90000" bIns="-12960" anchor="ctr">
            <a:noAutofit/>
          </a:bodyPr>
          <a:p>
            <a:endParaRPr lang="en-US" sz="1800" b="0" u="none" strike="noStrike">
              <a:solidFill>
                <a:schemeClr val="lt1"/>
              </a:solidFill>
              <a:effectLst/>
              <a:uFillTx/>
              <a:latin typeface="Calibri"/>
            </a:endParaRPr>
          </a:p>
        </p:txBody>
      </p:sp>
      <p:sp>
        <p:nvSpPr>
          <p:cNvPr id="298" name="TextBox 44"/>
          <p:cNvSpPr/>
          <p:nvPr/>
        </p:nvSpPr>
        <p:spPr>
          <a:xfrm>
            <a:off x="3520440" y="4663440"/>
            <a:ext cx="219420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1" u="none" strike="noStrike">
                <a:solidFill>
                  <a:srgbClr val="101828"/>
                </a:solidFill>
                <a:effectLst/>
                <a:uFillTx/>
                <a:latin typeface="Segoe UI"/>
              </a:rPr>
              <a:t>Assistant</a:t>
            </a:r>
            <a:endParaRPr lang="en-US" sz="1150" b="0" u="none" strike="noStrike">
              <a:solidFill>
                <a:srgbClr val="000000"/>
              </a:solidFill>
              <a:effectLst/>
              <a:uFillTx/>
              <a:latin typeface="Arial"/>
            </a:endParaRPr>
          </a:p>
        </p:txBody>
      </p:sp>
      <p:sp>
        <p:nvSpPr>
          <p:cNvPr id="299" name="TextBox 45"/>
          <p:cNvSpPr/>
          <p:nvPr/>
        </p:nvSpPr>
        <p:spPr>
          <a:xfrm>
            <a:off x="5394960" y="4663440"/>
            <a:ext cx="45684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00" b="0" u="none" strike="noStrike">
                <a:solidFill>
                  <a:srgbClr val="2166A3"/>
                </a:solidFill>
                <a:effectLst/>
                <a:uFillTx/>
                <a:latin typeface="Consolas"/>
              </a:rPr>
              <a:t>M6</a:t>
            </a:r>
            <a:endParaRPr lang="en-US" sz="900" b="0" u="none" strike="noStrike">
              <a:solidFill>
                <a:srgbClr val="000000"/>
              </a:solidFill>
              <a:effectLst/>
              <a:uFillTx/>
              <a:latin typeface="Arial"/>
            </a:endParaRPr>
          </a:p>
        </p:txBody>
      </p:sp>
      <p:sp>
        <p:nvSpPr>
          <p:cNvPr id="300" name="TextBox 46"/>
          <p:cNvSpPr/>
          <p:nvPr/>
        </p:nvSpPr>
        <p:spPr>
          <a:xfrm>
            <a:off x="3520440" y="4901040"/>
            <a:ext cx="219420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0" u="none" strike="noStrike">
                <a:solidFill>
                  <a:srgbClr val="6B7C93"/>
                </a:solidFill>
                <a:effectLst/>
                <a:uFillTx/>
                <a:latin typeface="Segoe UI"/>
              </a:rPr>
              <a:t>retrieval, citations</a:t>
            </a:r>
            <a:endParaRPr lang="en-US" sz="950" b="0" u="none" strike="noStrike">
              <a:solidFill>
                <a:srgbClr val="000000"/>
              </a:solidFill>
              <a:effectLst/>
              <a:uFillTx/>
              <a:latin typeface="Arial"/>
            </a:endParaRPr>
          </a:p>
        </p:txBody>
      </p:sp>
      <p:sp>
        <p:nvSpPr>
          <p:cNvPr id="301" name="Rectangle 47"/>
          <p:cNvSpPr/>
          <p:nvPr/>
        </p:nvSpPr>
        <p:spPr>
          <a:xfrm>
            <a:off x="6108120" y="4535280"/>
            <a:ext cx="2514240" cy="658080"/>
          </a:xfrm>
          <a:prstGeom prst="rect">
            <a:avLst/>
          </a:prstGeom>
          <a:noFill/>
          <a:ln>
            <a:solidFill>
              <a:srgbClr val="DBE3E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2" name="Rectangle 48"/>
          <p:cNvSpPr/>
          <p:nvPr/>
        </p:nvSpPr>
        <p:spPr>
          <a:xfrm>
            <a:off x="6108120" y="4535280"/>
            <a:ext cx="2514240" cy="3168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2960" rIns="90000" bIns="-12960" anchor="ctr">
            <a:noAutofit/>
          </a:bodyPr>
          <a:p>
            <a:endParaRPr lang="en-US" sz="1800" b="0" u="none" strike="noStrike">
              <a:solidFill>
                <a:schemeClr val="lt1"/>
              </a:solidFill>
              <a:effectLst/>
              <a:uFillTx/>
              <a:latin typeface="Calibri"/>
            </a:endParaRPr>
          </a:p>
        </p:txBody>
      </p:sp>
      <p:sp>
        <p:nvSpPr>
          <p:cNvPr id="303" name="TextBox 49"/>
          <p:cNvSpPr/>
          <p:nvPr/>
        </p:nvSpPr>
        <p:spPr>
          <a:xfrm>
            <a:off x="6245280" y="4663440"/>
            <a:ext cx="219420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1" u="none" strike="noStrike">
                <a:solidFill>
                  <a:srgbClr val="101828"/>
                </a:solidFill>
                <a:effectLst/>
                <a:uFillTx/>
                <a:latin typeface="Segoe UI"/>
              </a:rPr>
              <a:t>Dashboards</a:t>
            </a:r>
            <a:endParaRPr lang="en-US" sz="1150" b="0" u="none" strike="noStrike">
              <a:solidFill>
                <a:srgbClr val="000000"/>
              </a:solidFill>
              <a:effectLst/>
              <a:uFillTx/>
              <a:latin typeface="Arial"/>
            </a:endParaRPr>
          </a:p>
        </p:txBody>
      </p:sp>
      <p:sp>
        <p:nvSpPr>
          <p:cNvPr id="304" name="TextBox 50"/>
          <p:cNvSpPr/>
          <p:nvPr/>
        </p:nvSpPr>
        <p:spPr>
          <a:xfrm>
            <a:off x="8119800" y="4663440"/>
            <a:ext cx="45684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00" b="0" u="none" strike="noStrike">
                <a:solidFill>
                  <a:srgbClr val="2166A3"/>
                </a:solidFill>
                <a:effectLst/>
                <a:uFillTx/>
                <a:latin typeface="Consolas"/>
              </a:rPr>
              <a:t>M7</a:t>
            </a:r>
            <a:endParaRPr lang="en-US" sz="900" b="0" u="none" strike="noStrike">
              <a:solidFill>
                <a:srgbClr val="000000"/>
              </a:solidFill>
              <a:effectLst/>
              <a:uFillTx/>
              <a:latin typeface="Arial"/>
            </a:endParaRPr>
          </a:p>
        </p:txBody>
      </p:sp>
      <p:sp>
        <p:nvSpPr>
          <p:cNvPr id="305" name="TextBox 51"/>
          <p:cNvSpPr/>
          <p:nvPr/>
        </p:nvSpPr>
        <p:spPr>
          <a:xfrm>
            <a:off x="6245280" y="4901040"/>
            <a:ext cx="219420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0" u="none" strike="noStrike">
                <a:solidFill>
                  <a:srgbClr val="6B7C93"/>
                </a:solidFill>
                <a:effectLst/>
                <a:uFillTx/>
                <a:latin typeface="Segoe UI"/>
              </a:rPr>
              <a:t>portfolio metrics</a:t>
            </a:r>
            <a:endParaRPr lang="en-US" sz="950" b="0" u="none" strike="noStrike">
              <a:solidFill>
                <a:srgbClr val="000000"/>
              </a:solidFill>
              <a:effectLst/>
              <a:uFillTx/>
              <a:latin typeface="Arial"/>
            </a:endParaRPr>
          </a:p>
        </p:txBody>
      </p:sp>
      <p:sp>
        <p:nvSpPr>
          <p:cNvPr id="306" name="Rectangle 52"/>
          <p:cNvSpPr/>
          <p:nvPr/>
        </p:nvSpPr>
        <p:spPr>
          <a:xfrm>
            <a:off x="8832960" y="4535280"/>
            <a:ext cx="2514240" cy="658080"/>
          </a:xfrm>
          <a:prstGeom prst="rect">
            <a:avLst/>
          </a:prstGeom>
          <a:noFill/>
          <a:ln>
            <a:solidFill>
              <a:srgbClr val="DBE3E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7" name="Rectangle 53"/>
          <p:cNvSpPr/>
          <p:nvPr/>
        </p:nvSpPr>
        <p:spPr>
          <a:xfrm>
            <a:off x="8832960" y="4535280"/>
            <a:ext cx="2514240" cy="3168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2960" rIns="90000" bIns="-12960" anchor="ctr">
            <a:noAutofit/>
          </a:bodyPr>
          <a:p>
            <a:endParaRPr lang="en-US" sz="1800" b="0" u="none" strike="noStrike">
              <a:solidFill>
                <a:schemeClr val="lt1"/>
              </a:solidFill>
              <a:effectLst/>
              <a:uFillTx/>
              <a:latin typeface="Calibri"/>
            </a:endParaRPr>
          </a:p>
        </p:txBody>
      </p:sp>
      <p:sp>
        <p:nvSpPr>
          <p:cNvPr id="308" name="TextBox 54"/>
          <p:cNvSpPr/>
          <p:nvPr/>
        </p:nvSpPr>
        <p:spPr>
          <a:xfrm>
            <a:off x="8970120" y="4663440"/>
            <a:ext cx="219420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1" u="none" strike="noStrike">
                <a:solidFill>
                  <a:srgbClr val="101828"/>
                </a:solidFill>
                <a:effectLst/>
                <a:uFillTx/>
                <a:latin typeface="Segoe UI"/>
              </a:rPr>
              <a:t>Early warning</a:t>
            </a:r>
            <a:endParaRPr lang="en-US" sz="1150" b="0" u="none" strike="noStrike">
              <a:solidFill>
                <a:srgbClr val="000000"/>
              </a:solidFill>
              <a:effectLst/>
              <a:uFillTx/>
              <a:latin typeface="Arial"/>
            </a:endParaRPr>
          </a:p>
        </p:txBody>
      </p:sp>
      <p:sp>
        <p:nvSpPr>
          <p:cNvPr id="309" name="TextBox 55"/>
          <p:cNvSpPr/>
          <p:nvPr/>
        </p:nvSpPr>
        <p:spPr>
          <a:xfrm>
            <a:off x="10844640" y="4663440"/>
            <a:ext cx="45684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00" b="0" u="none" strike="noStrike">
                <a:solidFill>
                  <a:srgbClr val="2166A3"/>
                </a:solidFill>
                <a:effectLst/>
                <a:uFillTx/>
                <a:latin typeface="Consolas"/>
              </a:rPr>
              <a:t>M8</a:t>
            </a:r>
            <a:endParaRPr lang="en-US" sz="900" b="0" u="none" strike="noStrike">
              <a:solidFill>
                <a:srgbClr val="000000"/>
              </a:solidFill>
              <a:effectLst/>
              <a:uFillTx/>
              <a:latin typeface="Arial"/>
            </a:endParaRPr>
          </a:p>
        </p:txBody>
      </p:sp>
      <p:sp>
        <p:nvSpPr>
          <p:cNvPr id="310" name="TextBox 56"/>
          <p:cNvSpPr/>
          <p:nvPr/>
        </p:nvSpPr>
        <p:spPr>
          <a:xfrm>
            <a:off x="8970120" y="4901040"/>
            <a:ext cx="219420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0" u="none" strike="noStrike">
                <a:solidFill>
                  <a:srgbClr val="6B7C93"/>
                </a:solidFill>
                <a:effectLst/>
                <a:uFillTx/>
                <a:latin typeface="Segoe UI"/>
              </a:rPr>
              <a:t>change-point, alerts</a:t>
            </a:r>
            <a:endParaRPr lang="en-US" sz="950" b="0" u="none" strike="noStrike">
              <a:solidFill>
                <a:srgbClr val="000000"/>
              </a:solidFill>
              <a:effectLst/>
              <a:uFillTx/>
              <a:latin typeface="Arial"/>
            </a:endParaRPr>
          </a:p>
        </p:txBody>
      </p:sp>
      <p:sp>
        <p:nvSpPr>
          <p:cNvPr id="311" name="Rectangle 57"/>
          <p:cNvSpPr/>
          <p:nvPr/>
        </p:nvSpPr>
        <p:spPr>
          <a:xfrm>
            <a:off x="658440" y="5413320"/>
            <a:ext cx="10881000" cy="456840"/>
          </a:xfrm>
          <a:prstGeom prst="rect">
            <a:avLst/>
          </a:prstGeom>
          <a:solidFill>
            <a:srgbClr val="EEF4FA"/>
          </a:solidFill>
          <a:ln>
            <a:solidFill>
              <a:srgbClr val="ADC9E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2" name="TextBox 58"/>
          <p:cNvSpPr/>
          <p:nvPr/>
        </p:nvSpPr>
        <p:spPr>
          <a:xfrm>
            <a:off x="887040" y="5532120"/>
            <a:ext cx="10423800" cy="21924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50" b="0" u="none" strike="noStrike">
                <a:solidFill>
                  <a:srgbClr val="0A3A68"/>
                </a:solidFill>
                <a:effectLst/>
                <a:uFillTx/>
                <a:latin typeface="Segoe UI"/>
              </a:rPr>
              <a:t>PLATFORM  ·  frozen definitions · lakehouse · identity spine · feature store · model registry · decision log · consent</a:t>
            </a:r>
            <a:endParaRPr lang="en-US" sz="1050" b="0" u="none" strike="noStrike">
              <a:solidFill>
                <a:srgbClr val="000000"/>
              </a:solidFill>
              <a:effectLst/>
              <a:uFillTx/>
              <a:latin typeface="Arial"/>
            </a:endParaRPr>
          </a:p>
        </p:txBody>
      </p:sp>
      <p:sp>
        <p:nvSpPr>
          <p:cNvPr id="313" name="Rectangle 59"/>
          <p:cNvSpPr/>
          <p:nvPr/>
        </p:nvSpPr>
        <p:spPr>
          <a:xfrm>
            <a:off x="658440" y="6053400"/>
            <a:ext cx="10881000" cy="566640"/>
          </a:xfrm>
          <a:prstGeom prst="rect">
            <a:avLst/>
          </a:prstGeom>
          <a:solidFill>
            <a:srgbClr val="EEF4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4" name="Rectangle 60"/>
          <p:cNvSpPr/>
          <p:nvPr/>
        </p:nvSpPr>
        <p:spPr>
          <a:xfrm>
            <a:off x="658440" y="6053400"/>
            <a:ext cx="36360" cy="566640"/>
          </a:xfrm>
          <a:prstGeom prst="rect">
            <a:avLst/>
          </a:prstGeom>
          <a:solidFill>
            <a:srgbClr val="2166A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5" name="TextBox 61"/>
          <p:cNvSpPr/>
          <p:nvPr/>
        </p:nvSpPr>
        <p:spPr>
          <a:xfrm>
            <a:off x="859680" y="6172200"/>
            <a:ext cx="10496880" cy="32868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150" b="0" u="none" strike="noStrike">
                <a:solidFill>
                  <a:srgbClr val="475467"/>
                </a:solidFill>
                <a:effectLst/>
                <a:uFillTx/>
                <a:latin typeface="Segoe UI"/>
              </a:rPr>
              <a:t>Every definition — what counts as a default, what counts as a cure — is imported from one place. Changing one needs committee approval and an impact analysis on every model that imports it.</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6" name="TextBox 1"/>
          <p:cNvSpPr/>
          <p:nvPr/>
        </p:nvSpPr>
        <p:spPr>
          <a:xfrm>
            <a:off x="11338560" y="384120"/>
            <a:ext cx="548280" cy="228240"/>
          </a:xfrm>
          <a:prstGeom prst="rect">
            <a:avLst/>
          </a:prstGeom>
          <a:noFill/>
          <a:ln w="0">
            <a:noFill/>
          </a:ln>
        </p:spPr>
        <p:style>
          <a:lnRef idx="0"/>
          <a:fillRef idx="0"/>
          <a:effectRef idx="0"/>
          <a:fontRef idx="minor"/>
        </p:style>
        <p:txBody>
          <a:bodyPr lIns="0" tIns="0" rIns="0" bIns="0" anchor="t">
            <a:spAutoFit/>
          </a:bodyPr>
          <a:p>
            <a:pPr algn="r" defTabSz="457200">
              <a:lnSpc>
                <a:spcPct val="100000"/>
              </a:lnSpc>
            </a:pPr>
            <a:r>
              <a:rPr lang="en-US" sz="900" b="0" u="none" strike="noStrike">
                <a:solidFill>
                  <a:srgbClr val="6B7C93"/>
                </a:solidFill>
                <a:effectLst/>
                <a:uFillTx/>
                <a:latin typeface="Consolas"/>
              </a:rPr>
              <a:t>08</a:t>
            </a:r>
            <a:endParaRPr lang="en-US" sz="900" b="0" u="none" strike="noStrike">
              <a:solidFill>
                <a:srgbClr val="000000"/>
              </a:solidFill>
              <a:effectLst/>
              <a:uFillTx/>
              <a:latin typeface="Arial"/>
            </a:endParaRPr>
          </a:p>
        </p:txBody>
      </p:sp>
      <p:sp>
        <p:nvSpPr>
          <p:cNvPr id="317" name="TextBox 2"/>
          <p:cNvSpPr/>
          <p:nvPr/>
        </p:nvSpPr>
        <p:spPr>
          <a:xfrm>
            <a:off x="658440" y="457200"/>
            <a:ext cx="10058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0" u="none" strike="noStrike">
                <a:solidFill>
                  <a:srgbClr val="2166A3"/>
                </a:solidFill>
                <a:effectLst/>
                <a:uFillTx/>
                <a:latin typeface="Consolas"/>
              </a:rPr>
              <a:t>THE METHOD</a:t>
            </a:r>
            <a:endParaRPr lang="en-US" sz="1050" b="0" u="none" strike="noStrike">
              <a:solidFill>
                <a:srgbClr val="000000"/>
              </a:solidFill>
              <a:effectLst/>
              <a:uFillTx/>
              <a:latin typeface="Arial"/>
            </a:endParaRPr>
          </a:p>
        </p:txBody>
      </p:sp>
      <p:sp>
        <p:nvSpPr>
          <p:cNvPr id="318" name="TextBox 3"/>
          <p:cNvSpPr/>
          <p:nvPr/>
        </p:nvSpPr>
        <p:spPr>
          <a:xfrm>
            <a:off x="658440" y="777240"/>
            <a:ext cx="10423800" cy="914040"/>
          </a:xfrm>
          <a:prstGeom prst="rect">
            <a:avLst/>
          </a:prstGeom>
          <a:noFill/>
          <a:ln w="0">
            <a:noFill/>
          </a:ln>
        </p:spPr>
        <p:style>
          <a:lnRef idx="0"/>
          <a:fillRef idx="0"/>
          <a:effectRef idx="0"/>
          <a:fontRef idx="minor"/>
        </p:style>
        <p:txBody>
          <a:bodyPr lIns="0" tIns="0" rIns="0" bIns="0" anchor="t">
            <a:spAutoFit/>
          </a:bodyPr>
          <a:p>
            <a:pPr defTabSz="457200">
              <a:lnSpc>
                <a:spcPct val="95000"/>
              </a:lnSpc>
            </a:pPr>
            <a:r>
              <a:rPr lang="en-US" sz="3200" b="1" u="none" strike="noStrike">
                <a:solidFill>
                  <a:srgbClr val="0A3A68"/>
                </a:solidFill>
                <a:effectLst/>
                <a:uFillTx/>
                <a:latin typeface="Georgia"/>
              </a:rPr>
              <a:t>Three tracks, one interface — and only one counts</a:t>
            </a:r>
            <a:endParaRPr lang="en-US" sz="3200" b="0" u="none" strike="noStrike">
              <a:solidFill>
                <a:srgbClr val="000000"/>
              </a:solidFill>
              <a:effectLst/>
              <a:uFillTx/>
              <a:latin typeface="Arial"/>
            </a:endParaRPr>
          </a:p>
        </p:txBody>
      </p:sp>
      <p:sp>
        <p:nvSpPr>
          <p:cNvPr id="319" name="TextBox 4"/>
          <p:cNvSpPr/>
          <p:nvPr/>
        </p:nvSpPr>
        <p:spPr>
          <a:xfrm>
            <a:off x="658440" y="1691640"/>
            <a:ext cx="10515240" cy="548280"/>
          </a:xfrm>
          <a:prstGeom prst="rect">
            <a:avLst/>
          </a:prstGeom>
          <a:noFill/>
          <a:ln w="0">
            <a:noFill/>
          </a:ln>
        </p:spPr>
        <p:style>
          <a:lnRef idx="0"/>
          <a:fillRef idx="0"/>
          <a:effectRef idx="0"/>
          <a:fontRef idx="minor"/>
        </p:style>
        <p:txBody>
          <a:bodyPr lIns="0" tIns="0" rIns="0" bIns="0" anchor="t">
            <a:spAutoFit/>
          </a:bodyPr>
          <a:p>
            <a:pPr defTabSz="457200">
              <a:lnSpc>
                <a:spcPct val="125000"/>
              </a:lnSpc>
            </a:pPr>
            <a:r>
              <a:rPr lang="en-US" sz="1200" b="0" u="none" strike="noStrike">
                <a:solidFill>
                  <a:srgbClr val="475467"/>
                </a:solidFill>
                <a:effectLst/>
                <a:uFillTx/>
                <a:latin typeface="Segoe UI"/>
              </a:rPr>
              <a:t>We do not have a real bank's data. Pretending we do is the easiest way to show a number that looks like proof and is not. So every figure we report says which kind of data produced it.</a:t>
            </a:r>
            <a:endParaRPr lang="en-US" sz="1200" b="0" u="none" strike="noStrike">
              <a:solidFill>
                <a:srgbClr val="000000"/>
              </a:solidFill>
              <a:effectLst/>
              <a:uFillTx/>
              <a:latin typeface="Arial"/>
            </a:endParaRPr>
          </a:p>
        </p:txBody>
      </p:sp>
      <p:sp>
        <p:nvSpPr>
          <p:cNvPr id="320" name="Rectangle 5"/>
          <p:cNvSpPr/>
          <p:nvPr/>
        </p:nvSpPr>
        <p:spPr>
          <a:xfrm>
            <a:off x="658440" y="2514600"/>
            <a:ext cx="3382920" cy="2514240"/>
          </a:xfrm>
          <a:prstGeom prst="rect">
            <a:avLst/>
          </a:prstGeom>
          <a:noFill/>
          <a:ln>
            <a:solidFill>
              <a:srgbClr val="DBE3E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1" name="Rectangle 6"/>
          <p:cNvSpPr/>
          <p:nvPr/>
        </p:nvSpPr>
        <p:spPr>
          <a:xfrm>
            <a:off x="658440" y="2514600"/>
            <a:ext cx="3382920" cy="36360"/>
          </a:xfrm>
          <a:prstGeom prst="rect">
            <a:avLst/>
          </a:prstGeom>
          <a:solidFill>
            <a:srgbClr val="0D4A8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8280" rIns="90000" bIns="-8280" anchor="ctr">
            <a:noAutofit/>
          </a:bodyPr>
          <a:p>
            <a:endParaRPr lang="en-US" sz="1800" b="0" u="none" strike="noStrike">
              <a:solidFill>
                <a:schemeClr val="lt1"/>
              </a:solidFill>
              <a:effectLst/>
              <a:uFillTx/>
              <a:latin typeface="Calibri"/>
            </a:endParaRPr>
          </a:p>
        </p:txBody>
      </p:sp>
      <p:sp>
        <p:nvSpPr>
          <p:cNvPr id="322" name="TextBox 7"/>
          <p:cNvSpPr/>
          <p:nvPr/>
        </p:nvSpPr>
        <p:spPr>
          <a:xfrm>
            <a:off x="887040" y="2724840"/>
            <a:ext cx="2925720" cy="228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1" u="none" strike="noStrike">
                <a:solidFill>
                  <a:srgbClr val="0D4A85"/>
                </a:solidFill>
                <a:effectLst/>
                <a:uFillTx/>
                <a:latin typeface="Consolas"/>
              </a:rPr>
              <a:t>TRACK A</a:t>
            </a:r>
            <a:endParaRPr lang="en-US" sz="950" b="0" u="none" strike="noStrike">
              <a:solidFill>
                <a:srgbClr val="000000"/>
              </a:solidFill>
              <a:effectLst/>
              <a:uFillTx/>
              <a:latin typeface="Arial"/>
            </a:endParaRPr>
          </a:p>
        </p:txBody>
      </p:sp>
      <p:sp>
        <p:nvSpPr>
          <p:cNvPr id="323" name="TextBox 8"/>
          <p:cNvSpPr/>
          <p:nvPr/>
        </p:nvSpPr>
        <p:spPr>
          <a:xfrm>
            <a:off x="887040" y="3017520"/>
            <a:ext cx="292572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400" b="1" u="none" strike="noStrike">
                <a:solidFill>
                  <a:srgbClr val="101828"/>
                </a:solidFill>
                <a:effectLst/>
                <a:uFillTx/>
                <a:latin typeface="Georgia"/>
              </a:rPr>
              <a:t>Local reference</a:t>
            </a:r>
            <a:endParaRPr lang="en-US" sz="1400" b="0" u="none" strike="noStrike">
              <a:solidFill>
                <a:srgbClr val="000000"/>
              </a:solidFill>
              <a:effectLst/>
              <a:uFillTx/>
              <a:latin typeface="Arial"/>
            </a:endParaRPr>
          </a:p>
        </p:txBody>
      </p:sp>
      <p:sp>
        <p:nvSpPr>
          <p:cNvPr id="324" name="TextBox 9"/>
          <p:cNvSpPr/>
          <p:nvPr/>
        </p:nvSpPr>
        <p:spPr>
          <a:xfrm>
            <a:off x="887040" y="3401640"/>
            <a:ext cx="2971440" cy="11883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050" b="0" u="none" strike="noStrike">
                <a:solidFill>
                  <a:srgbClr val="475467"/>
                </a:solidFill>
                <a:effectLst/>
                <a:uFillTx/>
                <a:latin typeface="Segoe UI"/>
              </a:rPr>
              <a:t>Runs on a laptop with made-up test data. Proves the plumbing works — that the steps connect and the sums add up.</a:t>
            </a:r>
            <a:endParaRPr lang="en-US" sz="1050" b="0" u="none" strike="noStrike">
              <a:solidFill>
                <a:srgbClr val="000000"/>
              </a:solidFill>
              <a:effectLst/>
              <a:uFillTx/>
              <a:latin typeface="Arial"/>
            </a:endParaRPr>
          </a:p>
        </p:txBody>
      </p:sp>
      <p:sp>
        <p:nvSpPr>
          <p:cNvPr id="325" name="Rectangle 10"/>
          <p:cNvSpPr/>
          <p:nvPr/>
        </p:nvSpPr>
        <p:spPr>
          <a:xfrm>
            <a:off x="4370760" y="2514600"/>
            <a:ext cx="3382920" cy="2514240"/>
          </a:xfrm>
          <a:prstGeom prst="rect">
            <a:avLst/>
          </a:prstGeom>
          <a:noFill/>
          <a:ln>
            <a:solidFill>
              <a:srgbClr val="DBE3E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6" name="Rectangle 11"/>
          <p:cNvSpPr/>
          <p:nvPr/>
        </p:nvSpPr>
        <p:spPr>
          <a:xfrm>
            <a:off x="4370760" y="2514600"/>
            <a:ext cx="3382920" cy="3636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8280" rIns="90000" bIns="-8280" anchor="ctr">
            <a:noAutofit/>
          </a:bodyPr>
          <a:p>
            <a:endParaRPr lang="en-US" sz="1800" b="0" u="none" strike="noStrike">
              <a:solidFill>
                <a:schemeClr val="lt1"/>
              </a:solidFill>
              <a:effectLst/>
              <a:uFillTx/>
              <a:latin typeface="Calibri"/>
            </a:endParaRPr>
          </a:p>
        </p:txBody>
      </p:sp>
      <p:sp>
        <p:nvSpPr>
          <p:cNvPr id="327" name="TextBox 12"/>
          <p:cNvSpPr/>
          <p:nvPr/>
        </p:nvSpPr>
        <p:spPr>
          <a:xfrm>
            <a:off x="4599360" y="2724840"/>
            <a:ext cx="2925720" cy="228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1" u="none" strike="noStrike">
                <a:solidFill>
                  <a:srgbClr val="067647"/>
                </a:solidFill>
                <a:effectLst/>
                <a:uFillTx/>
                <a:latin typeface="Consolas"/>
              </a:rPr>
              <a:t>TRACK P</a:t>
            </a:r>
            <a:endParaRPr lang="en-US" sz="950" b="0" u="none" strike="noStrike">
              <a:solidFill>
                <a:srgbClr val="000000"/>
              </a:solidFill>
              <a:effectLst/>
              <a:uFillTx/>
              <a:latin typeface="Arial"/>
            </a:endParaRPr>
          </a:p>
        </p:txBody>
      </p:sp>
      <p:sp>
        <p:nvSpPr>
          <p:cNvPr id="328" name="TextBox 13"/>
          <p:cNvSpPr/>
          <p:nvPr/>
        </p:nvSpPr>
        <p:spPr>
          <a:xfrm>
            <a:off x="4599360" y="3017520"/>
            <a:ext cx="292572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400" b="1" u="none" strike="noStrike">
                <a:solidFill>
                  <a:srgbClr val="101828"/>
                </a:solidFill>
                <a:effectLst/>
                <a:uFillTx/>
                <a:latin typeface="Georgia"/>
              </a:rPr>
              <a:t>Public reference data</a:t>
            </a:r>
            <a:endParaRPr lang="en-US" sz="1400" b="0" u="none" strike="noStrike">
              <a:solidFill>
                <a:srgbClr val="000000"/>
              </a:solidFill>
              <a:effectLst/>
              <a:uFillTx/>
              <a:latin typeface="Arial"/>
            </a:endParaRPr>
          </a:p>
        </p:txBody>
      </p:sp>
      <p:sp>
        <p:nvSpPr>
          <p:cNvPr id="329" name="TextBox 14"/>
          <p:cNvSpPr/>
          <p:nvPr/>
        </p:nvSpPr>
        <p:spPr>
          <a:xfrm>
            <a:off x="4599360" y="3401640"/>
            <a:ext cx="2971440" cy="11883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050" b="0" u="none" strike="noStrike">
                <a:solidFill>
                  <a:srgbClr val="475467"/>
                </a:solidFill>
                <a:effectLst/>
                <a:uFillTx/>
                <a:latin typeface="Segoe UI"/>
              </a:rPr>
              <a:t>Real loans and real applications from public datasets. Proves the code copes with messy reality — missing fields, rare events, broken identifiers. Real data, but not this bank's.</a:t>
            </a:r>
            <a:endParaRPr lang="en-US" sz="1050" b="0" u="none" strike="noStrike">
              <a:solidFill>
                <a:srgbClr val="000000"/>
              </a:solidFill>
              <a:effectLst/>
              <a:uFillTx/>
              <a:latin typeface="Arial"/>
            </a:endParaRPr>
          </a:p>
        </p:txBody>
      </p:sp>
      <p:sp>
        <p:nvSpPr>
          <p:cNvPr id="330" name="Rectangle 15"/>
          <p:cNvSpPr/>
          <p:nvPr/>
        </p:nvSpPr>
        <p:spPr>
          <a:xfrm>
            <a:off x="8083440" y="2514600"/>
            <a:ext cx="3382920" cy="2514240"/>
          </a:xfrm>
          <a:prstGeom prst="rect">
            <a:avLst/>
          </a:prstGeom>
          <a:noFill/>
          <a:ln>
            <a:solidFill>
              <a:srgbClr val="DBE3E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1" name="Rectangle 16"/>
          <p:cNvSpPr/>
          <p:nvPr/>
        </p:nvSpPr>
        <p:spPr>
          <a:xfrm>
            <a:off x="8083440" y="2514600"/>
            <a:ext cx="3382920" cy="36360"/>
          </a:xfrm>
          <a:prstGeom prst="rect">
            <a:avLst/>
          </a:prstGeom>
          <a:solidFill>
            <a:srgbClr val="B547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8280" rIns="90000" bIns="-8280" anchor="ctr">
            <a:noAutofit/>
          </a:bodyPr>
          <a:p>
            <a:endParaRPr lang="en-US" sz="1800" b="0" u="none" strike="noStrike">
              <a:solidFill>
                <a:schemeClr val="lt1"/>
              </a:solidFill>
              <a:effectLst/>
              <a:uFillTx/>
              <a:latin typeface="Calibri"/>
            </a:endParaRPr>
          </a:p>
        </p:txBody>
      </p:sp>
      <p:sp>
        <p:nvSpPr>
          <p:cNvPr id="332" name="TextBox 17"/>
          <p:cNvSpPr/>
          <p:nvPr/>
        </p:nvSpPr>
        <p:spPr>
          <a:xfrm>
            <a:off x="8312040" y="2724840"/>
            <a:ext cx="2925720" cy="228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1" u="none" strike="noStrike">
                <a:solidFill>
                  <a:srgbClr val="B54708"/>
                </a:solidFill>
                <a:effectLst/>
                <a:uFillTx/>
                <a:latin typeface="Consolas"/>
              </a:rPr>
              <a:t>TRACK B</a:t>
            </a:r>
            <a:endParaRPr lang="en-US" sz="950" b="0" u="none" strike="noStrike">
              <a:solidFill>
                <a:srgbClr val="000000"/>
              </a:solidFill>
              <a:effectLst/>
              <a:uFillTx/>
              <a:latin typeface="Arial"/>
            </a:endParaRPr>
          </a:p>
        </p:txBody>
      </p:sp>
      <p:sp>
        <p:nvSpPr>
          <p:cNvPr id="333" name="TextBox 18"/>
          <p:cNvSpPr/>
          <p:nvPr/>
        </p:nvSpPr>
        <p:spPr>
          <a:xfrm>
            <a:off x="8312040" y="3017520"/>
            <a:ext cx="292572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400" b="1" u="none" strike="noStrike">
                <a:solidFill>
                  <a:srgbClr val="101828"/>
                </a:solidFill>
                <a:effectLst/>
                <a:uFillTx/>
                <a:latin typeface="Georgia"/>
              </a:rPr>
              <a:t>Bank deployment</a:t>
            </a:r>
            <a:endParaRPr lang="en-US" sz="1400" b="0" u="none" strike="noStrike">
              <a:solidFill>
                <a:srgbClr val="000000"/>
              </a:solidFill>
              <a:effectLst/>
              <a:uFillTx/>
              <a:latin typeface="Arial"/>
            </a:endParaRPr>
          </a:p>
        </p:txBody>
      </p:sp>
      <p:sp>
        <p:nvSpPr>
          <p:cNvPr id="334" name="TextBox 19"/>
          <p:cNvSpPr/>
          <p:nvPr/>
        </p:nvSpPr>
        <p:spPr>
          <a:xfrm>
            <a:off x="8312040" y="3401640"/>
            <a:ext cx="2971440" cy="11883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050" b="0" u="none" strike="noStrike">
                <a:solidFill>
                  <a:srgbClr val="475467"/>
                </a:solidFill>
                <a:effectLst/>
                <a:uFillTx/>
                <a:latin typeface="Segoe UI"/>
              </a:rPr>
              <a:t>The bank's own systems and data. This is the only one that counts as real proof. A score measured on US loans tells you about US loans.</a:t>
            </a:r>
            <a:endParaRPr lang="en-US" sz="1050" b="0" u="none" strike="noStrike">
              <a:solidFill>
                <a:srgbClr val="000000"/>
              </a:solidFill>
              <a:effectLst/>
              <a:uFillTx/>
              <a:latin typeface="Arial"/>
            </a:endParaRPr>
          </a:p>
        </p:txBody>
      </p:sp>
      <p:sp>
        <p:nvSpPr>
          <p:cNvPr id="335" name="Rectangle 20"/>
          <p:cNvSpPr/>
          <p:nvPr/>
        </p:nvSpPr>
        <p:spPr>
          <a:xfrm>
            <a:off x="658440" y="5349240"/>
            <a:ext cx="10881000" cy="959760"/>
          </a:xfrm>
          <a:prstGeom prst="rect">
            <a:avLst/>
          </a:prstGeom>
          <a:solidFill>
            <a:srgbClr val="EEF4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6" name="Rectangle 21"/>
          <p:cNvSpPr/>
          <p:nvPr/>
        </p:nvSpPr>
        <p:spPr>
          <a:xfrm>
            <a:off x="658440" y="5349240"/>
            <a:ext cx="36360" cy="959760"/>
          </a:xfrm>
          <a:prstGeom prst="rect">
            <a:avLst/>
          </a:prstGeom>
          <a:solidFill>
            <a:srgbClr val="2166A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7" name="TextBox 22"/>
          <p:cNvSpPr/>
          <p:nvPr/>
        </p:nvSpPr>
        <p:spPr>
          <a:xfrm>
            <a:off x="859680" y="5468040"/>
            <a:ext cx="10496880" cy="72216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150" b="0" u="none" strike="noStrike">
                <a:solidFill>
                  <a:srgbClr val="475467"/>
                </a:solidFill>
                <a:effectLst/>
                <a:uFillTx/>
                <a:latin typeface="Segoe UI"/>
              </a:rPr>
              <a:t>Both kinds of testing are useful. Neither is proof about this bank's customers — and every report we produce says so, on every line.</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8" name="TextBox 1"/>
          <p:cNvSpPr/>
          <p:nvPr/>
        </p:nvSpPr>
        <p:spPr>
          <a:xfrm>
            <a:off x="11338560" y="384120"/>
            <a:ext cx="548280" cy="228240"/>
          </a:xfrm>
          <a:prstGeom prst="rect">
            <a:avLst/>
          </a:prstGeom>
          <a:noFill/>
          <a:ln w="0">
            <a:noFill/>
          </a:ln>
        </p:spPr>
        <p:style>
          <a:lnRef idx="0"/>
          <a:fillRef idx="0"/>
          <a:effectRef idx="0"/>
          <a:fontRef idx="minor"/>
        </p:style>
        <p:txBody>
          <a:bodyPr lIns="0" tIns="0" rIns="0" bIns="0" anchor="t">
            <a:spAutoFit/>
          </a:bodyPr>
          <a:p>
            <a:pPr algn="r" defTabSz="457200">
              <a:lnSpc>
                <a:spcPct val="100000"/>
              </a:lnSpc>
            </a:pPr>
            <a:r>
              <a:rPr lang="en-US" sz="900" b="0" u="none" strike="noStrike">
                <a:solidFill>
                  <a:srgbClr val="6B7C93"/>
                </a:solidFill>
                <a:effectLst/>
                <a:uFillTx/>
                <a:latin typeface="Consolas"/>
              </a:rPr>
              <a:t>09</a:t>
            </a:r>
            <a:endParaRPr lang="en-US" sz="900" b="0" u="none" strike="noStrike">
              <a:solidFill>
                <a:srgbClr val="000000"/>
              </a:solidFill>
              <a:effectLst/>
              <a:uFillTx/>
              <a:latin typeface="Arial"/>
            </a:endParaRPr>
          </a:p>
        </p:txBody>
      </p:sp>
      <p:sp>
        <p:nvSpPr>
          <p:cNvPr id="339" name="TextBox 2"/>
          <p:cNvSpPr/>
          <p:nvPr/>
        </p:nvSpPr>
        <p:spPr>
          <a:xfrm>
            <a:off x="658440" y="457200"/>
            <a:ext cx="10058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0" u="none" strike="noStrike">
                <a:solidFill>
                  <a:srgbClr val="2166A3"/>
                </a:solidFill>
                <a:effectLst/>
                <a:uFillTx/>
                <a:latin typeface="Consolas"/>
              </a:rPr>
              <a:t>TRACK P RESULTS  ·  REAL PUBLIC DATA</a:t>
            </a:r>
            <a:endParaRPr lang="en-US" sz="1050" b="0" u="none" strike="noStrike">
              <a:solidFill>
                <a:srgbClr val="000000"/>
              </a:solidFill>
              <a:effectLst/>
              <a:uFillTx/>
              <a:latin typeface="Arial"/>
            </a:endParaRPr>
          </a:p>
        </p:txBody>
      </p:sp>
      <p:sp>
        <p:nvSpPr>
          <p:cNvPr id="340" name="TextBox 3"/>
          <p:cNvSpPr/>
          <p:nvPr/>
        </p:nvSpPr>
        <p:spPr>
          <a:xfrm>
            <a:off x="658440" y="777240"/>
            <a:ext cx="10423800" cy="914040"/>
          </a:xfrm>
          <a:prstGeom prst="rect">
            <a:avLst/>
          </a:prstGeom>
          <a:noFill/>
          <a:ln w="0">
            <a:noFill/>
          </a:ln>
        </p:spPr>
        <p:style>
          <a:lnRef idx="0"/>
          <a:fillRef idx="0"/>
          <a:effectRef idx="0"/>
          <a:fontRef idx="minor"/>
        </p:style>
        <p:txBody>
          <a:bodyPr lIns="0" tIns="0" rIns="0" bIns="0" anchor="t">
            <a:spAutoFit/>
          </a:bodyPr>
          <a:p>
            <a:pPr defTabSz="457200">
              <a:lnSpc>
                <a:spcPct val="95000"/>
              </a:lnSpc>
            </a:pPr>
            <a:r>
              <a:rPr lang="en-US" sz="3200" b="1" u="none" strike="noStrike">
                <a:solidFill>
                  <a:srgbClr val="0A3A68"/>
                </a:solidFill>
                <a:effectLst/>
                <a:uFillTx/>
                <a:latin typeface="Georgia"/>
              </a:rPr>
              <a:t>What the pipelines actually produce</a:t>
            </a:r>
            <a:endParaRPr lang="en-US" sz="3200" b="0" u="none" strike="noStrike">
              <a:solidFill>
                <a:srgbClr val="000000"/>
              </a:solidFill>
              <a:effectLst/>
              <a:uFillTx/>
              <a:latin typeface="Arial"/>
            </a:endParaRPr>
          </a:p>
        </p:txBody>
      </p:sp>
      <p:sp>
        <p:nvSpPr>
          <p:cNvPr id="341" name="TextBox 4"/>
          <p:cNvSpPr/>
          <p:nvPr/>
        </p:nvSpPr>
        <p:spPr>
          <a:xfrm>
            <a:off x="658440" y="1645920"/>
            <a:ext cx="10515240" cy="365400"/>
          </a:xfrm>
          <a:prstGeom prst="rect">
            <a:avLst/>
          </a:prstGeom>
          <a:noFill/>
          <a:ln w="0">
            <a:noFill/>
          </a:ln>
        </p:spPr>
        <p:style>
          <a:lnRef idx="0"/>
          <a:fillRef idx="0"/>
          <a:effectRef idx="0"/>
          <a:fontRef idx="minor"/>
        </p:style>
        <p:txBody>
          <a:bodyPr lIns="0" tIns="0" rIns="0" bIns="0" anchor="t">
            <a:spAutoFit/>
          </a:bodyPr>
          <a:p>
            <a:pPr defTabSz="457200">
              <a:lnSpc>
                <a:spcPct val="125000"/>
              </a:lnSpc>
            </a:pPr>
            <a:r>
              <a:rPr lang="en-US" sz="1200" b="0" u="none" strike="noStrike">
                <a:solidFill>
                  <a:srgbClr val="475467"/>
                </a:solidFill>
                <a:effectLst/>
                <a:uFillTx/>
                <a:latin typeface="Segoe UI"/>
              </a:rPr>
              <a:t>The best model from each family. Nineteen were trained across four families; these are the winners, each selected on a validation split and scored once on data it never saw.</a:t>
            </a:r>
            <a:endParaRPr lang="en-US" sz="1200" b="0" u="none" strike="noStrike">
              <a:solidFill>
                <a:srgbClr val="000000"/>
              </a:solidFill>
              <a:effectLst/>
              <a:uFillTx/>
              <a:latin typeface="Arial"/>
            </a:endParaRPr>
          </a:p>
        </p:txBody>
      </p:sp>
      <p:sp>
        <p:nvSpPr>
          <p:cNvPr id="342" name="TextBox 5"/>
          <p:cNvSpPr/>
          <p:nvPr/>
        </p:nvSpPr>
        <p:spPr>
          <a:xfrm>
            <a:off x="658440" y="2240280"/>
            <a:ext cx="3200040" cy="228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00" b="0" u="none" strike="noStrike">
                <a:solidFill>
                  <a:srgbClr val="6B7C93"/>
                </a:solidFill>
                <a:effectLst/>
                <a:uFillTx/>
                <a:latin typeface="Consolas"/>
              </a:rPr>
              <a:t>MODULE</a:t>
            </a:r>
            <a:endParaRPr lang="en-US" sz="900" b="0" u="none" strike="noStrike">
              <a:solidFill>
                <a:srgbClr val="000000"/>
              </a:solidFill>
              <a:effectLst/>
              <a:uFillTx/>
              <a:latin typeface="Arial"/>
            </a:endParaRPr>
          </a:p>
        </p:txBody>
      </p:sp>
      <p:sp>
        <p:nvSpPr>
          <p:cNvPr id="343" name="TextBox 6"/>
          <p:cNvSpPr/>
          <p:nvPr/>
        </p:nvSpPr>
        <p:spPr>
          <a:xfrm>
            <a:off x="3858840" y="2240280"/>
            <a:ext cx="2285640" cy="228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00" b="0" u="none" strike="noStrike">
                <a:solidFill>
                  <a:srgbClr val="6B7C93"/>
                </a:solidFill>
                <a:effectLst/>
                <a:uFillTx/>
                <a:latin typeface="Consolas"/>
              </a:rPr>
              <a:t>DATASET</a:t>
            </a:r>
            <a:endParaRPr lang="en-US" sz="900" b="0" u="none" strike="noStrike">
              <a:solidFill>
                <a:srgbClr val="000000"/>
              </a:solidFill>
              <a:effectLst/>
              <a:uFillTx/>
              <a:latin typeface="Arial"/>
            </a:endParaRPr>
          </a:p>
        </p:txBody>
      </p:sp>
      <p:sp>
        <p:nvSpPr>
          <p:cNvPr id="344" name="TextBox 7"/>
          <p:cNvSpPr/>
          <p:nvPr/>
        </p:nvSpPr>
        <p:spPr>
          <a:xfrm>
            <a:off x="6144840" y="2240280"/>
            <a:ext cx="1645560" cy="228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00" b="0" u="none" strike="noStrike">
                <a:solidFill>
                  <a:srgbClr val="6B7C93"/>
                </a:solidFill>
                <a:effectLst/>
                <a:uFillTx/>
                <a:latin typeface="Consolas"/>
              </a:rPr>
              <a:t>TRAINED ON</a:t>
            </a:r>
            <a:endParaRPr lang="en-US" sz="900" b="0" u="none" strike="noStrike">
              <a:solidFill>
                <a:srgbClr val="000000"/>
              </a:solidFill>
              <a:effectLst/>
              <a:uFillTx/>
              <a:latin typeface="Arial"/>
            </a:endParaRPr>
          </a:p>
        </p:txBody>
      </p:sp>
      <p:sp>
        <p:nvSpPr>
          <p:cNvPr id="345" name="TextBox 8"/>
          <p:cNvSpPr/>
          <p:nvPr/>
        </p:nvSpPr>
        <p:spPr>
          <a:xfrm>
            <a:off x="7790760" y="2240280"/>
            <a:ext cx="1828440" cy="228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00" b="0" u="none" strike="noStrike">
                <a:solidFill>
                  <a:srgbClr val="6B7C93"/>
                </a:solidFill>
                <a:effectLst/>
                <a:uFillTx/>
                <a:latin typeface="Consolas"/>
              </a:rPr>
              <a:t>GINI</a:t>
            </a:r>
            <a:endParaRPr lang="en-US" sz="900" b="0" u="none" strike="noStrike">
              <a:solidFill>
                <a:srgbClr val="000000"/>
              </a:solidFill>
              <a:effectLst/>
              <a:uFillTx/>
              <a:latin typeface="Arial"/>
            </a:endParaRPr>
          </a:p>
        </p:txBody>
      </p:sp>
      <p:sp>
        <p:nvSpPr>
          <p:cNvPr id="346" name="TextBox 9"/>
          <p:cNvSpPr/>
          <p:nvPr/>
        </p:nvSpPr>
        <p:spPr>
          <a:xfrm>
            <a:off x="9619560" y="2240280"/>
            <a:ext cx="1828440" cy="228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00" b="0" u="none" strike="noStrike">
                <a:solidFill>
                  <a:srgbClr val="6B7C93"/>
                </a:solidFill>
                <a:effectLst/>
                <a:uFillTx/>
                <a:latin typeface="Consolas"/>
              </a:rPr>
              <a:t>TEST AUC</a:t>
            </a:r>
            <a:endParaRPr lang="en-US" sz="900" b="0" u="none" strike="noStrike">
              <a:solidFill>
                <a:srgbClr val="000000"/>
              </a:solidFill>
              <a:effectLst/>
              <a:uFillTx/>
              <a:latin typeface="Arial"/>
            </a:endParaRPr>
          </a:p>
        </p:txBody>
      </p:sp>
      <p:sp>
        <p:nvSpPr>
          <p:cNvPr id="347" name="Rectangle 10"/>
          <p:cNvSpPr/>
          <p:nvPr/>
        </p:nvSpPr>
        <p:spPr>
          <a:xfrm>
            <a:off x="658440" y="2514600"/>
            <a:ext cx="10789560" cy="12240"/>
          </a:xfrm>
          <a:prstGeom prst="rect">
            <a:avLst/>
          </a:prstGeom>
          <a:solidFill>
            <a:srgbClr val="B9C8D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400" rIns="90000" bIns="-32400" anchor="ctr">
            <a:noAutofit/>
          </a:bodyPr>
          <a:p>
            <a:endParaRPr lang="en-US" sz="1800" b="0" u="none" strike="noStrike">
              <a:solidFill>
                <a:schemeClr val="lt1"/>
              </a:solidFill>
              <a:effectLst/>
              <a:uFillTx/>
              <a:latin typeface="Calibri"/>
            </a:endParaRPr>
          </a:p>
        </p:txBody>
      </p:sp>
      <p:sp>
        <p:nvSpPr>
          <p:cNvPr id="348" name="TextBox 11"/>
          <p:cNvSpPr/>
          <p:nvPr/>
        </p:nvSpPr>
        <p:spPr>
          <a:xfrm>
            <a:off x="658440" y="2660760"/>
            <a:ext cx="3200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475467"/>
                </a:solidFill>
                <a:effectLst/>
                <a:uFillTx/>
                <a:latin typeface="Segoe UI"/>
              </a:rPr>
              <a:t>Credit scoring</a:t>
            </a:r>
            <a:endParaRPr lang="en-US" sz="1150" b="0" u="none" strike="noStrike">
              <a:solidFill>
                <a:srgbClr val="000000"/>
              </a:solidFill>
              <a:effectLst/>
              <a:uFillTx/>
              <a:latin typeface="Arial"/>
            </a:endParaRPr>
          </a:p>
        </p:txBody>
      </p:sp>
      <p:sp>
        <p:nvSpPr>
          <p:cNvPr id="349" name="TextBox 12"/>
          <p:cNvSpPr/>
          <p:nvPr/>
        </p:nvSpPr>
        <p:spPr>
          <a:xfrm>
            <a:off x="3858840" y="2660760"/>
            <a:ext cx="22856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475467"/>
                </a:solidFill>
                <a:effectLst/>
                <a:uFillTx/>
                <a:latin typeface="Segoe UI"/>
              </a:rPr>
              <a:t>Home Credit applications</a:t>
            </a:r>
            <a:endParaRPr lang="en-US" sz="1150" b="0" u="none" strike="noStrike">
              <a:solidFill>
                <a:srgbClr val="000000"/>
              </a:solidFill>
              <a:effectLst/>
              <a:uFillTx/>
              <a:latin typeface="Arial"/>
            </a:endParaRPr>
          </a:p>
        </p:txBody>
      </p:sp>
      <p:sp>
        <p:nvSpPr>
          <p:cNvPr id="350" name="TextBox 13"/>
          <p:cNvSpPr/>
          <p:nvPr/>
        </p:nvSpPr>
        <p:spPr>
          <a:xfrm>
            <a:off x="6144840" y="2660760"/>
            <a:ext cx="164556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307,511</a:t>
            </a:r>
            <a:endParaRPr lang="en-US" sz="1150" b="0" u="none" strike="noStrike">
              <a:solidFill>
                <a:srgbClr val="000000"/>
              </a:solidFill>
              <a:effectLst/>
              <a:uFillTx/>
              <a:latin typeface="Arial"/>
            </a:endParaRPr>
          </a:p>
        </p:txBody>
      </p:sp>
      <p:sp>
        <p:nvSpPr>
          <p:cNvPr id="351" name="TextBox 14"/>
          <p:cNvSpPr/>
          <p:nvPr/>
        </p:nvSpPr>
        <p:spPr>
          <a:xfrm>
            <a:off x="7790760" y="2660760"/>
            <a:ext cx="18284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55.94</a:t>
            </a:r>
            <a:endParaRPr lang="en-US" sz="1150" b="0" u="none" strike="noStrike">
              <a:solidFill>
                <a:srgbClr val="000000"/>
              </a:solidFill>
              <a:effectLst/>
              <a:uFillTx/>
              <a:latin typeface="Arial"/>
            </a:endParaRPr>
          </a:p>
        </p:txBody>
      </p:sp>
      <p:sp>
        <p:nvSpPr>
          <p:cNvPr id="352" name="TextBox 15"/>
          <p:cNvSpPr/>
          <p:nvPr/>
        </p:nvSpPr>
        <p:spPr>
          <a:xfrm>
            <a:off x="9619560" y="2660760"/>
            <a:ext cx="18284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0.7797</a:t>
            </a:r>
            <a:endParaRPr lang="en-US" sz="1150" b="0" u="none" strike="noStrike">
              <a:solidFill>
                <a:srgbClr val="000000"/>
              </a:solidFill>
              <a:effectLst/>
              <a:uFillTx/>
              <a:latin typeface="Arial"/>
            </a:endParaRPr>
          </a:p>
        </p:txBody>
      </p:sp>
      <p:sp>
        <p:nvSpPr>
          <p:cNvPr id="353" name="Rectangle 16"/>
          <p:cNvSpPr/>
          <p:nvPr/>
        </p:nvSpPr>
        <p:spPr>
          <a:xfrm>
            <a:off x="658440" y="2971800"/>
            <a:ext cx="1078956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354" name="TextBox 17"/>
          <p:cNvSpPr/>
          <p:nvPr/>
        </p:nvSpPr>
        <p:spPr>
          <a:xfrm>
            <a:off x="658440" y="3136320"/>
            <a:ext cx="3200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475467"/>
                </a:solidFill>
                <a:effectLst/>
                <a:uFillTx/>
                <a:latin typeface="Segoe UI"/>
              </a:rPr>
              <a:t>Fraud detection</a:t>
            </a:r>
            <a:endParaRPr lang="en-US" sz="1150" b="0" u="none" strike="noStrike">
              <a:solidFill>
                <a:srgbClr val="000000"/>
              </a:solidFill>
              <a:effectLst/>
              <a:uFillTx/>
              <a:latin typeface="Arial"/>
            </a:endParaRPr>
          </a:p>
        </p:txBody>
      </p:sp>
      <p:sp>
        <p:nvSpPr>
          <p:cNvPr id="355" name="TextBox 18"/>
          <p:cNvSpPr/>
          <p:nvPr/>
        </p:nvSpPr>
        <p:spPr>
          <a:xfrm>
            <a:off x="3858840" y="3136320"/>
            <a:ext cx="22856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475467"/>
                </a:solidFill>
                <a:effectLst/>
                <a:uFillTx/>
                <a:latin typeface="Segoe UI"/>
              </a:rPr>
              <a:t>IEEE-CIS card transactions</a:t>
            </a:r>
            <a:endParaRPr lang="en-US" sz="1150" b="0" u="none" strike="noStrike">
              <a:solidFill>
                <a:srgbClr val="000000"/>
              </a:solidFill>
              <a:effectLst/>
              <a:uFillTx/>
              <a:latin typeface="Arial"/>
            </a:endParaRPr>
          </a:p>
        </p:txBody>
      </p:sp>
      <p:sp>
        <p:nvSpPr>
          <p:cNvPr id="356" name="TextBox 19"/>
          <p:cNvSpPr/>
          <p:nvPr/>
        </p:nvSpPr>
        <p:spPr>
          <a:xfrm>
            <a:off x="6144840" y="3136320"/>
            <a:ext cx="164556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590,540</a:t>
            </a:r>
            <a:endParaRPr lang="en-US" sz="1150" b="0" u="none" strike="noStrike">
              <a:solidFill>
                <a:srgbClr val="000000"/>
              </a:solidFill>
              <a:effectLst/>
              <a:uFillTx/>
              <a:latin typeface="Arial"/>
            </a:endParaRPr>
          </a:p>
        </p:txBody>
      </p:sp>
      <p:sp>
        <p:nvSpPr>
          <p:cNvPr id="357" name="TextBox 20"/>
          <p:cNvSpPr/>
          <p:nvPr/>
        </p:nvSpPr>
        <p:spPr>
          <a:xfrm>
            <a:off x="7790760" y="3136320"/>
            <a:ext cx="18284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91.28</a:t>
            </a:r>
            <a:endParaRPr lang="en-US" sz="1150" b="0" u="none" strike="noStrike">
              <a:solidFill>
                <a:srgbClr val="000000"/>
              </a:solidFill>
              <a:effectLst/>
              <a:uFillTx/>
              <a:latin typeface="Arial"/>
            </a:endParaRPr>
          </a:p>
        </p:txBody>
      </p:sp>
      <p:sp>
        <p:nvSpPr>
          <p:cNvPr id="358" name="TextBox 21"/>
          <p:cNvSpPr/>
          <p:nvPr/>
        </p:nvSpPr>
        <p:spPr>
          <a:xfrm>
            <a:off x="9619560" y="3136320"/>
            <a:ext cx="18284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0.9564</a:t>
            </a:r>
            <a:endParaRPr lang="en-US" sz="1150" b="0" u="none" strike="noStrike">
              <a:solidFill>
                <a:srgbClr val="000000"/>
              </a:solidFill>
              <a:effectLst/>
              <a:uFillTx/>
              <a:latin typeface="Arial"/>
            </a:endParaRPr>
          </a:p>
        </p:txBody>
      </p:sp>
      <p:sp>
        <p:nvSpPr>
          <p:cNvPr id="359" name="Rectangle 22"/>
          <p:cNvSpPr/>
          <p:nvPr/>
        </p:nvSpPr>
        <p:spPr>
          <a:xfrm>
            <a:off x="658440" y="3447360"/>
            <a:ext cx="1078956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360" name="TextBox 23"/>
          <p:cNvSpPr/>
          <p:nvPr/>
        </p:nvSpPr>
        <p:spPr>
          <a:xfrm>
            <a:off x="658440" y="3611880"/>
            <a:ext cx="3200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475467"/>
                </a:solidFill>
                <a:effectLst/>
                <a:uFillTx/>
                <a:latin typeface="Segoe UI"/>
              </a:rPr>
              <a:t>Default prediction</a:t>
            </a:r>
            <a:endParaRPr lang="en-US" sz="1150" b="0" u="none" strike="noStrike">
              <a:solidFill>
                <a:srgbClr val="000000"/>
              </a:solidFill>
              <a:effectLst/>
              <a:uFillTx/>
              <a:latin typeface="Arial"/>
            </a:endParaRPr>
          </a:p>
        </p:txBody>
      </p:sp>
      <p:sp>
        <p:nvSpPr>
          <p:cNvPr id="361" name="TextBox 24"/>
          <p:cNvSpPr/>
          <p:nvPr/>
        </p:nvSpPr>
        <p:spPr>
          <a:xfrm>
            <a:off x="3858840" y="3611880"/>
            <a:ext cx="22856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475467"/>
                </a:solidFill>
                <a:effectLst/>
                <a:uFillTx/>
                <a:latin typeface="Segoe UI"/>
              </a:rPr>
              <a:t>Fannie Mae mortgage panel</a:t>
            </a:r>
            <a:endParaRPr lang="en-US" sz="1150" b="0" u="none" strike="noStrike">
              <a:solidFill>
                <a:srgbClr val="000000"/>
              </a:solidFill>
              <a:effectLst/>
              <a:uFillTx/>
              <a:latin typeface="Arial"/>
            </a:endParaRPr>
          </a:p>
        </p:txBody>
      </p:sp>
      <p:sp>
        <p:nvSpPr>
          <p:cNvPr id="362" name="TextBox 25"/>
          <p:cNvSpPr/>
          <p:nvPr/>
        </p:nvSpPr>
        <p:spPr>
          <a:xfrm>
            <a:off x="6144840" y="3611880"/>
            <a:ext cx="164556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230,543</a:t>
            </a:r>
            <a:endParaRPr lang="en-US" sz="1150" b="0" u="none" strike="noStrike">
              <a:solidFill>
                <a:srgbClr val="000000"/>
              </a:solidFill>
              <a:effectLst/>
              <a:uFillTx/>
              <a:latin typeface="Arial"/>
            </a:endParaRPr>
          </a:p>
        </p:txBody>
      </p:sp>
      <p:sp>
        <p:nvSpPr>
          <p:cNvPr id="363" name="TextBox 26"/>
          <p:cNvSpPr/>
          <p:nvPr/>
        </p:nvSpPr>
        <p:spPr>
          <a:xfrm>
            <a:off x="7790760" y="3611880"/>
            <a:ext cx="18284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76.35</a:t>
            </a:r>
            <a:endParaRPr lang="en-US" sz="1150" b="0" u="none" strike="noStrike">
              <a:solidFill>
                <a:srgbClr val="000000"/>
              </a:solidFill>
              <a:effectLst/>
              <a:uFillTx/>
              <a:latin typeface="Arial"/>
            </a:endParaRPr>
          </a:p>
        </p:txBody>
      </p:sp>
      <p:sp>
        <p:nvSpPr>
          <p:cNvPr id="364" name="TextBox 27"/>
          <p:cNvSpPr/>
          <p:nvPr/>
        </p:nvSpPr>
        <p:spPr>
          <a:xfrm>
            <a:off x="9619560" y="3611880"/>
            <a:ext cx="18284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0.8818</a:t>
            </a:r>
            <a:endParaRPr lang="en-US" sz="1150" b="0" u="none" strike="noStrike">
              <a:solidFill>
                <a:srgbClr val="000000"/>
              </a:solidFill>
              <a:effectLst/>
              <a:uFillTx/>
              <a:latin typeface="Arial"/>
            </a:endParaRPr>
          </a:p>
        </p:txBody>
      </p:sp>
      <p:sp>
        <p:nvSpPr>
          <p:cNvPr id="365" name="Rectangle 28"/>
          <p:cNvSpPr/>
          <p:nvPr/>
        </p:nvSpPr>
        <p:spPr>
          <a:xfrm>
            <a:off x="658440" y="3922920"/>
            <a:ext cx="1078956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366" name="TextBox 29"/>
          <p:cNvSpPr/>
          <p:nvPr/>
        </p:nvSpPr>
        <p:spPr>
          <a:xfrm>
            <a:off x="658440" y="4087440"/>
            <a:ext cx="3200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475467"/>
                </a:solidFill>
                <a:effectLst/>
                <a:uFillTx/>
                <a:latin typeface="Segoe UI"/>
              </a:rPr>
              <a:t>Crop classification</a:t>
            </a:r>
            <a:endParaRPr lang="en-US" sz="1150" b="0" u="none" strike="noStrike">
              <a:solidFill>
                <a:srgbClr val="000000"/>
              </a:solidFill>
              <a:effectLst/>
              <a:uFillTx/>
              <a:latin typeface="Arial"/>
            </a:endParaRPr>
          </a:p>
        </p:txBody>
      </p:sp>
      <p:sp>
        <p:nvSpPr>
          <p:cNvPr id="367" name="TextBox 30"/>
          <p:cNvSpPr/>
          <p:nvPr/>
        </p:nvSpPr>
        <p:spPr>
          <a:xfrm>
            <a:off x="3858840" y="4087440"/>
            <a:ext cx="22856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475467"/>
                </a:solidFill>
                <a:effectLst/>
                <a:uFillTx/>
                <a:latin typeface="Segoe UI"/>
              </a:rPr>
              <a:t>AgriFieldNet India</a:t>
            </a:r>
            <a:endParaRPr lang="en-US" sz="1150" b="0" u="none" strike="noStrike">
              <a:solidFill>
                <a:srgbClr val="000000"/>
              </a:solidFill>
              <a:effectLst/>
              <a:uFillTx/>
              <a:latin typeface="Arial"/>
            </a:endParaRPr>
          </a:p>
        </p:txBody>
      </p:sp>
      <p:sp>
        <p:nvSpPr>
          <p:cNvPr id="368" name="TextBox 31"/>
          <p:cNvSpPr/>
          <p:nvPr/>
        </p:nvSpPr>
        <p:spPr>
          <a:xfrm>
            <a:off x="6144840" y="4087440"/>
            <a:ext cx="164556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147,409 px</a:t>
            </a:r>
            <a:endParaRPr lang="en-US" sz="1150" b="0" u="none" strike="noStrike">
              <a:solidFill>
                <a:srgbClr val="000000"/>
              </a:solidFill>
              <a:effectLst/>
              <a:uFillTx/>
              <a:latin typeface="Arial"/>
            </a:endParaRPr>
          </a:p>
        </p:txBody>
      </p:sp>
      <p:sp>
        <p:nvSpPr>
          <p:cNvPr id="369" name="TextBox 32"/>
          <p:cNvSpPr/>
          <p:nvPr/>
        </p:nvSpPr>
        <p:spPr>
          <a:xfrm>
            <a:off x="7790760" y="4087440"/>
            <a:ext cx="18284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macro-F1 0.52</a:t>
            </a:r>
            <a:endParaRPr lang="en-US" sz="1150" b="0" u="none" strike="noStrike">
              <a:solidFill>
                <a:srgbClr val="000000"/>
              </a:solidFill>
              <a:effectLst/>
              <a:uFillTx/>
              <a:latin typeface="Arial"/>
            </a:endParaRPr>
          </a:p>
        </p:txBody>
      </p:sp>
      <p:sp>
        <p:nvSpPr>
          <p:cNvPr id="370" name="TextBox 33"/>
          <p:cNvSpPr/>
          <p:nvPr/>
        </p:nvSpPr>
        <p:spPr>
          <a:xfrm>
            <a:off x="9619560" y="4087440"/>
            <a:ext cx="18284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a:t>
            </a:r>
            <a:endParaRPr lang="en-US" sz="1150" b="0" u="none" strike="noStrike">
              <a:solidFill>
                <a:srgbClr val="000000"/>
              </a:solidFill>
              <a:effectLst/>
              <a:uFillTx/>
              <a:latin typeface="Arial"/>
            </a:endParaRPr>
          </a:p>
        </p:txBody>
      </p:sp>
      <p:sp>
        <p:nvSpPr>
          <p:cNvPr id="371" name="Rectangle 34"/>
          <p:cNvSpPr/>
          <p:nvPr/>
        </p:nvSpPr>
        <p:spPr>
          <a:xfrm>
            <a:off x="658440" y="4398120"/>
            <a:ext cx="1078956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372" name="Rectangle 35"/>
          <p:cNvSpPr/>
          <p:nvPr/>
        </p:nvSpPr>
        <p:spPr>
          <a:xfrm>
            <a:off x="658440" y="4864680"/>
            <a:ext cx="10881000" cy="566640"/>
          </a:xfrm>
          <a:prstGeom prst="rect">
            <a:avLst/>
          </a:prstGeom>
          <a:solidFill>
            <a:srgbClr val="EEF4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73" name="Rectangle 36"/>
          <p:cNvSpPr/>
          <p:nvPr/>
        </p:nvSpPr>
        <p:spPr>
          <a:xfrm>
            <a:off x="658440" y="4864680"/>
            <a:ext cx="36360" cy="566640"/>
          </a:xfrm>
          <a:prstGeom prst="rect">
            <a:avLst/>
          </a:prstGeom>
          <a:solidFill>
            <a:srgbClr val="2166A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74" name="TextBox 37"/>
          <p:cNvSpPr/>
          <p:nvPr/>
        </p:nvSpPr>
        <p:spPr>
          <a:xfrm>
            <a:off x="859680" y="4983480"/>
            <a:ext cx="10496880" cy="32868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150" b="0" u="none" strike="noStrike">
                <a:solidFill>
                  <a:srgbClr val="475467"/>
                </a:solidFill>
                <a:effectLst/>
                <a:uFillTx/>
                <a:latin typeface="Segoe UI"/>
              </a:rPr>
              <a:t>Crop classification reports macro-F1 rather than AUC because it has six classes rather than two, and macro-F1 rather than accuracy because its smallest class is 1.7% of the data — an accuracy figure would hide that the model fails on it.</a:t>
            </a:r>
            <a:endParaRPr lang="en-US" sz="1150" b="0" u="none" strike="noStrike">
              <a:solidFill>
                <a:srgbClr val="000000"/>
              </a:solidFill>
              <a:effectLst/>
              <a:uFillTx/>
              <a:latin typeface="Arial"/>
            </a:endParaRPr>
          </a:p>
        </p:txBody>
      </p:sp>
      <p:sp>
        <p:nvSpPr>
          <p:cNvPr id="375" name="Rectangle 38"/>
          <p:cNvSpPr/>
          <p:nvPr/>
        </p:nvSpPr>
        <p:spPr>
          <a:xfrm>
            <a:off x="658440" y="5596200"/>
            <a:ext cx="10881000" cy="566640"/>
          </a:xfrm>
          <a:prstGeom prst="rect">
            <a:avLst/>
          </a:prstGeom>
          <a:solidFill>
            <a:srgbClr val="FDF3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76" name="Rectangle 39"/>
          <p:cNvSpPr/>
          <p:nvPr/>
        </p:nvSpPr>
        <p:spPr>
          <a:xfrm>
            <a:off x="658440" y="5596200"/>
            <a:ext cx="36360" cy="566640"/>
          </a:xfrm>
          <a:prstGeom prst="rect">
            <a:avLst/>
          </a:prstGeom>
          <a:solidFill>
            <a:srgbClr val="B547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77" name="TextBox 40"/>
          <p:cNvSpPr/>
          <p:nvPr/>
        </p:nvSpPr>
        <p:spPr>
          <a:xfrm>
            <a:off x="859680" y="5715000"/>
            <a:ext cx="10496880" cy="32868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150" b="0" u="none" strike="noStrike">
                <a:solidFill>
                  <a:srgbClr val="475467"/>
                </a:solidFill>
                <a:effectLst/>
                <a:uFillTx/>
                <a:latin typeface="Segoe UI"/>
              </a:rPr>
              <a:t>All real public data — US mortgages, card fraud, Indian crop imagery — but not this bank's customers. Proof the software works, not proof about this book.</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8" name="TextBox 1"/>
          <p:cNvSpPr/>
          <p:nvPr/>
        </p:nvSpPr>
        <p:spPr>
          <a:xfrm>
            <a:off x="11338560" y="384120"/>
            <a:ext cx="548280" cy="228240"/>
          </a:xfrm>
          <a:prstGeom prst="rect">
            <a:avLst/>
          </a:prstGeom>
          <a:noFill/>
          <a:ln w="0">
            <a:noFill/>
          </a:ln>
        </p:spPr>
        <p:style>
          <a:lnRef idx="0"/>
          <a:fillRef idx="0"/>
          <a:effectRef idx="0"/>
          <a:fontRef idx="minor"/>
        </p:style>
        <p:txBody>
          <a:bodyPr lIns="0" tIns="0" rIns="0" bIns="0" anchor="t">
            <a:spAutoFit/>
          </a:bodyPr>
          <a:p>
            <a:pPr algn="r" defTabSz="457200">
              <a:lnSpc>
                <a:spcPct val="100000"/>
              </a:lnSpc>
            </a:pPr>
            <a:r>
              <a:rPr lang="en-US" sz="900" b="0" u="none" strike="noStrike">
                <a:solidFill>
                  <a:srgbClr val="6B7C93"/>
                </a:solidFill>
                <a:effectLst/>
                <a:uFillTx/>
                <a:latin typeface="Consolas"/>
              </a:rPr>
              <a:t>10</a:t>
            </a:r>
            <a:endParaRPr lang="en-US" sz="900" b="0" u="none" strike="noStrike">
              <a:solidFill>
                <a:srgbClr val="000000"/>
              </a:solidFill>
              <a:effectLst/>
              <a:uFillTx/>
              <a:latin typeface="Arial"/>
            </a:endParaRPr>
          </a:p>
        </p:txBody>
      </p:sp>
      <p:sp>
        <p:nvSpPr>
          <p:cNvPr id="379" name="TextBox 2"/>
          <p:cNvSpPr/>
          <p:nvPr/>
        </p:nvSpPr>
        <p:spPr>
          <a:xfrm>
            <a:off x="658440" y="457200"/>
            <a:ext cx="10058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0" u="none" strike="noStrike">
                <a:solidFill>
                  <a:srgbClr val="2166A3"/>
                </a:solidFill>
                <a:effectLst/>
                <a:uFillTx/>
                <a:latin typeface="Consolas"/>
              </a:rPr>
              <a:t>EVERY MODEL, NOT JUST THE WINNERS</a:t>
            </a:r>
            <a:endParaRPr lang="en-US" sz="1050" b="0" u="none" strike="noStrike">
              <a:solidFill>
                <a:srgbClr val="000000"/>
              </a:solidFill>
              <a:effectLst/>
              <a:uFillTx/>
              <a:latin typeface="Arial"/>
            </a:endParaRPr>
          </a:p>
        </p:txBody>
      </p:sp>
      <p:sp>
        <p:nvSpPr>
          <p:cNvPr id="380" name="TextBox 3"/>
          <p:cNvSpPr/>
          <p:nvPr/>
        </p:nvSpPr>
        <p:spPr>
          <a:xfrm>
            <a:off x="658440" y="777240"/>
            <a:ext cx="10423800" cy="914040"/>
          </a:xfrm>
          <a:prstGeom prst="rect">
            <a:avLst/>
          </a:prstGeom>
          <a:noFill/>
          <a:ln w="0">
            <a:noFill/>
          </a:ln>
        </p:spPr>
        <p:style>
          <a:lnRef idx="0"/>
          <a:fillRef idx="0"/>
          <a:effectRef idx="0"/>
          <a:fontRef idx="minor"/>
        </p:style>
        <p:txBody>
          <a:bodyPr lIns="0" tIns="0" rIns="0" bIns="0" anchor="t">
            <a:spAutoFit/>
          </a:bodyPr>
          <a:p>
            <a:pPr defTabSz="457200">
              <a:lnSpc>
                <a:spcPct val="95000"/>
              </a:lnSpc>
            </a:pPr>
            <a:r>
              <a:rPr lang="en-US" sz="3200" b="1" u="none" strike="noStrike">
                <a:solidFill>
                  <a:srgbClr val="0A3A68"/>
                </a:solidFill>
                <a:effectLst/>
                <a:uFillTx/>
                <a:latin typeface="Georgia"/>
              </a:rPr>
              <a:t>Nineteen models across four families</a:t>
            </a:r>
            <a:endParaRPr lang="en-US" sz="3200" b="0" u="none" strike="noStrike">
              <a:solidFill>
                <a:srgbClr val="000000"/>
              </a:solidFill>
              <a:effectLst/>
              <a:uFillTx/>
              <a:latin typeface="Arial"/>
            </a:endParaRPr>
          </a:p>
        </p:txBody>
      </p:sp>
      <p:sp>
        <p:nvSpPr>
          <p:cNvPr id="381" name="TextBox 4"/>
          <p:cNvSpPr/>
          <p:nvPr/>
        </p:nvSpPr>
        <p:spPr>
          <a:xfrm>
            <a:off x="658440" y="1691640"/>
            <a:ext cx="10515240" cy="365400"/>
          </a:xfrm>
          <a:prstGeom prst="rect">
            <a:avLst/>
          </a:prstGeom>
          <a:noFill/>
          <a:ln w="0">
            <a:noFill/>
          </a:ln>
        </p:spPr>
        <p:style>
          <a:lnRef idx="0"/>
          <a:fillRef idx="0"/>
          <a:effectRef idx="0"/>
          <a:fontRef idx="minor"/>
        </p:style>
        <p:txBody>
          <a:bodyPr lIns="0" tIns="0" rIns="0" bIns="0" anchor="t">
            <a:spAutoFit/>
          </a:bodyPr>
          <a:p>
            <a:pPr defTabSz="457200">
              <a:lnSpc>
                <a:spcPct val="125000"/>
              </a:lnSpc>
            </a:pPr>
            <a:r>
              <a:rPr lang="en-US" sz="1200" b="0" u="none" strike="noStrike">
                <a:solidFill>
                  <a:srgbClr val="475467"/>
                </a:solidFill>
                <a:effectLst/>
                <a:uFillTx/>
                <a:latin typeface="Segoe UI"/>
              </a:rPr>
              <a:t>Each family fits several models and keeps the best. Showing all of them is the difference between a result and a claim: a single number could be luck, and a spread shows whether the family agrees with itself.</a:t>
            </a:r>
            <a:endParaRPr lang="en-US" sz="1200" b="0" u="none" strike="noStrike">
              <a:solidFill>
                <a:srgbClr val="000000"/>
              </a:solidFill>
              <a:effectLst/>
              <a:uFillTx/>
              <a:latin typeface="Arial"/>
            </a:endParaRPr>
          </a:p>
        </p:txBody>
      </p:sp>
      <p:sp>
        <p:nvSpPr>
          <p:cNvPr id="382" name="TextBox 5"/>
          <p:cNvSpPr/>
          <p:nvPr/>
        </p:nvSpPr>
        <p:spPr>
          <a:xfrm>
            <a:off x="658440" y="2286000"/>
            <a:ext cx="512028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00" b="1" u="none" strike="noStrike">
                <a:solidFill>
                  <a:srgbClr val="2166A3"/>
                </a:solidFill>
                <a:effectLst/>
                <a:uFillTx/>
                <a:latin typeface="Consolas"/>
              </a:rPr>
              <a:t>CREDIT SCORING · Home Credit, 307,511 applications</a:t>
            </a:r>
            <a:endParaRPr lang="en-US" sz="900" b="0" u="none" strike="noStrike">
              <a:solidFill>
                <a:srgbClr val="000000"/>
              </a:solidFill>
              <a:effectLst/>
              <a:uFillTx/>
              <a:latin typeface="Arial"/>
            </a:endParaRPr>
          </a:p>
        </p:txBody>
      </p:sp>
      <p:sp>
        <p:nvSpPr>
          <p:cNvPr id="383" name="TextBox 6"/>
          <p:cNvSpPr/>
          <p:nvPr/>
        </p:nvSpPr>
        <p:spPr>
          <a:xfrm>
            <a:off x="749880" y="263340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475467"/>
                </a:solidFill>
                <a:effectLst/>
                <a:uFillTx/>
                <a:latin typeface="Consolas"/>
              </a:rPr>
              <a:t>xgboost_hist</a:t>
            </a:r>
            <a:endParaRPr lang="en-US" sz="1000" b="0" u="none" strike="noStrike">
              <a:solidFill>
                <a:srgbClr val="000000"/>
              </a:solidFill>
              <a:effectLst/>
              <a:uFillTx/>
              <a:latin typeface="Arial"/>
            </a:endParaRPr>
          </a:p>
        </p:txBody>
      </p:sp>
      <p:sp>
        <p:nvSpPr>
          <p:cNvPr id="384" name="TextBox 7"/>
          <p:cNvSpPr/>
          <p:nvPr/>
        </p:nvSpPr>
        <p:spPr>
          <a:xfrm>
            <a:off x="4133160" y="263340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101828"/>
                </a:solidFill>
                <a:effectLst/>
                <a:uFillTx/>
                <a:latin typeface="Consolas"/>
              </a:rPr>
              <a:t>0.7794</a:t>
            </a:r>
            <a:endParaRPr lang="en-US" sz="1000" b="0" u="none" strike="noStrike">
              <a:solidFill>
                <a:srgbClr val="000000"/>
              </a:solidFill>
              <a:effectLst/>
              <a:uFillTx/>
              <a:latin typeface="Arial"/>
            </a:endParaRPr>
          </a:p>
        </p:txBody>
      </p:sp>
      <p:sp>
        <p:nvSpPr>
          <p:cNvPr id="385" name="TextBox 8"/>
          <p:cNvSpPr/>
          <p:nvPr/>
        </p:nvSpPr>
        <p:spPr>
          <a:xfrm>
            <a:off x="749880" y="282996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475467"/>
                </a:solidFill>
                <a:effectLst/>
                <a:uFillTx/>
                <a:latin typeface="Consolas"/>
              </a:rPr>
              <a:t>xgboost_deep</a:t>
            </a:r>
            <a:endParaRPr lang="en-US" sz="1000" b="0" u="none" strike="noStrike">
              <a:solidFill>
                <a:srgbClr val="000000"/>
              </a:solidFill>
              <a:effectLst/>
              <a:uFillTx/>
              <a:latin typeface="Arial"/>
            </a:endParaRPr>
          </a:p>
        </p:txBody>
      </p:sp>
      <p:sp>
        <p:nvSpPr>
          <p:cNvPr id="386" name="TextBox 9"/>
          <p:cNvSpPr/>
          <p:nvPr/>
        </p:nvSpPr>
        <p:spPr>
          <a:xfrm>
            <a:off x="4133160" y="282996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101828"/>
                </a:solidFill>
                <a:effectLst/>
                <a:uFillTx/>
                <a:latin typeface="Consolas"/>
              </a:rPr>
              <a:t>0.7794</a:t>
            </a:r>
            <a:endParaRPr lang="en-US" sz="1000" b="0" u="none" strike="noStrike">
              <a:solidFill>
                <a:srgbClr val="000000"/>
              </a:solidFill>
              <a:effectLst/>
              <a:uFillTx/>
              <a:latin typeface="Arial"/>
            </a:endParaRPr>
          </a:p>
        </p:txBody>
      </p:sp>
      <p:sp>
        <p:nvSpPr>
          <p:cNvPr id="387" name="TextBox 10"/>
          <p:cNvSpPr/>
          <p:nvPr/>
        </p:nvSpPr>
        <p:spPr>
          <a:xfrm>
            <a:off x="749880" y="302652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475467"/>
                </a:solidFill>
                <a:effectLst/>
                <a:uFillTx/>
                <a:latin typeface="Consolas"/>
              </a:rPr>
              <a:t>lightgbm_deep</a:t>
            </a:r>
            <a:endParaRPr lang="en-US" sz="1000" b="0" u="none" strike="noStrike">
              <a:solidFill>
                <a:srgbClr val="000000"/>
              </a:solidFill>
              <a:effectLst/>
              <a:uFillTx/>
              <a:latin typeface="Arial"/>
            </a:endParaRPr>
          </a:p>
        </p:txBody>
      </p:sp>
      <p:sp>
        <p:nvSpPr>
          <p:cNvPr id="388" name="TextBox 11"/>
          <p:cNvSpPr/>
          <p:nvPr/>
        </p:nvSpPr>
        <p:spPr>
          <a:xfrm>
            <a:off x="4133160" y="302652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101828"/>
                </a:solidFill>
                <a:effectLst/>
                <a:uFillTx/>
                <a:latin typeface="Consolas"/>
              </a:rPr>
              <a:t>0.7791</a:t>
            </a:r>
            <a:endParaRPr lang="en-US" sz="1000" b="0" u="none" strike="noStrike">
              <a:solidFill>
                <a:srgbClr val="000000"/>
              </a:solidFill>
              <a:effectLst/>
              <a:uFillTx/>
              <a:latin typeface="Arial"/>
            </a:endParaRPr>
          </a:p>
        </p:txBody>
      </p:sp>
      <p:sp>
        <p:nvSpPr>
          <p:cNvPr id="389" name="TextBox 12"/>
          <p:cNvSpPr/>
          <p:nvPr/>
        </p:nvSpPr>
        <p:spPr>
          <a:xfrm>
            <a:off x="749880" y="322344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475467"/>
                </a:solidFill>
                <a:effectLst/>
                <a:uFillTx/>
                <a:latin typeface="Consolas"/>
              </a:rPr>
              <a:t>lightgbm_wide</a:t>
            </a:r>
            <a:endParaRPr lang="en-US" sz="1000" b="0" u="none" strike="noStrike">
              <a:solidFill>
                <a:srgbClr val="000000"/>
              </a:solidFill>
              <a:effectLst/>
              <a:uFillTx/>
              <a:latin typeface="Arial"/>
            </a:endParaRPr>
          </a:p>
        </p:txBody>
      </p:sp>
      <p:sp>
        <p:nvSpPr>
          <p:cNvPr id="390" name="TextBox 13"/>
          <p:cNvSpPr/>
          <p:nvPr/>
        </p:nvSpPr>
        <p:spPr>
          <a:xfrm>
            <a:off x="4133160" y="322344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101828"/>
                </a:solidFill>
                <a:effectLst/>
                <a:uFillTx/>
                <a:latin typeface="Consolas"/>
              </a:rPr>
              <a:t>0.7790</a:t>
            </a:r>
            <a:endParaRPr lang="en-US" sz="1000" b="0" u="none" strike="noStrike">
              <a:solidFill>
                <a:srgbClr val="000000"/>
              </a:solidFill>
              <a:effectLst/>
              <a:uFillTx/>
              <a:latin typeface="Arial"/>
            </a:endParaRPr>
          </a:p>
        </p:txBody>
      </p:sp>
      <p:sp>
        <p:nvSpPr>
          <p:cNvPr id="391" name="TextBox 14"/>
          <p:cNvSpPr/>
          <p:nvPr/>
        </p:nvSpPr>
        <p:spPr>
          <a:xfrm>
            <a:off x="749880" y="342000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475467"/>
                </a:solidFill>
                <a:effectLst/>
                <a:uFillTx/>
                <a:latin typeface="Consolas"/>
              </a:rPr>
              <a:t>lightgbm_shallow</a:t>
            </a:r>
            <a:endParaRPr lang="en-US" sz="1000" b="0" u="none" strike="noStrike">
              <a:solidFill>
                <a:srgbClr val="000000"/>
              </a:solidFill>
              <a:effectLst/>
              <a:uFillTx/>
              <a:latin typeface="Arial"/>
            </a:endParaRPr>
          </a:p>
        </p:txBody>
      </p:sp>
      <p:sp>
        <p:nvSpPr>
          <p:cNvPr id="392" name="TextBox 15"/>
          <p:cNvSpPr/>
          <p:nvPr/>
        </p:nvSpPr>
        <p:spPr>
          <a:xfrm>
            <a:off x="4133160" y="342000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101828"/>
                </a:solidFill>
                <a:effectLst/>
                <a:uFillTx/>
                <a:latin typeface="Consolas"/>
              </a:rPr>
              <a:t>0.7783</a:t>
            </a:r>
            <a:endParaRPr lang="en-US" sz="1000" b="0" u="none" strike="noStrike">
              <a:solidFill>
                <a:srgbClr val="000000"/>
              </a:solidFill>
              <a:effectLst/>
              <a:uFillTx/>
              <a:latin typeface="Arial"/>
            </a:endParaRPr>
          </a:p>
        </p:txBody>
      </p:sp>
      <p:sp>
        <p:nvSpPr>
          <p:cNvPr id="393" name="TextBox 16"/>
          <p:cNvSpPr/>
          <p:nvPr/>
        </p:nvSpPr>
        <p:spPr>
          <a:xfrm>
            <a:off x="749880" y="361656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475467"/>
                </a:solidFill>
                <a:effectLst/>
                <a:uFillTx/>
                <a:latin typeface="Consolas"/>
              </a:rPr>
              <a:t>random_forest</a:t>
            </a:r>
            <a:endParaRPr lang="en-US" sz="1000" b="0" u="none" strike="noStrike">
              <a:solidFill>
                <a:srgbClr val="000000"/>
              </a:solidFill>
              <a:effectLst/>
              <a:uFillTx/>
              <a:latin typeface="Arial"/>
            </a:endParaRPr>
          </a:p>
        </p:txBody>
      </p:sp>
      <p:sp>
        <p:nvSpPr>
          <p:cNvPr id="394" name="TextBox 17"/>
          <p:cNvSpPr/>
          <p:nvPr/>
        </p:nvSpPr>
        <p:spPr>
          <a:xfrm>
            <a:off x="4133160" y="361656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101828"/>
                </a:solidFill>
                <a:effectLst/>
                <a:uFillTx/>
                <a:latin typeface="Consolas"/>
              </a:rPr>
              <a:t>0.7575</a:t>
            </a:r>
            <a:endParaRPr lang="en-US" sz="1000" b="0" u="none" strike="noStrike">
              <a:solidFill>
                <a:srgbClr val="000000"/>
              </a:solidFill>
              <a:effectLst/>
              <a:uFillTx/>
              <a:latin typeface="Arial"/>
            </a:endParaRPr>
          </a:p>
        </p:txBody>
      </p:sp>
      <p:sp>
        <p:nvSpPr>
          <p:cNvPr id="395" name="TextBox 18"/>
          <p:cNvSpPr/>
          <p:nvPr/>
        </p:nvSpPr>
        <p:spPr>
          <a:xfrm>
            <a:off x="749880" y="381312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475467"/>
                </a:solidFill>
                <a:effectLst/>
                <a:uFillTx/>
                <a:latin typeface="Consolas"/>
              </a:rPr>
              <a:t>extra_trees</a:t>
            </a:r>
            <a:endParaRPr lang="en-US" sz="1000" b="0" u="none" strike="noStrike">
              <a:solidFill>
                <a:srgbClr val="000000"/>
              </a:solidFill>
              <a:effectLst/>
              <a:uFillTx/>
              <a:latin typeface="Arial"/>
            </a:endParaRPr>
          </a:p>
        </p:txBody>
      </p:sp>
      <p:sp>
        <p:nvSpPr>
          <p:cNvPr id="396" name="TextBox 19"/>
          <p:cNvSpPr/>
          <p:nvPr/>
        </p:nvSpPr>
        <p:spPr>
          <a:xfrm>
            <a:off x="4133160" y="381312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101828"/>
                </a:solidFill>
                <a:effectLst/>
                <a:uFillTx/>
                <a:latin typeface="Consolas"/>
              </a:rPr>
              <a:t>0.6936</a:t>
            </a:r>
            <a:endParaRPr lang="en-US" sz="1000" b="0" u="none" strike="noStrike">
              <a:solidFill>
                <a:srgbClr val="000000"/>
              </a:solidFill>
              <a:effectLst/>
              <a:uFillTx/>
              <a:latin typeface="Arial"/>
            </a:endParaRPr>
          </a:p>
        </p:txBody>
      </p:sp>
      <p:sp>
        <p:nvSpPr>
          <p:cNvPr id="397" name="TextBox 20"/>
          <p:cNvSpPr/>
          <p:nvPr/>
        </p:nvSpPr>
        <p:spPr>
          <a:xfrm>
            <a:off x="749880" y="400968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67647"/>
                </a:solidFill>
                <a:effectLst/>
                <a:uFillTx/>
                <a:latin typeface="Consolas"/>
              </a:rPr>
              <a:t>→ logistic stack</a:t>
            </a:r>
            <a:endParaRPr lang="en-US" sz="1000" b="0" u="none" strike="noStrike">
              <a:solidFill>
                <a:srgbClr val="000000"/>
              </a:solidFill>
              <a:effectLst/>
              <a:uFillTx/>
              <a:latin typeface="Arial"/>
            </a:endParaRPr>
          </a:p>
        </p:txBody>
      </p:sp>
      <p:sp>
        <p:nvSpPr>
          <p:cNvPr id="398" name="TextBox 21"/>
          <p:cNvSpPr/>
          <p:nvPr/>
        </p:nvSpPr>
        <p:spPr>
          <a:xfrm>
            <a:off x="4133160" y="400968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67647"/>
                </a:solidFill>
                <a:effectLst/>
                <a:uFillTx/>
                <a:latin typeface="Consolas"/>
              </a:rPr>
              <a:t>0.7797</a:t>
            </a:r>
            <a:endParaRPr lang="en-US" sz="1000" b="0" u="none" strike="noStrike">
              <a:solidFill>
                <a:srgbClr val="000000"/>
              </a:solidFill>
              <a:effectLst/>
              <a:uFillTx/>
              <a:latin typeface="Arial"/>
            </a:endParaRPr>
          </a:p>
        </p:txBody>
      </p:sp>
      <p:sp>
        <p:nvSpPr>
          <p:cNvPr id="399" name="TextBox 22"/>
          <p:cNvSpPr/>
          <p:nvPr/>
        </p:nvSpPr>
        <p:spPr>
          <a:xfrm>
            <a:off x="6236280" y="2286000"/>
            <a:ext cx="512028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00" b="1" u="none" strike="noStrike">
                <a:solidFill>
                  <a:srgbClr val="2166A3"/>
                </a:solidFill>
                <a:effectLst/>
                <a:uFillTx/>
                <a:latin typeface="Consolas"/>
              </a:rPr>
              <a:t>FRAUD · IEEE-CIS, 590,540 transactions</a:t>
            </a:r>
            <a:endParaRPr lang="en-US" sz="900" b="0" u="none" strike="noStrike">
              <a:solidFill>
                <a:srgbClr val="000000"/>
              </a:solidFill>
              <a:effectLst/>
              <a:uFillTx/>
              <a:latin typeface="Arial"/>
            </a:endParaRPr>
          </a:p>
        </p:txBody>
      </p:sp>
      <p:sp>
        <p:nvSpPr>
          <p:cNvPr id="400" name="TextBox 23"/>
          <p:cNvSpPr/>
          <p:nvPr/>
        </p:nvSpPr>
        <p:spPr>
          <a:xfrm>
            <a:off x="6327720" y="263340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475467"/>
                </a:solidFill>
                <a:effectLst/>
                <a:uFillTx/>
                <a:latin typeface="Consolas"/>
              </a:rPr>
              <a:t>lightgbm</a:t>
            </a:r>
            <a:endParaRPr lang="en-US" sz="1000" b="0" u="none" strike="noStrike">
              <a:solidFill>
                <a:srgbClr val="000000"/>
              </a:solidFill>
              <a:effectLst/>
              <a:uFillTx/>
              <a:latin typeface="Arial"/>
            </a:endParaRPr>
          </a:p>
        </p:txBody>
      </p:sp>
      <p:sp>
        <p:nvSpPr>
          <p:cNvPr id="401" name="TextBox 24"/>
          <p:cNvSpPr/>
          <p:nvPr/>
        </p:nvSpPr>
        <p:spPr>
          <a:xfrm>
            <a:off x="9711000" y="263340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101828"/>
                </a:solidFill>
                <a:effectLst/>
                <a:uFillTx/>
                <a:latin typeface="Consolas"/>
              </a:rPr>
              <a:t>0.9555</a:t>
            </a:r>
            <a:endParaRPr lang="en-US" sz="1000" b="0" u="none" strike="noStrike">
              <a:solidFill>
                <a:srgbClr val="000000"/>
              </a:solidFill>
              <a:effectLst/>
              <a:uFillTx/>
              <a:latin typeface="Arial"/>
            </a:endParaRPr>
          </a:p>
        </p:txBody>
      </p:sp>
      <p:sp>
        <p:nvSpPr>
          <p:cNvPr id="402" name="TextBox 25"/>
          <p:cNvSpPr/>
          <p:nvPr/>
        </p:nvSpPr>
        <p:spPr>
          <a:xfrm>
            <a:off x="6327720" y="282996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475467"/>
                </a:solidFill>
                <a:effectLst/>
                <a:uFillTx/>
                <a:latin typeface="Consolas"/>
              </a:rPr>
              <a:t>xgboost</a:t>
            </a:r>
            <a:endParaRPr lang="en-US" sz="1000" b="0" u="none" strike="noStrike">
              <a:solidFill>
                <a:srgbClr val="000000"/>
              </a:solidFill>
              <a:effectLst/>
              <a:uFillTx/>
              <a:latin typeface="Arial"/>
            </a:endParaRPr>
          </a:p>
        </p:txBody>
      </p:sp>
      <p:sp>
        <p:nvSpPr>
          <p:cNvPr id="403" name="TextBox 26"/>
          <p:cNvSpPr/>
          <p:nvPr/>
        </p:nvSpPr>
        <p:spPr>
          <a:xfrm>
            <a:off x="9711000" y="282996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101828"/>
                </a:solidFill>
                <a:effectLst/>
                <a:uFillTx/>
                <a:latin typeface="Consolas"/>
              </a:rPr>
              <a:t>0.9542</a:t>
            </a:r>
            <a:endParaRPr lang="en-US" sz="1000" b="0" u="none" strike="noStrike">
              <a:solidFill>
                <a:srgbClr val="000000"/>
              </a:solidFill>
              <a:effectLst/>
              <a:uFillTx/>
              <a:latin typeface="Arial"/>
            </a:endParaRPr>
          </a:p>
        </p:txBody>
      </p:sp>
      <p:sp>
        <p:nvSpPr>
          <p:cNvPr id="404" name="TextBox 27"/>
          <p:cNvSpPr/>
          <p:nvPr/>
        </p:nvSpPr>
        <p:spPr>
          <a:xfrm>
            <a:off x="6327720" y="302652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475467"/>
                </a:solidFill>
                <a:effectLst/>
                <a:uFillTx/>
                <a:latin typeface="Consolas"/>
              </a:rPr>
              <a:t>catboost</a:t>
            </a:r>
            <a:endParaRPr lang="en-US" sz="1000" b="0" u="none" strike="noStrike">
              <a:solidFill>
                <a:srgbClr val="000000"/>
              </a:solidFill>
              <a:effectLst/>
              <a:uFillTx/>
              <a:latin typeface="Arial"/>
            </a:endParaRPr>
          </a:p>
        </p:txBody>
      </p:sp>
      <p:sp>
        <p:nvSpPr>
          <p:cNvPr id="405" name="TextBox 28"/>
          <p:cNvSpPr/>
          <p:nvPr/>
        </p:nvSpPr>
        <p:spPr>
          <a:xfrm>
            <a:off x="9711000" y="302652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101828"/>
                </a:solidFill>
                <a:effectLst/>
                <a:uFillTx/>
                <a:latin typeface="Consolas"/>
              </a:rPr>
              <a:t>0.9508</a:t>
            </a:r>
            <a:endParaRPr lang="en-US" sz="1000" b="0" u="none" strike="noStrike">
              <a:solidFill>
                <a:srgbClr val="000000"/>
              </a:solidFill>
              <a:effectLst/>
              <a:uFillTx/>
              <a:latin typeface="Arial"/>
            </a:endParaRPr>
          </a:p>
        </p:txBody>
      </p:sp>
      <p:sp>
        <p:nvSpPr>
          <p:cNvPr id="406" name="TextBox 29"/>
          <p:cNvSpPr/>
          <p:nvPr/>
        </p:nvSpPr>
        <p:spPr>
          <a:xfrm>
            <a:off x="6327720" y="322344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67647"/>
                </a:solidFill>
                <a:effectLst/>
                <a:uFillTx/>
                <a:latin typeface="Consolas"/>
              </a:rPr>
              <a:t>→ logistic stack</a:t>
            </a:r>
            <a:endParaRPr lang="en-US" sz="1000" b="0" u="none" strike="noStrike">
              <a:solidFill>
                <a:srgbClr val="000000"/>
              </a:solidFill>
              <a:effectLst/>
              <a:uFillTx/>
              <a:latin typeface="Arial"/>
            </a:endParaRPr>
          </a:p>
        </p:txBody>
      </p:sp>
      <p:sp>
        <p:nvSpPr>
          <p:cNvPr id="407" name="TextBox 30"/>
          <p:cNvSpPr/>
          <p:nvPr/>
        </p:nvSpPr>
        <p:spPr>
          <a:xfrm>
            <a:off x="9711000" y="322344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67647"/>
                </a:solidFill>
                <a:effectLst/>
                <a:uFillTx/>
                <a:latin typeface="Consolas"/>
              </a:rPr>
              <a:t>0.9564</a:t>
            </a:r>
            <a:endParaRPr lang="en-US" sz="1000" b="0" u="none" strike="noStrike">
              <a:solidFill>
                <a:srgbClr val="000000"/>
              </a:solidFill>
              <a:effectLst/>
              <a:uFillTx/>
              <a:latin typeface="Arial"/>
            </a:endParaRPr>
          </a:p>
        </p:txBody>
      </p:sp>
      <p:sp>
        <p:nvSpPr>
          <p:cNvPr id="408" name="TextBox 31"/>
          <p:cNvSpPr/>
          <p:nvPr/>
        </p:nvSpPr>
        <p:spPr>
          <a:xfrm>
            <a:off x="658440" y="4434840"/>
            <a:ext cx="512028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00" b="1" u="none" strike="noStrike">
                <a:solidFill>
                  <a:srgbClr val="2166A3"/>
                </a:solidFill>
                <a:effectLst/>
                <a:uFillTx/>
                <a:latin typeface="Consolas"/>
              </a:rPr>
              <a:t>DEFAULT PREDICTION · Fannie Mae, 230,543 accounts</a:t>
            </a:r>
            <a:endParaRPr lang="en-US" sz="900" b="0" u="none" strike="noStrike">
              <a:solidFill>
                <a:srgbClr val="000000"/>
              </a:solidFill>
              <a:effectLst/>
              <a:uFillTx/>
              <a:latin typeface="Arial"/>
            </a:endParaRPr>
          </a:p>
        </p:txBody>
      </p:sp>
      <p:sp>
        <p:nvSpPr>
          <p:cNvPr id="409" name="TextBox 32"/>
          <p:cNvSpPr/>
          <p:nvPr/>
        </p:nvSpPr>
        <p:spPr>
          <a:xfrm>
            <a:off x="749880" y="478224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475467"/>
                </a:solidFill>
                <a:effectLst/>
                <a:uFillTx/>
                <a:latin typeface="Consolas"/>
              </a:rPr>
              <a:t>xgboost_pd</a:t>
            </a:r>
            <a:endParaRPr lang="en-US" sz="1000" b="0" u="none" strike="noStrike">
              <a:solidFill>
                <a:srgbClr val="000000"/>
              </a:solidFill>
              <a:effectLst/>
              <a:uFillTx/>
              <a:latin typeface="Arial"/>
            </a:endParaRPr>
          </a:p>
        </p:txBody>
      </p:sp>
      <p:sp>
        <p:nvSpPr>
          <p:cNvPr id="410" name="TextBox 33"/>
          <p:cNvSpPr/>
          <p:nvPr/>
        </p:nvSpPr>
        <p:spPr>
          <a:xfrm>
            <a:off x="4133160" y="478224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101828"/>
                </a:solidFill>
                <a:effectLst/>
                <a:uFillTx/>
                <a:latin typeface="Consolas"/>
              </a:rPr>
              <a:t>0.8818</a:t>
            </a:r>
            <a:endParaRPr lang="en-US" sz="1000" b="0" u="none" strike="noStrike">
              <a:solidFill>
                <a:srgbClr val="000000"/>
              </a:solidFill>
              <a:effectLst/>
              <a:uFillTx/>
              <a:latin typeface="Arial"/>
            </a:endParaRPr>
          </a:p>
        </p:txBody>
      </p:sp>
      <p:sp>
        <p:nvSpPr>
          <p:cNvPr id="411" name="TextBox 34"/>
          <p:cNvSpPr/>
          <p:nvPr/>
        </p:nvSpPr>
        <p:spPr>
          <a:xfrm>
            <a:off x="749880" y="497880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475467"/>
                </a:solidFill>
                <a:effectLst/>
                <a:uFillTx/>
                <a:latin typeface="Consolas"/>
              </a:rPr>
              <a:t>lightgbm_pd</a:t>
            </a:r>
            <a:endParaRPr lang="en-US" sz="1000" b="0" u="none" strike="noStrike">
              <a:solidFill>
                <a:srgbClr val="000000"/>
              </a:solidFill>
              <a:effectLst/>
              <a:uFillTx/>
              <a:latin typeface="Arial"/>
            </a:endParaRPr>
          </a:p>
        </p:txBody>
      </p:sp>
      <p:sp>
        <p:nvSpPr>
          <p:cNvPr id="412" name="TextBox 35"/>
          <p:cNvSpPr/>
          <p:nvPr/>
        </p:nvSpPr>
        <p:spPr>
          <a:xfrm>
            <a:off x="4133160" y="497880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101828"/>
                </a:solidFill>
                <a:effectLst/>
                <a:uFillTx/>
                <a:latin typeface="Consolas"/>
              </a:rPr>
              <a:t>0.8813</a:t>
            </a:r>
            <a:endParaRPr lang="en-US" sz="1000" b="0" u="none" strike="noStrike">
              <a:solidFill>
                <a:srgbClr val="000000"/>
              </a:solidFill>
              <a:effectLst/>
              <a:uFillTx/>
              <a:latin typeface="Arial"/>
            </a:endParaRPr>
          </a:p>
        </p:txBody>
      </p:sp>
      <p:sp>
        <p:nvSpPr>
          <p:cNvPr id="413" name="TextBox 36"/>
          <p:cNvSpPr/>
          <p:nvPr/>
        </p:nvSpPr>
        <p:spPr>
          <a:xfrm>
            <a:off x="749880" y="517536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475467"/>
                </a:solidFill>
                <a:effectLst/>
                <a:uFillTx/>
                <a:latin typeface="Consolas"/>
              </a:rPr>
              <a:t>lightgbm_pd_deep</a:t>
            </a:r>
            <a:endParaRPr lang="en-US" sz="1000" b="0" u="none" strike="noStrike">
              <a:solidFill>
                <a:srgbClr val="000000"/>
              </a:solidFill>
              <a:effectLst/>
              <a:uFillTx/>
              <a:latin typeface="Arial"/>
            </a:endParaRPr>
          </a:p>
        </p:txBody>
      </p:sp>
      <p:sp>
        <p:nvSpPr>
          <p:cNvPr id="414" name="TextBox 37"/>
          <p:cNvSpPr/>
          <p:nvPr/>
        </p:nvSpPr>
        <p:spPr>
          <a:xfrm>
            <a:off x="4133160" y="517536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101828"/>
                </a:solidFill>
                <a:effectLst/>
                <a:uFillTx/>
                <a:latin typeface="Consolas"/>
              </a:rPr>
              <a:t>0.8811</a:t>
            </a:r>
            <a:endParaRPr lang="en-US" sz="1000" b="0" u="none" strike="noStrike">
              <a:solidFill>
                <a:srgbClr val="000000"/>
              </a:solidFill>
              <a:effectLst/>
              <a:uFillTx/>
              <a:latin typeface="Arial"/>
            </a:endParaRPr>
          </a:p>
        </p:txBody>
      </p:sp>
      <p:sp>
        <p:nvSpPr>
          <p:cNvPr id="415" name="TextBox 38"/>
          <p:cNvSpPr/>
          <p:nvPr/>
        </p:nvSpPr>
        <p:spPr>
          <a:xfrm>
            <a:off x="749880" y="537228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475467"/>
                </a:solidFill>
                <a:effectLst/>
                <a:uFillTx/>
                <a:latin typeface="Consolas"/>
              </a:rPr>
              <a:t>gradient_boosting</a:t>
            </a:r>
            <a:endParaRPr lang="en-US" sz="1000" b="0" u="none" strike="noStrike">
              <a:solidFill>
                <a:srgbClr val="000000"/>
              </a:solidFill>
              <a:effectLst/>
              <a:uFillTx/>
              <a:latin typeface="Arial"/>
            </a:endParaRPr>
          </a:p>
        </p:txBody>
      </p:sp>
      <p:sp>
        <p:nvSpPr>
          <p:cNvPr id="416" name="TextBox 39"/>
          <p:cNvSpPr/>
          <p:nvPr/>
        </p:nvSpPr>
        <p:spPr>
          <a:xfrm>
            <a:off x="4133160" y="537228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101828"/>
                </a:solidFill>
                <a:effectLst/>
                <a:uFillTx/>
                <a:latin typeface="Consolas"/>
              </a:rPr>
              <a:t>0.8789</a:t>
            </a:r>
            <a:endParaRPr lang="en-US" sz="1000" b="0" u="none" strike="noStrike">
              <a:solidFill>
                <a:srgbClr val="000000"/>
              </a:solidFill>
              <a:effectLst/>
              <a:uFillTx/>
              <a:latin typeface="Arial"/>
            </a:endParaRPr>
          </a:p>
        </p:txBody>
      </p:sp>
      <p:sp>
        <p:nvSpPr>
          <p:cNvPr id="417" name="TextBox 40"/>
          <p:cNvSpPr/>
          <p:nvPr/>
        </p:nvSpPr>
        <p:spPr>
          <a:xfrm>
            <a:off x="749880" y="556884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475467"/>
                </a:solidFill>
                <a:effectLst/>
                <a:uFillTx/>
                <a:latin typeface="Consolas"/>
              </a:rPr>
              <a:t>random_forest_pd</a:t>
            </a:r>
            <a:endParaRPr lang="en-US" sz="1000" b="0" u="none" strike="noStrike">
              <a:solidFill>
                <a:srgbClr val="000000"/>
              </a:solidFill>
              <a:effectLst/>
              <a:uFillTx/>
              <a:latin typeface="Arial"/>
            </a:endParaRPr>
          </a:p>
        </p:txBody>
      </p:sp>
      <p:sp>
        <p:nvSpPr>
          <p:cNvPr id="418" name="TextBox 41"/>
          <p:cNvSpPr/>
          <p:nvPr/>
        </p:nvSpPr>
        <p:spPr>
          <a:xfrm>
            <a:off x="4133160" y="556884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101828"/>
                </a:solidFill>
                <a:effectLst/>
                <a:uFillTx/>
                <a:latin typeface="Consolas"/>
              </a:rPr>
              <a:t>0.8730</a:t>
            </a:r>
            <a:endParaRPr lang="en-US" sz="1000" b="0" u="none" strike="noStrike">
              <a:solidFill>
                <a:srgbClr val="000000"/>
              </a:solidFill>
              <a:effectLst/>
              <a:uFillTx/>
              <a:latin typeface="Arial"/>
            </a:endParaRPr>
          </a:p>
        </p:txBody>
      </p:sp>
      <p:sp>
        <p:nvSpPr>
          <p:cNvPr id="419" name="TextBox 42"/>
          <p:cNvSpPr/>
          <p:nvPr/>
        </p:nvSpPr>
        <p:spPr>
          <a:xfrm>
            <a:off x="6236280" y="4434840"/>
            <a:ext cx="512028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00" b="1" u="none" strike="noStrike">
                <a:solidFill>
                  <a:srgbClr val="2166A3"/>
                </a:solidFill>
                <a:effectLst/>
                <a:uFillTx/>
                <a:latin typeface="Consolas"/>
              </a:rPr>
              <a:t>CROP · AgriFieldNet, 147,409 pixels  (macro-F1)</a:t>
            </a:r>
            <a:endParaRPr lang="en-US" sz="900" b="0" u="none" strike="noStrike">
              <a:solidFill>
                <a:srgbClr val="000000"/>
              </a:solidFill>
              <a:effectLst/>
              <a:uFillTx/>
              <a:latin typeface="Arial"/>
            </a:endParaRPr>
          </a:p>
        </p:txBody>
      </p:sp>
      <p:sp>
        <p:nvSpPr>
          <p:cNvPr id="420" name="TextBox 43"/>
          <p:cNvSpPr/>
          <p:nvPr/>
        </p:nvSpPr>
        <p:spPr>
          <a:xfrm>
            <a:off x="6327720" y="478224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475467"/>
                </a:solidFill>
                <a:effectLst/>
                <a:uFillTx/>
                <a:latin typeface="Consolas"/>
              </a:rPr>
              <a:t>extra_trees</a:t>
            </a:r>
            <a:endParaRPr lang="en-US" sz="1000" b="0" u="none" strike="noStrike">
              <a:solidFill>
                <a:srgbClr val="000000"/>
              </a:solidFill>
              <a:effectLst/>
              <a:uFillTx/>
              <a:latin typeface="Arial"/>
            </a:endParaRPr>
          </a:p>
        </p:txBody>
      </p:sp>
      <p:sp>
        <p:nvSpPr>
          <p:cNvPr id="421" name="TextBox 44"/>
          <p:cNvSpPr/>
          <p:nvPr/>
        </p:nvSpPr>
        <p:spPr>
          <a:xfrm>
            <a:off x="9711000" y="478224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101828"/>
                </a:solidFill>
                <a:effectLst/>
                <a:uFillTx/>
                <a:latin typeface="Consolas"/>
              </a:rPr>
              <a:t>0.5249</a:t>
            </a:r>
            <a:endParaRPr lang="en-US" sz="1000" b="0" u="none" strike="noStrike">
              <a:solidFill>
                <a:srgbClr val="000000"/>
              </a:solidFill>
              <a:effectLst/>
              <a:uFillTx/>
              <a:latin typeface="Arial"/>
            </a:endParaRPr>
          </a:p>
        </p:txBody>
      </p:sp>
      <p:sp>
        <p:nvSpPr>
          <p:cNvPr id="422" name="TextBox 45"/>
          <p:cNvSpPr/>
          <p:nvPr/>
        </p:nvSpPr>
        <p:spPr>
          <a:xfrm>
            <a:off x="6327720" y="497880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475467"/>
                </a:solidFill>
                <a:effectLst/>
                <a:uFillTx/>
                <a:latin typeface="Consolas"/>
              </a:rPr>
              <a:t>random_forest</a:t>
            </a:r>
            <a:endParaRPr lang="en-US" sz="1000" b="0" u="none" strike="noStrike">
              <a:solidFill>
                <a:srgbClr val="000000"/>
              </a:solidFill>
              <a:effectLst/>
              <a:uFillTx/>
              <a:latin typeface="Arial"/>
            </a:endParaRPr>
          </a:p>
        </p:txBody>
      </p:sp>
      <p:sp>
        <p:nvSpPr>
          <p:cNvPr id="423" name="TextBox 46"/>
          <p:cNvSpPr/>
          <p:nvPr/>
        </p:nvSpPr>
        <p:spPr>
          <a:xfrm>
            <a:off x="9711000" y="497880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101828"/>
                </a:solidFill>
                <a:effectLst/>
                <a:uFillTx/>
                <a:latin typeface="Consolas"/>
              </a:rPr>
              <a:t>0.5163</a:t>
            </a:r>
            <a:endParaRPr lang="en-US" sz="1000" b="0" u="none" strike="noStrike">
              <a:solidFill>
                <a:srgbClr val="000000"/>
              </a:solidFill>
              <a:effectLst/>
              <a:uFillTx/>
              <a:latin typeface="Arial"/>
            </a:endParaRPr>
          </a:p>
        </p:txBody>
      </p:sp>
      <p:sp>
        <p:nvSpPr>
          <p:cNvPr id="424" name="TextBox 47"/>
          <p:cNvSpPr/>
          <p:nvPr/>
        </p:nvSpPr>
        <p:spPr>
          <a:xfrm>
            <a:off x="6327720" y="517536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475467"/>
                </a:solidFill>
                <a:effectLst/>
                <a:uFillTx/>
                <a:latin typeface="Consolas"/>
              </a:rPr>
              <a:t>lightgbm</a:t>
            </a:r>
            <a:endParaRPr lang="en-US" sz="1000" b="0" u="none" strike="noStrike">
              <a:solidFill>
                <a:srgbClr val="000000"/>
              </a:solidFill>
              <a:effectLst/>
              <a:uFillTx/>
              <a:latin typeface="Arial"/>
            </a:endParaRPr>
          </a:p>
        </p:txBody>
      </p:sp>
      <p:sp>
        <p:nvSpPr>
          <p:cNvPr id="425" name="TextBox 48"/>
          <p:cNvSpPr/>
          <p:nvPr/>
        </p:nvSpPr>
        <p:spPr>
          <a:xfrm>
            <a:off x="9711000" y="517536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101828"/>
                </a:solidFill>
                <a:effectLst/>
                <a:uFillTx/>
                <a:latin typeface="Consolas"/>
              </a:rPr>
              <a:t>0.5115</a:t>
            </a:r>
            <a:endParaRPr lang="en-US" sz="1000" b="0" u="none" strike="noStrike">
              <a:solidFill>
                <a:srgbClr val="000000"/>
              </a:solidFill>
              <a:effectLst/>
              <a:uFillTx/>
              <a:latin typeface="Arial"/>
            </a:endParaRPr>
          </a:p>
        </p:txBody>
      </p:sp>
      <p:sp>
        <p:nvSpPr>
          <p:cNvPr id="426" name="TextBox 49"/>
          <p:cNvSpPr/>
          <p:nvPr/>
        </p:nvSpPr>
        <p:spPr>
          <a:xfrm>
            <a:off x="6327720" y="537228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475467"/>
                </a:solidFill>
                <a:effectLst/>
                <a:uFillTx/>
                <a:latin typeface="Consolas"/>
              </a:rPr>
              <a:t>xgboost</a:t>
            </a:r>
            <a:endParaRPr lang="en-US" sz="1000" b="0" u="none" strike="noStrike">
              <a:solidFill>
                <a:srgbClr val="000000"/>
              </a:solidFill>
              <a:effectLst/>
              <a:uFillTx/>
              <a:latin typeface="Arial"/>
            </a:endParaRPr>
          </a:p>
        </p:txBody>
      </p:sp>
      <p:sp>
        <p:nvSpPr>
          <p:cNvPr id="427" name="TextBox 50"/>
          <p:cNvSpPr/>
          <p:nvPr/>
        </p:nvSpPr>
        <p:spPr>
          <a:xfrm>
            <a:off x="9711000" y="537228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101828"/>
                </a:solidFill>
                <a:effectLst/>
                <a:uFillTx/>
                <a:latin typeface="Consolas"/>
              </a:rPr>
              <a:t>0.4966</a:t>
            </a:r>
            <a:endParaRPr lang="en-US" sz="1000" b="0" u="none" strike="noStrike">
              <a:solidFill>
                <a:srgbClr val="000000"/>
              </a:solidFill>
              <a:effectLst/>
              <a:uFillTx/>
              <a:latin typeface="Arial"/>
            </a:endParaRPr>
          </a:p>
        </p:txBody>
      </p:sp>
      <p:sp>
        <p:nvSpPr>
          <p:cNvPr id="428" name="TextBox 51"/>
          <p:cNvSpPr/>
          <p:nvPr/>
        </p:nvSpPr>
        <p:spPr>
          <a:xfrm>
            <a:off x="6327720" y="5568840"/>
            <a:ext cx="329148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67647"/>
                </a:solidFill>
                <a:effectLst/>
                <a:uFillTx/>
                <a:latin typeface="Consolas"/>
              </a:rPr>
              <a:t>→ equal-weight blend</a:t>
            </a:r>
            <a:endParaRPr lang="en-US" sz="1000" b="0" u="none" strike="noStrike">
              <a:solidFill>
                <a:srgbClr val="000000"/>
              </a:solidFill>
              <a:effectLst/>
              <a:uFillTx/>
              <a:latin typeface="Arial"/>
            </a:endParaRPr>
          </a:p>
        </p:txBody>
      </p:sp>
      <p:sp>
        <p:nvSpPr>
          <p:cNvPr id="429" name="TextBox 52"/>
          <p:cNvSpPr/>
          <p:nvPr/>
        </p:nvSpPr>
        <p:spPr>
          <a:xfrm>
            <a:off x="9711000" y="5568840"/>
            <a:ext cx="1096920" cy="18252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67647"/>
                </a:solidFill>
                <a:effectLst/>
                <a:uFillTx/>
                <a:latin typeface="Consolas"/>
              </a:rPr>
              <a:t>0.5225</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30" name="TextBox 1"/>
          <p:cNvSpPr/>
          <p:nvPr/>
        </p:nvSpPr>
        <p:spPr>
          <a:xfrm>
            <a:off x="11338560" y="384120"/>
            <a:ext cx="548280" cy="228240"/>
          </a:xfrm>
          <a:prstGeom prst="rect">
            <a:avLst/>
          </a:prstGeom>
          <a:noFill/>
          <a:ln w="0">
            <a:noFill/>
          </a:ln>
        </p:spPr>
        <p:style>
          <a:lnRef idx="0"/>
          <a:fillRef idx="0"/>
          <a:effectRef idx="0"/>
          <a:fontRef idx="minor"/>
        </p:style>
        <p:txBody>
          <a:bodyPr lIns="0" tIns="0" rIns="0" bIns="0" anchor="t">
            <a:spAutoFit/>
          </a:bodyPr>
          <a:p>
            <a:pPr algn="r" defTabSz="457200">
              <a:lnSpc>
                <a:spcPct val="100000"/>
              </a:lnSpc>
            </a:pPr>
            <a:r>
              <a:rPr lang="en-US" sz="900" b="0" u="none" strike="noStrike">
                <a:solidFill>
                  <a:srgbClr val="6B7C93"/>
                </a:solidFill>
                <a:effectLst/>
                <a:uFillTx/>
                <a:latin typeface="Consolas"/>
              </a:rPr>
              <a:t>11</a:t>
            </a:r>
            <a:endParaRPr lang="en-US" sz="900" b="0" u="none" strike="noStrike">
              <a:solidFill>
                <a:srgbClr val="000000"/>
              </a:solidFill>
              <a:effectLst/>
              <a:uFillTx/>
              <a:latin typeface="Arial"/>
            </a:endParaRPr>
          </a:p>
        </p:txBody>
      </p:sp>
      <p:sp>
        <p:nvSpPr>
          <p:cNvPr id="431" name="TextBox 2"/>
          <p:cNvSpPr/>
          <p:nvPr/>
        </p:nvSpPr>
        <p:spPr>
          <a:xfrm>
            <a:off x="658440" y="457200"/>
            <a:ext cx="10058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0" u="none" strike="noStrike">
                <a:solidFill>
                  <a:srgbClr val="2166A3"/>
                </a:solidFill>
                <a:effectLst/>
                <a:uFillTx/>
                <a:latin typeface="Consolas"/>
              </a:rPr>
              <a:t>FRAUD DETECTION · THE STRONGEST RESULT</a:t>
            </a:r>
            <a:endParaRPr lang="en-US" sz="1050" b="0" u="none" strike="noStrike">
              <a:solidFill>
                <a:srgbClr val="000000"/>
              </a:solidFill>
              <a:effectLst/>
              <a:uFillTx/>
              <a:latin typeface="Arial"/>
            </a:endParaRPr>
          </a:p>
        </p:txBody>
      </p:sp>
      <p:sp>
        <p:nvSpPr>
          <p:cNvPr id="432" name="TextBox 3"/>
          <p:cNvSpPr/>
          <p:nvPr/>
        </p:nvSpPr>
        <p:spPr>
          <a:xfrm>
            <a:off x="658440" y="777240"/>
            <a:ext cx="10423800" cy="914040"/>
          </a:xfrm>
          <a:prstGeom prst="rect">
            <a:avLst/>
          </a:prstGeom>
          <a:noFill/>
          <a:ln w="0">
            <a:noFill/>
          </a:ln>
        </p:spPr>
        <p:style>
          <a:lnRef idx="0"/>
          <a:fillRef idx="0"/>
          <a:effectRef idx="0"/>
          <a:fontRef idx="minor"/>
        </p:style>
        <p:txBody>
          <a:bodyPr lIns="0" tIns="0" rIns="0" bIns="0" anchor="t">
            <a:spAutoFit/>
          </a:bodyPr>
          <a:p>
            <a:pPr defTabSz="457200">
              <a:lnSpc>
                <a:spcPct val="95000"/>
              </a:lnSpc>
            </a:pPr>
            <a:r>
              <a:rPr lang="en-US" sz="3200" b="1" u="none" strike="noStrike">
                <a:solidFill>
                  <a:srgbClr val="0A3A68"/>
                </a:solidFill>
                <a:effectLst/>
                <a:uFillTx/>
                <a:latin typeface="Georgia"/>
              </a:rPr>
              <a:t>0.9564 AUC on 590,540 real card transactions</a:t>
            </a:r>
            <a:endParaRPr lang="en-US" sz="3200" b="0" u="none" strike="noStrike">
              <a:solidFill>
                <a:srgbClr val="000000"/>
              </a:solidFill>
              <a:effectLst/>
              <a:uFillTx/>
              <a:latin typeface="Arial"/>
            </a:endParaRPr>
          </a:p>
        </p:txBody>
      </p:sp>
      <p:sp>
        <p:nvSpPr>
          <p:cNvPr id="433" name="TextBox 4"/>
          <p:cNvSpPr/>
          <p:nvPr/>
        </p:nvSpPr>
        <p:spPr>
          <a:xfrm>
            <a:off x="658440" y="1737360"/>
            <a:ext cx="5577480" cy="1371240"/>
          </a:xfrm>
          <a:prstGeom prst="rect">
            <a:avLst/>
          </a:prstGeom>
          <a:noFill/>
          <a:ln w="0">
            <a:noFill/>
          </a:ln>
        </p:spPr>
        <p:style>
          <a:lnRef idx="0"/>
          <a:fillRef idx="0"/>
          <a:effectRef idx="0"/>
          <a:fontRef idx="minor"/>
        </p:style>
        <p:txBody>
          <a:bodyPr lIns="0" tIns="0" rIns="0" bIns="0" anchor="t">
            <a:spAutoFit/>
          </a:bodyPr>
          <a:p>
            <a:pPr defTabSz="457200">
              <a:lnSpc>
                <a:spcPct val="128000"/>
              </a:lnSpc>
              <a:spcAft>
                <a:spcPts val="1001"/>
              </a:spcAft>
            </a:pPr>
            <a:r>
              <a:rPr lang="en-US" sz="1200" b="0" u="none" strike="noStrike">
                <a:solidFill>
                  <a:srgbClr val="475467"/>
                </a:solidFill>
                <a:effectLst/>
                <a:uFillTx/>
                <a:latin typeface="Segoe UI"/>
              </a:rPr>
              <a:t>Three model families on identical folds. The folds are by calendar month, so a model never sees a transaction from the month it is scored on — a random split would let a card's January purchases predict its own January purchases, which is the leak this competition is known for.</a:t>
            </a:r>
            <a:endParaRPr lang="en-US" sz="1200" b="0" u="none" strike="noStrike">
              <a:solidFill>
                <a:srgbClr val="000000"/>
              </a:solidFill>
              <a:effectLst/>
              <a:uFillTx/>
              <a:latin typeface="Arial"/>
            </a:endParaRPr>
          </a:p>
          <a:p>
            <a:pPr defTabSz="457200">
              <a:lnSpc>
                <a:spcPct val="128000"/>
              </a:lnSpc>
            </a:pPr>
            <a:r>
              <a:rPr lang="en-US" sz="1200" b="0" u="none" strike="noStrike">
                <a:solidFill>
                  <a:srgbClr val="475467"/>
                </a:solidFill>
                <a:effectLst/>
                <a:uFillTx/>
                <a:latin typeface="Segoe UI"/>
              </a:rPr>
              <a:t>Per-fold AUC runs 0.929 to 0.971. That spread is the honest uncertainty on the headline number.</a:t>
            </a:r>
            <a:endParaRPr lang="en-US" sz="1200" b="0" u="none" strike="noStrike">
              <a:solidFill>
                <a:srgbClr val="000000"/>
              </a:solidFill>
              <a:effectLst/>
              <a:uFillTx/>
              <a:latin typeface="Arial"/>
            </a:endParaRPr>
          </a:p>
        </p:txBody>
      </p:sp>
      <p:sp>
        <p:nvSpPr>
          <p:cNvPr id="434" name="Rectangle 5"/>
          <p:cNvSpPr/>
          <p:nvPr/>
        </p:nvSpPr>
        <p:spPr>
          <a:xfrm>
            <a:off x="658440" y="3383280"/>
            <a:ext cx="5577480" cy="1371240"/>
          </a:xfrm>
          <a:prstGeom prst="rect">
            <a:avLst/>
          </a:prstGeom>
          <a:solidFill>
            <a:srgbClr val="EEF4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35" name="Rectangle 6"/>
          <p:cNvSpPr/>
          <p:nvPr/>
        </p:nvSpPr>
        <p:spPr>
          <a:xfrm>
            <a:off x="658440" y="3383280"/>
            <a:ext cx="36360" cy="1371240"/>
          </a:xfrm>
          <a:prstGeom prst="rect">
            <a:avLst/>
          </a:prstGeom>
          <a:solidFill>
            <a:srgbClr val="2166A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36" name="TextBox 7"/>
          <p:cNvSpPr/>
          <p:nvPr/>
        </p:nvSpPr>
        <p:spPr>
          <a:xfrm>
            <a:off x="859680" y="3502080"/>
            <a:ext cx="5193360" cy="113364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150" b="0" u="none" strike="noStrike">
                <a:solidFill>
                  <a:srgbClr val="475467"/>
                </a:solidFill>
                <a:effectLst/>
                <a:uFillTx/>
                <a:latin typeface="Segoe UI"/>
              </a:rPr>
              <a:t>The single biggest feature is a customer id the dataset does not ship. Subtracting a days-since-account-opened counter from the clock leaves a constant per card — which turns 590,540 independent-looking rows into customers with histories. Exactly the entity-resolution step Module 3 performs on shared phone, device and address.</a:t>
            </a:r>
            <a:endParaRPr lang="en-US" sz="1150" b="0" u="none" strike="noStrike">
              <a:solidFill>
                <a:srgbClr val="000000"/>
              </a:solidFill>
              <a:effectLst/>
              <a:uFillTx/>
              <a:latin typeface="Arial"/>
            </a:endParaRPr>
          </a:p>
        </p:txBody>
      </p:sp>
      <p:sp>
        <p:nvSpPr>
          <p:cNvPr id="437" name="TextBox 8"/>
          <p:cNvSpPr/>
          <p:nvPr/>
        </p:nvSpPr>
        <p:spPr>
          <a:xfrm>
            <a:off x="6766560" y="1737360"/>
            <a:ext cx="475452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0" u="none" strike="noStrike">
                <a:solidFill>
                  <a:srgbClr val="6B7C93"/>
                </a:solidFill>
                <a:effectLst/>
                <a:uFillTx/>
                <a:latin typeface="Consolas"/>
              </a:rPr>
              <a:t>WHAT A REVIEW DESK WOULD SEE</a:t>
            </a:r>
            <a:endParaRPr lang="en-US" sz="950" b="0" u="none" strike="noStrike">
              <a:solidFill>
                <a:srgbClr val="000000"/>
              </a:solidFill>
              <a:effectLst/>
              <a:uFillTx/>
              <a:latin typeface="Arial"/>
            </a:endParaRPr>
          </a:p>
        </p:txBody>
      </p:sp>
      <p:sp>
        <p:nvSpPr>
          <p:cNvPr id="438" name="TextBox 9"/>
          <p:cNvSpPr/>
          <p:nvPr/>
        </p:nvSpPr>
        <p:spPr>
          <a:xfrm>
            <a:off x="6766560" y="2148840"/>
            <a:ext cx="914040" cy="200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850" b="0" u="none" strike="noStrike">
                <a:solidFill>
                  <a:srgbClr val="6B7C93"/>
                </a:solidFill>
                <a:effectLst/>
                <a:uFillTx/>
                <a:latin typeface="Consolas"/>
              </a:rPr>
              <a:t>REVIEW</a:t>
            </a:r>
            <a:endParaRPr lang="en-US" sz="850" b="0" u="none" strike="noStrike">
              <a:solidFill>
                <a:srgbClr val="000000"/>
              </a:solidFill>
              <a:effectLst/>
              <a:uFillTx/>
              <a:latin typeface="Arial"/>
            </a:endParaRPr>
          </a:p>
        </p:txBody>
      </p:sp>
      <p:sp>
        <p:nvSpPr>
          <p:cNvPr id="439" name="TextBox 10"/>
          <p:cNvSpPr/>
          <p:nvPr/>
        </p:nvSpPr>
        <p:spPr>
          <a:xfrm>
            <a:off x="7680960" y="2148840"/>
            <a:ext cx="1096920" cy="200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850" b="0" u="none" strike="noStrike">
                <a:solidFill>
                  <a:srgbClr val="6B7C93"/>
                </a:solidFill>
                <a:effectLst/>
                <a:uFillTx/>
                <a:latin typeface="Consolas"/>
              </a:rPr>
              <a:t>CAUGHT</a:t>
            </a:r>
            <a:endParaRPr lang="en-US" sz="850" b="0" u="none" strike="noStrike">
              <a:solidFill>
                <a:srgbClr val="000000"/>
              </a:solidFill>
              <a:effectLst/>
              <a:uFillTx/>
              <a:latin typeface="Arial"/>
            </a:endParaRPr>
          </a:p>
        </p:txBody>
      </p:sp>
      <p:sp>
        <p:nvSpPr>
          <p:cNvPr id="440" name="TextBox 11"/>
          <p:cNvSpPr/>
          <p:nvPr/>
        </p:nvSpPr>
        <p:spPr>
          <a:xfrm>
            <a:off x="8778240" y="2148840"/>
            <a:ext cx="1279800" cy="200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850" b="0" u="none" strike="noStrike">
                <a:solidFill>
                  <a:srgbClr val="6B7C93"/>
                </a:solidFill>
                <a:effectLst/>
                <a:uFillTx/>
                <a:latin typeface="Consolas"/>
              </a:rPr>
              <a:t>PRECISION</a:t>
            </a:r>
            <a:endParaRPr lang="en-US" sz="850" b="0" u="none" strike="noStrike">
              <a:solidFill>
                <a:srgbClr val="000000"/>
              </a:solidFill>
              <a:effectLst/>
              <a:uFillTx/>
              <a:latin typeface="Arial"/>
            </a:endParaRPr>
          </a:p>
        </p:txBody>
      </p:sp>
      <p:sp>
        <p:nvSpPr>
          <p:cNvPr id="441" name="TextBox 12"/>
          <p:cNvSpPr/>
          <p:nvPr/>
        </p:nvSpPr>
        <p:spPr>
          <a:xfrm>
            <a:off x="10058400" y="2148840"/>
            <a:ext cx="1462680" cy="20088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850" b="0" u="none" strike="noStrike">
                <a:solidFill>
                  <a:srgbClr val="6B7C93"/>
                </a:solidFill>
                <a:effectLst/>
                <a:uFillTx/>
                <a:latin typeface="Consolas"/>
              </a:rPr>
              <a:t>FALSE ALERTS</a:t>
            </a:r>
            <a:endParaRPr lang="en-US" sz="850" b="0" u="none" strike="noStrike">
              <a:solidFill>
                <a:srgbClr val="000000"/>
              </a:solidFill>
              <a:effectLst/>
              <a:uFillTx/>
              <a:latin typeface="Arial"/>
            </a:endParaRPr>
          </a:p>
        </p:txBody>
      </p:sp>
      <p:sp>
        <p:nvSpPr>
          <p:cNvPr id="442" name="Rectangle 13"/>
          <p:cNvSpPr/>
          <p:nvPr/>
        </p:nvSpPr>
        <p:spPr>
          <a:xfrm>
            <a:off x="6766560" y="2395800"/>
            <a:ext cx="4754520" cy="12240"/>
          </a:xfrm>
          <a:prstGeom prst="rect">
            <a:avLst/>
          </a:prstGeom>
          <a:solidFill>
            <a:srgbClr val="B9C8D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400" rIns="90000" bIns="-32400" anchor="ctr">
            <a:noAutofit/>
          </a:bodyPr>
          <a:p>
            <a:endParaRPr lang="en-US" sz="1800" b="0" u="none" strike="noStrike">
              <a:solidFill>
                <a:schemeClr val="lt1"/>
              </a:solidFill>
              <a:effectLst/>
              <a:uFillTx/>
              <a:latin typeface="Calibri"/>
            </a:endParaRPr>
          </a:p>
        </p:txBody>
      </p:sp>
      <p:sp>
        <p:nvSpPr>
          <p:cNvPr id="443" name="TextBox 14"/>
          <p:cNvSpPr/>
          <p:nvPr/>
        </p:nvSpPr>
        <p:spPr>
          <a:xfrm>
            <a:off x="6766560" y="2541960"/>
            <a:ext cx="91404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0.5%</a:t>
            </a:r>
            <a:endParaRPr lang="en-US" sz="1150" b="0" u="none" strike="noStrike">
              <a:solidFill>
                <a:srgbClr val="000000"/>
              </a:solidFill>
              <a:effectLst/>
              <a:uFillTx/>
              <a:latin typeface="Arial"/>
            </a:endParaRPr>
          </a:p>
        </p:txBody>
      </p:sp>
      <p:sp>
        <p:nvSpPr>
          <p:cNvPr id="444" name="TextBox 15"/>
          <p:cNvSpPr/>
          <p:nvPr/>
        </p:nvSpPr>
        <p:spPr>
          <a:xfrm>
            <a:off x="7680960" y="2541960"/>
            <a:ext cx="109692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14.1%</a:t>
            </a:r>
            <a:endParaRPr lang="en-US" sz="1150" b="0" u="none" strike="noStrike">
              <a:solidFill>
                <a:srgbClr val="000000"/>
              </a:solidFill>
              <a:effectLst/>
              <a:uFillTx/>
              <a:latin typeface="Arial"/>
            </a:endParaRPr>
          </a:p>
        </p:txBody>
      </p:sp>
      <p:sp>
        <p:nvSpPr>
          <p:cNvPr id="445" name="TextBox 16"/>
          <p:cNvSpPr/>
          <p:nvPr/>
        </p:nvSpPr>
        <p:spPr>
          <a:xfrm>
            <a:off x="8778240" y="2541960"/>
            <a:ext cx="127980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98.4%</a:t>
            </a:r>
            <a:endParaRPr lang="en-US" sz="1150" b="0" u="none" strike="noStrike">
              <a:solidFill>
                <a:srgbClr val="000000"/>
              </a:solidFill>
              <a:effectLst/>
              <a:uFillTx/>
              <a:latin typeface="Arial"/>
            </a:endParaRPr>
          </a:p>
        </p:txBody>
      </p:sp>
      <p:sp>
        <p:nvSpPr>
          <p:cNvPr id="446" name="TextBox 17"/>
          <p:cNvSpPr/>
          <p:nvPr/>
        </p:nvSpPr>
        <p:spPr>
          <a:xfrm>
            <a:off x="10058400" y="2541960"/>
            <a:ext cx="146268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46</a:t>
            </a:r>
            <a:endParaRPr lang="en-US" sz="1150" b="0" u="none" strike="noStrike">
              <a:solidFill>
                <a:srgbClr val="000000"/>
              </a:solidFill>
              <a:effectLst/>
              <a:uFillTx/>
              <a:latin typeface="Arial"/>
            </a:endParaRPr>
          </a:p>
        </p:txBody>
      </p:sp>
      <p:sp>
        <p:nvSpPr>
          <p:cNvPr id="447" name="Rectangle 18"/>
          <p:cNvSpPr/>
          <p:nvPr/>
        </p:nvSpPr>
        <p:spPr>
          <a:xfrm>
            <a:off x="6766560" y="2816280"/>
            <a:ext cx="475452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448" name="TextBox 19"/>
          <p:cNvSpPr/>
          <p:nvPr/>
        </p:nvSpPr>
        <p:spPr>
          <a:xfrm>
            <a:off x="6766560" y="2926080"/>
            <a:ext cx="91404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1" u="none" strike="noStrike">
                <a:solidFill>
                  <a:srgbClr val="101828"/>
                </a:solidFill>
                <a:effectLst/>
                <a:uFillTx/>
                <a:latin typeface="Consolas"/>
              </a:rPr>
              <a:t>1%</a:t>
            </a:r>
            <a:endParaRPr lang="en-US" sz="1150" b="0" u="none" strike="noStrike">
              <a:solidFill>
                <a:srgbClr val="000000"/>
              </a:solidFill>
              <a:effectLst/>
              <a:uFillTx/>
              <a:latin typeface="Arial"/>
            </a:endParaRPr>
          </a:p>
        </p:txBody>
      </p:sp>
      <p:sp>
        <p:nvSpPr>
          <p:cNvPr id="449" name="TextBox 20"/>
          <p:cNvSpPr/>
          <p:nvPr/>
        </p:nvSpPr>
        <p:spPr>
          <a:xfrm>
            <a:off x="7680960" y="2926080"/>
            <a:ext cx="109692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1" u="none" strike="noStrike">
                <a:solidFill>
                  <a:srgbClr val="067647"/>
                </a:solidFill>
                <a:effectLst/>
                <a:uFillTx/>
                <a:latin typeface="Consolas"/>
              </a:rPr>
              <a:t>27.6%</a:t>
            </a:r>
            <a:endParaRPr lang="en-US" sz="1150" b="0" u="none" strike="noStrike">
              <a:solidFill>
                <a:srgbClr val="000000"/>
              </a:solidFill>
              <a:effectLst/>
              <a:uFillTx/>
              <a:latin typeface="Arial"/>
            </a:endParaRPr>
          </a:p>
        </p:txBody>
      </p:sp>
      <p:sp>
        <p:nvSpPr>
          <p:cNvPr id="450" name="TextBox 21"/>
          <p:cNvSpPr/>
          <p:nvPr/>
        </p:nvSpPr>
        <p:spPr>
          <a:xfrm>
            <a:off x="8778240" y="2926080"/>
            <a:ext cx="127980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1" u="none" strike="noStrike">
                <a:solidFill>
                  <a:srgbClr val="101828"/>
                </a:solidFill>
                <a:effectLst/>
                <a:uFillTx/>
                <a:latin typeface="Consolas"/>
              </a:rPr>
              <a:t>96.4%</a:t>
            </a:r>
            <a:endParaRPr lang="en-US" sz="1150" b="0" u="none" strike="noStrike">
              <a:solidFill>
                <a:srgbClr val="000000"/>
              </a:solidFill>
              <a:effectLst/>
              <a:uFillTx/>
              <a:latin typeface="Arial"/>
            </a:endParaRPr>
          </a:p>
        </p:txBody>
      </p:sp>
      <p:sp>
        <p:nvSpPr>
          <p:cNvPr id="451" name="TextBox 22"/>
          <p:cNvSpPr/>
          <p:nvPr/>
        </p:nvSpPr>
        <p:spPr>
          <a:xfrm>
            <a:off x="10058400" y="2926080"/>
            <a:ext cx="146268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1" u="none" strike="noStrike">
                <a:solidFill>
                  <a:srgbClr val="101828"/>
                </a:solidFill>
                <a:effectLst/>
                <a:uFillTx/>
                <a:latin typeface="Consolas"/>
              </a:rPr>
              <a:t>211</a:t>
            </a:r>
            <a:endParaRPr lang="en-US" sz="1150" b="0" u="none" strike="noStrike">
              <a:solidFill>
                <a:srgbClr val="000000"/>
              </a:solidFill>
              <a:effectLst/>
              <a:uFillTx/>
              <a:latin typeface="Arial"/>
            </a:endParaRPr>
          </a:p>
        </p:txBody>
      </p:sp>
      <p:sp>
        <p:nvSpPr>
          <p:cNvPr id="452" name="Rectangle 23"/>
          <p:cNvSpPr/>
          <p:nvPr/>
        </p:nvSpPr>
        <p:spPr>
          <a:xfrm>
            <a:off x="6766560" y="3200400"/>
            <a:ext cx="475452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453" name="TextBox 24"/>
          <p:cNvSpPr/>
          <p:nvPr/>
        </p:nvSpPr>
        <p:spPr>
          <a:xfrm>
            <a:off x="6766560" y="3310200"/>
            <a:ext cx="91404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2%</a:t>
            </a:r>
            <a:endParaRPr lang="en-US" sz="1150" b="0" u="none" strike="noStrike">
              <a:solidFill>
                <a:srgbClr val="000000"/>
              </a:solidFill>
              <a:effectLst/>
              <a:uFillTx/>
              <a:latin typeface="Arial"/>
            </a:endParaRPr>
          </a:p>
        </p:txBody>
      </p:sp>
      <p:sp>
        <p:nvSpPr>
          <p:cNvPr id="454" name="TextBox 25"/>
          <p:cNvSpPr/>
          <p:nvPr/>
        </p:nvSpPr>
        <p:spPr>
          <a:xfrm>
            <a:off x="7680960" y="3310200"/>
            <a:ext cx="109692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51.3%</a:t>
            </a:r>
            <a:endParaRPr lang="en-US" sz="1150" b="0" u="none" strike="noStrike">
              <a:solidFill>
                <a:srgbClr val="000000"/>
              </a:solidFill>
              <a:effectLst/>
              <a:uFillTx/>
              <a:latin typeface="Arial"/>
            </a:endParaRPr>
          </a:p>
        </p:txBody>
      </p:sp>
      <p:sp>
        <p:nvSpPr>
          <p:cNvPr id="455" name="TextBox 26"/>
          <p:cNvSpPr/>
          <p:nvPr/>
        </p:nvSpPr>
        <p:spPr>
          <a:xfrm>
            <a:off x="8778240" y="3310200"/>
            <a:ext cx="127980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89.8%</a:t>
            </a:r>
            <a:endParaRPr lang="en-US" sz="1150" b="0" u="none" strike="noStrike">
              <a:solidFill>
                <a:srgbClr val="000000"/>
              </a:solidFill>
              <a:effectLst/>
              <a:uFillTx/>
              <a:latin typeface="Arial"/>
            </a:endParaRPr>
          </a:p>
        </p:txBody>
      </p:sp>
      <p:sp>
        <p:nvSpPr>
          <p:cNvPr id="456" name="TextBox 27"/>
          <p:cNvSpPr/>
          <p:nvPr/>
        </p:nvSpPr>
        <p:spPr>
          <a:xfrm>
            <a:off x="10058400" y="3310200"/>
            <a:ext cx="146268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1,204</a:t>
            </a:r>
            <a:endParaRPr lang="en-US" sz="1150" b="0" u="none" strike="noStrike">
              <a:solidFill>
                <a:srgbClr val="000000"/>
              </a:solidFill>
              <a:effectLst/>
              <a:uFillTx/>
              <a:latin typeface="Arial"/>
            </a:endParaRPr>
          </a:p>
        </p:txBody>
      </p:sp>
      <p:sp>
        <p:nvSpPr>
          <p:cNvPr id="457" name="Rectangle 28"/>
          <p:cNvSpPr/>
          <p:nvPr/>
        </p:nvSpPr>
        <p:spPr>
          <a:xfrm>
            <a:off x="6766560" y="3584520"/>
            <a:ext cx="475452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458" name="TextBox 29"/>
          <p:cNvSpPr/>
          <p:nvPr/>
        </p:nvSpPr>
        <p:spPr>
          <a:xfrm>
            <a:off x="6766560" y="3694320"/>
            <a:ext cx="91404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5%</a:t>
            </a:r>
            <a:endParaRPr lang="en-US" sz="1150" b="0" u="none" strike="noStrike">
              <a:solidFill>
                <a:srgbClr val="000000"/>
              </a:solidFill>
              <a:effectLst/>
              <a:uFillTx/>
              <a:latin typeface="Arial"/>
            </a:endParaRPr>
          </a:p>
        </p:txBody>
      </p:sp>
      <p:sp>
        <p:nvSpPr>
          <p:cNvPr id="459" name="TextBox 30"/>
          <p:cNvSpPr/>
          <p:nvPr/>
        </p:nvSpPr>
        <p:spPr>
          <a:xfrm>
            <a:off x="7680960" y="3694320"/>
            <a:ext cx="109692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74.1%</a:t>
            </a:r>
            <a:endParaRPr lang="en-US" sz="1150" b="0" u="none" strike="noStrike">
              <a:solidFill>
                <a:srgbClr val="000000"/>
              </a:solidFill>
              <a:effectLst/>
              <a:uFillTx/>
              <a:latin typeface="Arial"/>
            </a:endParaRPr>
          </a:p>
        </p:txBody>
      </p:sp>
      <p:sp>
        <p:nvSpPr>
          <p:cNvPr id="460" name="TextBox 31"/>
          <p:cNvSpPr/>
          <p:nvPr/>
        </p:nvSpPr>
        <p:spPr>
          <a:xfrm>
            <a:off x="8778240" y="3694320"/>
            <a:ext cx="127980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101828"/>
                </a:solidFill>
                <a:effectLst/>
                <a:uFillTx/>
                <a:latin typeface="Consolas"/>
              </a:rPr>
              <a:t>51.9%</a:t>
            </a:r>
            <a:endParaRPr lang="en-US" sz="1150" b="0" u="none" strike="noStrike">
              <a:solidFill>
                <a:srgbClr val="000000"/>
              </a:solidFill>
              <a:effectLst/>
              <a:uFillTx/>
              <a:latin typeface="Arial"/>
            </a:endParaRPr>
          </a:p>
        </p:txBody>
      </p:sp>
      <p:sp>
        <p:nvSpPr>
          <p:cNvPr id="461" name="TextBox 32"/>
          <p:cNvSpPr/>
          <p:nvPr/>
        </p:nvSpPr>
        <p:spPr>
          <a:xfrm>
            <a:off x="10058400" y="3694320"/>
            <a:ext cx="146268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50" b="0" u="none" strike="noStrike">
                <a:solidFill>
                  <a:srgbClr val="B54708"/>
                </a:solidFill>
                <a:effectLst/>
                <a:uFillTx/>
                <a:latin typeface="Consolas"/>
              </a:rPr>
              <a:t>14,214</a:t>
            </a:r>
            <a:endParaRPr lang="en-US" sz="1150" b="0" u="none" strike="noStrike">
              <a:solidFill>
                <a:srgbClr val="000000"/>
              </a:solidFill>
              <a:effectLst/>
              <a:uFillTx/>
              <a:latin typeface="Arial"/>
            </a:endParaRPr>
          </a:p>
        </p:txBody>
      </p:sp>
      <p:sp>
        <p:nvSpPr>
          <p:cNvPr id="462" name="Rectangle 33"/>
          <p:cNvSpPr/>
          <p:nvPr/>
        </p:nvSpPr>
        <p:spPr>
          <a:xfrm>
            <a:off x="6766560" y="3968640"/>
            <a:ext cx="475452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463" name="Rectangle 34"/>
          <p:cNvSpPr/>
          <p:nvPr/>
        </p:nvSpPr>
        <p:spPr>
          <a:xfrm>
            <a:off x="6766560" y="4297680"/>
            <a:ext cx="4754520" cy="1416960"/>
          </a:xfrm>
          <a:prstGeom prst="rect">
            <a:avLst/>
          </a:prstGeom>
          <a:solidFill>
            <a:srgbClr val="FDF3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4" name="Rectangle 35"/>
          <p:cNvSpPr/>
          <p:nvPr/>
        </p:nvSpPr>
        <p:spPr>
          <a:xfrm>
            <a:off x="6766560" y="4297680"/>
            <a:ext cx="36360" cy="1416960"/>
          </a:xfrm>
          <a:prstGeom prst="rect">
            <a:avLst/>
          </a:prstGeom>
          <a:solidFill>
            <a:srgbClr val="B547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5" name="TextBox 36"/>
          <p:cNvSpPr/>
          <p:nvPr/>
        </p:nvSpPr>
        <p:spPr>
          <a:xfrm>
            <a:off x="6967800" y="4416480"/>
            <a:ext cx="4370400" cy="117936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150" b="0" u="none" strike="noStrike">
                <a:solidFill>
                  <a:srgbClr val="475467"/>
                </a:solidFill>
                <a:effectLst/>
                <a:uFillTx/>
                <a:latin typeface="Segoe UI"/>
              </a:rPr>
              <a:t>This table is the product, not the AUC. A desk cannot act on a ranking — it acts on a budget. Review 1% of transactions and you catch a quarter of the fraud with 211 wrong stops. Review 5% and you catch three quarters, and stop 14,214 good customers. Where that line sits is a business decision, and it is the one this platform refuses to make on a bank's behalf.</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6" name="TextBox 1"/>
          <p:cNvSpPr/>
          <p:nvPr/>
        </p:nvSpPr>
        <p:spPr>
          <a:xfrm>
            <a:off x="11338560" y="384120"/>
            <a:ext cx="548280" cy="228240"/>
          </a:xfrm>
          <a:prstGeom prst="rect">
            <a:avLst/>
          </a:prstGeom>
          <a:noFill/>
          <a:ln w="0">
            <a:noFill/>
          </a:ln>
        </p:spPr>
        <p:style>
          <a:lnRef idx="0"/>
          <a:fillRef idx="0"/>
          <a:effectRef idx="0"/>
          <a:fontRef idx="minor"/>
        </p:style>
        <p:txBody>
          <a:bodyPr lIns="0" tIns="0" rIns="0" bIns="0" anchor="t">
            <a:spAutoFit/>
          </a:bodyPr>
          <a:p>
            <a:pPr algn="r" defTabSz="457200">
              <a:lnSpc>
                <a:spcPct val="100000"/>
              </a:lnSpc>
            </a:pPr>
            <a:r>
              <a:rPr lang="en-US" sz="900" b="0" u="none" strike="noStrike">
                <a:solidFill>
                  <a:srgbClr val="6B7C93"/>
                </a:solidFill>
                <a:effectLst/>
                <a:uFillTx/>
                <a:latin typeface="Consolas"/>
              </a:rPr>
              <a:t>12</a:t>
            </a:r>
            <a:endParaRPr lang="en-US" sz="900" b="0" u="none" strike="noStrike">
              <a:solidFill>
                <a:srgbClr val="000000"/>
              </a:solidFill>
              <a:effectLst/>
              <a:uFillTx/>
              <a:latin typeface="Arial"/>
            </a:endParaRPr>
          </a:p>
        </p:txBody>
      </p:sp>
      <p:sp>
        <p:nvSpPr>
          <p:cNvPr id="467" name="TextBox 2"/>
          <p:cNvSpPr/>
          <p:nvPr/>
        </p:nvSpPr>
        <p:spPr>
          <a:xfrm>
            <a:off x="658440" y="457200"/>
            <a:ext cx="10058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0" u="none" strike="noStrike">
                <a:solidFill>
                  <a:srgbClr val="2166A3"/>
                </a:solidFill>
                <a:effectLst/>
                <a:uFillTx/>
                <a:latin typeface="Consolas"/>
              </a:rPr>
              <a:t>THE EVIDENCE BASE</a:t>
            </a:r>
            <a:endParaRPr lang="en-US" sz="1050" b="0" u="none" strike="noStrike">
              <a:solidFill>
                <a:srgbClr val="000000"/>
              </a:solidFill>
              <a:effectLst/>
              <a:uFillTx/>
              <a:latin typeface="Arial"/>
            </a:endParaRPr>
          </a:p>
        </p:txBody>
      </p:sp>
      <p:sp>
        <p:nvSpPr>
          <p:cNvPr id="468" name="TextBox 3"/>
          <p:cNvSpPr/>
          <p:nvPr/>
        </p:nvSpPr>
        <p:spPr>
          <a:xfrm>
            <a:off x="658440" y="777240"/>
            <a:ext cx="10423800" cy="914040"/>
          </a:xfrm>
          <a:prstGeom prst="rect">
            <a:avLst/>
          </a:prstGeom>
          <a:noFill/>
          <a:ln w="0">
            <a:noFill/>
          </a:ln>
        </p:spPr>
        <p:style>
          <a:lnRef idx="0"/>
          <a:fillRef idx="0"/>
          <a:effectRef idx="0"/>
          <a:fontRef idx="minor"/>
        </p:style>
        <p:txBody>
          <a:bodyPr lIns="0" tIns="0" rIns="0" bIns="0" anchor="t">
            <a:spAutoFit/>
          </a:bodyPr>
          <a:p>
            <a:pPr defTabSz="457200">
              <a:lnSpc>
                <a:spcPct val="95000"/>
              </a:lnSpc>
            </a:pPr>
            <a:r>
              <a:rPr lang="en-US" sz="3200" b="1" u="none" strike="noStrike">
                <a:solidFill>
                  <a:srgbClr val="0A3A68"/>
                </a:solidFill>
                <a:effectLst/>
                <a:uFillTx/>
                <a:latin typeface="Georgia"/>
              </a:rPr>
              <a:t>Four real datasets, and the limit of each</a:t>
            </a:r>
            <a:endParaRPr lang="en-US" sz="3200" b="0" u="none" strike="noStrike">
              <a:solidFill>
                <a:srgbClr val="000000"/>
              </a:solidFill>
              <a:effectLst/>
              <a:uFillTx/>
              <a:latin typeface="Arial"/>
            </a:endParaRPr>
          </a:p>
        </p:txBody>
      </p:sp>
      <p:sp>
        <p:nvSpPr>
          <p:cNvPr id="469" name="Rectangle 4"/>
          <p:cNvSpPr/>
          <p:nvPr/>
        </p:nvSpPr>
        <p:spPr>
          <a:xfrm>
            <a:off x="658440" y="2002680"/>
            <a:ext cx="27000" cy="822600"/>
          </a:xfrm>
          <a:prstGeom prst="rect">
            <a:avLst/>
          </a:prstGeom>
          <a:solidFill>
            <a:srgbClr val="2166A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0" name="TextBox 5"/>
          <p:cNvSpPr/>
          <p:nvPr/>
        </p:nvSpPr>
        <p:spPr>
          <a:xfrm>
            <a:off x="859680" y="1965960"/>
            <a:ext cx="210276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01828"/>
                </a:solidFill>
                <a:effectLst/>
                <a:uFillTx/>
                <a:latin typeface="Segoe UI"/>
              </a:rPr>
              <a:t>Home Credit</a:t>
            </a:r>
            <a:endParaRPr lang="en-US" sz="1300" b="0" u="none" strike="noStrike">
              <a:solidFill>
                <a:srgbClr val="000000"/>
              </a:solidFill>
              <a:effectLst/>
              <a:uFillTx/>
              <a:latin typeface="Arial"/>
            </a:endParaRPr>
          </a:p>
        </p:txBody>
      </p:sp>
      <p:sp>
        <p:nvSpPr>
          <p:cNvPr id="471" name="TextBox 6"/>
          <p:cNvSpPr/>
          <p:nvPr/>
        </p:nvSpPr>
        <p:spPr>
          <a:xfrm>
            <a:off x="859680" y="2221920"/>
            <a:ext cx="4205880" cy="45684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50" b="0" u="none" strike="noStrike">
                <a:solidFill>
                  <a:srgbClr val="0D4A85"/>
                </a:solidFill>
                <a:effectLst/>
                <a:uFillTx/>
                <a:latin typeface="Consolas"/>
              </a:rPr>
              <a:t>307,511 loan applications with repayment outcomes</a:t>
            </a:r>
            <a:endParaRPr lang="en-US" sz="1050" b="0" u="none" strike="noStrike">
              <a:solidFill>
                <a:srgbClr val="000000"/>
              </a:solidFill>
              <a:effectLst/>
              <a:uFillTx/>
              <a:latin typeface="Arial"/>
            </a:endParaRPr>
          </a:p>
        </p:txBody>
      </p:sp>
      <p:sp>
        <p:nvSpPr>
          <p:cNvPr id="472" name="TextBox 7"/>
          <p:cNvSpPr/>
          <p:nvPr/>
        </p:nvSpPr>
        <p:spPr>
          <a:xfrm>
            <a:off x="5394960" y="1965960"/>
            <a:ext cx="6126120" cy="822600"/>
          </a:xfrm>
          <a:prstGeom prst="rect">
            <a:avLst/>
          </a:prstGeom>
          <a:noFill/>
          <a:ln w="0">
            <a:noFill/>
          </a:ln>
        </p:spPr>
        <p:style>
          <a:lnRef idx="0"/>
          <a:fillRef idx="0"/>
          <a:effectRef idx="0"/>
          <a:fontRef idx="minor"/>
        </p:style>
        <p:txBody>
          <a:bodyPr lIns="0" tIns="0" rIns="0" bIns="0" anchor="t">
            <a:spAutoFit/>
          </a:bodyPr>
          <a:p>
            <a:pPr defTabSz="457200">
              <a:lnSpc>
                <a:spcPct val="125000"/>
              </a:lnSpc>
            </a:pPr>
            <a:r>
              <a:rPr lang="en-US" sz="1100" b="0" u="none" strike="noStrike">
                <a:solidFill>
                  <a:srgbClr val="475467"/>
                </a:solidFill>
                <a:effectLst/>
                <a:uFillTx/>
                <a:latin typeface="Segoe UI"/>
              </a:rPr>
              <a:t>Consumer credit, not agricultural. The label is the publisher's definition of payment difficulty, not this bank's default.</a:t>
            </a:r>
            <a:endParaRPr lang="en-US" sz="1100" b="0" u="none" strike="noStrike">
              <a:solidFill>
                <a:srgbClr val="000000"/>
              </a:solidFill>
              <a:effectLst/>
              <a:uFillTx/>
              <a:latin typeface="Arial"/>
            </a:endParaRPr>
          </a:p>
        </p:txBody>
      </p:sp>
      <p:sp>
        <p:nvSpPr>
          <p:cNvPr id="473" name="Rectangle 8"/>
          <p:cNvSpPr/>
          <p:nvPr/>
        </p:nvSpPr>
        <p:spPr>
          <a:xfrm>
            <a:off x="658440" y="3026520"/>
            <a:ext cx="27000" cy="822600"/>
          </a:xfrm>
          <a:prstGeom prst="rect">
            <a:avLst/>
          </a:prstGeom>
          <a:solidFill>
            <a:srgbClr val="2166A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4" name="TextBox 9"/>
          <p:cNvSpPr/>
          <p:nvPr/>
        </p:nvSpPr>
        <p:spPr>
          <a:xfrm>
            <a:off x="859680" y="2990160"/>
            <a:ext cx="210276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01828"/>
                </a:solidFill>
                <a:effectLst/>
                <a:uFillTx/>
                <a:latin typeface="Segoe UI"/>
              </a:rPr>
              <a:t>Fannie Mae</a:t>
            </a:r>
            <a:endParaRPr lang="en-US" sz="1300" b="0" u="none" strike="noStrike">
              <a:solidFill>
                <a:srgbClr val="000000"/>
              </a:solidFill>
              <a:effectLst/>
              <a:uFillTx/>
              <a:latin typeface="Arial"/>
            </a:endParaRPr>
          </a:p>
        </p:txBody>
      </p:sp>
      <p:sp>
        <p:nvSpPr>
          <p:cNvPr id="475" name="TextBox 10"/>
          <p:cNvSpPr/>
          <p:nvPr/>
        </p:nvSpPr>
        <p:spPr>
          <a:xfrm>
            <a:off x="859680" y="3246120"/>
            <a:ext cx="4205880" cy="45684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50" b="0" u="none" strike="noStrike">
                <a:solidFill>
                  <a:srgbClr val="0D4A85"/>
                </a:solidFill>
                <a:effectLst/>
                <a:uFillTx/>
                <a:latin typeface="Consolas"/>
              </a:rPr>
              <a:t>16.8M monthly rows, 19 years, 230,543 accounts scored</a:t>
            </a:r>
            <a:endParaRPr lang="en-US" sz="1050" b="0" u="none" strike="noStrike">
              <a:solidFill>
                <a:srgbClr val="000000"/>
              </a:solidFill>
              <a:effectLst/>
              <a:uFillTx/>
              <a:latin typeface="Arial"/>
            </a:endParaRPr>
          </a:p>
        </p:txBody>
      </p:sp>
      <p:sp>
        <p:nvSpPr>
          <p:cNvPr id="476" name="TextBox 11"/>
          <p:cNvSpPr/>
          <p:nvPr/>
        </p:nvSpPr>
        <p:spPr>
          <a:xfrm>
            <a:off x="5394960" y="2990160"/>
            <a:ext cx="6126120" cy="822600"/>
          </a:xfrm>
          <a:prstGeom prst="rect">
            <a:avLst/>
          </a:prstGeom>
          <a:noFill/>
          <a:ln w="0">
            <a:noFill/>
          </a:ln>
        </p:spPr>
        <p:style>
          <a:lnRef idx="0"/>
          <a:fillRef idx="0"/>
          <a:effectRef idx="0"/>
          <a:fontRef idx="minor"/>
        </p:style>
        <p:txBody>
          <a:bodyPr lIns="0" tIns="0" rIns="0" bIns="0" anchor="t">
            <a:spAutoFit/>
          </a:bodyPr>
          <a:p>
            <a:pPr defTabSz="457200">
              <a:lnSpc>
                <a:spcPct val="125000"/>
              </a:lnSpc>
            </a:pPr>
            <a:r>
              <a:rPr lang="en-US" sz="1100" b="0" u="none" strike="noStrike">
                <a:solidFill>
                  <a:srgbClr val="475467"/>
                </a:solidFill>
                <a:effectLst/>
                <a:uFillTx/>
                <a:latin typeface="Segoe UI"/>
              </a:rPr>
              <a:t>US mortgages. Real censoring, real seasoning, real crisis — but a different product and a different economy.</a:t>
            </a:r>
            <a:endParaRPr lang="en-US" sz="1100" b="0" u="none" strike="noStrike">
              <a:solidFill>
                <a:srgbClr val="000000"/>
              </a:solidFill>
              <a:effectLst/>
              <a:uFillTx/>
              <a:latin typeface="Arial"/>
            </a:endParaRPr>
          </a:p>
        </p:txBody>
      </p:sp>
      <p:sp>
        <p:nvSpPr>
          <p:cNvPr id="477" name="Rectangle 12"/>
          <p:cNvSpPr/>
          <p:nvPr/>
        </p:nvSpPr>
        <p:spPr>
          <a:xfrm>
            <a:off x="658440" y="4050720"/>
            <a:ext cx="27000" cy="822600"/>
          </a:xfrm>
          <a:prstGeom prst="rect">
            <a:avLst/>
          </a:prstGeom>
          <a:solidFill>
            <a:srgbClr val="2166A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8" name="TextBox 13"/>
          <p:cNvSpPr/>
          <p:nvPr/>
        </p:nvSpPr>
        <p:spPr>
          <a:xfrm>
            <a:off x="859680" y="4014360"/>
            <a:ext cx="210276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01828"/>
                </a:solidFill>
                <a:effectLst/>
                <a:uFillTx/>
                <a:latin typeface="Segoe UI"/>
              </a:rPr>
              <a:t>IEEE-CIS</a:t>
            </a:r>
            <a:endParaRPr lang="en-US" sz="1300" b="0" u="none" strike="noStrike">
              <a:solidFill>
                <a:srgbClr val="000000"/>
              </a:solidFill>
              <a:effectLst/>
              <a:uFillTx/>
              <a:latin typeface="Arial"/>
            </a:endParaRPr>
          </a:p>
        </p:txBody>
      </p:sp>
      <p:sp>
        <p:nvSpPr>
          <p:cNvPr id="479" name="TextBox 14"/>
          <p:cNvSpPr/>
          <p:nvPr/>
        </p:nvSpPr>
        <p:spPr>
          <a:xfrm>
            <a:off x="859680" y="4270320"/>
            <a:ext cx="4205880" cy="45684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50" b="0" u="none" strike="noStrike">
                <a:solidFill>
                  <a:srgbClr val="0D4A85"/>
                </a:solidFill>
                <a:effectLst/>
                <a:uFillTx/>
                <a:latin typeface="Consolas"/>
              </a:rPr>
              <a:t>590,540 card transactions, 3.5% fraud, 6 months</a:t>
            </a:r>
            <a:endParaRPr lang="en-US" sz="1050" b="0" u="none" strike="noStrike">
              <a:solidFill>
                <a:srgbClr val="000000"/>
              </a:solidFill>
              <a:effectLst/>
              <a:uFillTx/>
              <a:latin typeface="Arial"/>
            </a:endParaRPr>
          </a:p>
        </p:txBody>
      </p:sp>
      <p:sp>
        <p:nvSpPr>
          <p:cNvPr id="480" name="TextBox 15"/>
          <p:cNvSpPr/>
          <p:nvPr/>
        </p:nvSpPr>
        <p:spPr>
          <a:xfrm>
            <a:off x="5394960" y="4014360"/>
            <a:ext cx="6126120" cy="822600"/>
          </a:xfrm>
          <a:prstGeom prst="rect">
            <a:avLst/>
          </a:prstGeom>
          <a:noFill/>
          <a:ln w="0">
            <a:noFill/>
          </a:ln>
        </p:spPr>
        <p:style>
          <a:lnRef idx="0"/>
          <a:fillRef idx="0"/>
          <a:effectRef idx="0"/>
          <a:fontRef idx="minor"/>
        </p:style>
        <p:txBody>
          <a:bodyPr lIns="0" tIns="0" rIns="0" bIns="0" anchor="t">
            <a:spAutoFit/>
          </a:bodyPr>
          <a:p>
            <a:pPr defTabSz="457200">
              <a:lnSpc>
                <a:spcPct val="125000"/>
              </a:lnSpc>
            </a:pPr>
            <a:r>
              <a:rPr lang="en-US" sz="1100" b="0" u="none" strike="noStrike">
                <a:solidFill>
                  <a:srgbClr val="475467"/>
                </a:solidFill>
                <a:effectLst/>
                <a:uFillTx/>
                <a:latin typeface="Segoe UI"/>
              </a:rPr>
              <a:t>E-commerce card fraud, not loan fraud. The graph structure is the transferable part; the fraud patterns are not.</a:t>
            </a:r>
            <a:endParaRPr lang="en-US" sz="1100" b="0" u="none" strike="noStrike">
              <a:solidFill>
                <a:srgbClr val="000000"/>
              </a:solidFill>
              <a:effectLst/>
              <a:uFillTx/>
              <a:latin typeface="Arial"/>
            </a:endParaRPr>
          </a:p>
        </p:txBody>
      </p:sp>
      <p:sp>
        <p:nvSpPr>
          <p:cNvPr id="481" name="Rectangle 16"/>
          <p:cNvSpPr/>
          <p:nvPr/>
        </p:nvSpPr>
        <p:spPr>
          <a:xfrm>
            <a:off x="658440" y="5074920"/>
            <a:ext cx="27000" cy="822600"/>
          </a:xfrm>
          <a:prstGeom prst="rect">
            <a:avLst/>
          </a:prstGeom>
          <a:solidFill>
            <a:srgbClr val="2166A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82" name="TextBox 17"/>
          <p:cNvSpPr/>
          <p:nvPr/>
        </p:nvSpPr>
        <p:spPr>
          <a:xfrm>
            <a:off x="859680" y="5038200"/>
            <a:ext cx="210276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01828"/>
                </a:solidFill>
                <a:effectLst/>
                <a:uFillTx/>
                <a:latin typeface="Segoe UI"/>
              </a:rPr>
              <a:t>AgriFieldNet</a:t>
            </a:r>
            <a:endParaRPr lang="en-US" sz="1300" b="0" u="none" strike="noStrike">
              <a:solidFill>
                <a:srgbClr val="000000"/>
              </a:solidFill>
              <a:effectLst/>
              <a:uFillTx/>
              <a:latin typeface="Arial"/>
            </a:endParaRPr>
          </a:p>
        </p:txBody>
      </p:sp>
      <p:sp>
        <p:nvSpPr>
          <p:cNvPr id="483" name="TextBox 18"/>
          <p:cNvSpPr/>
          <p:nvPr/>
        </p:nvSpPr>
        <p:spPr>
          <a:xfrm>
            <a:off x="859680" y="5294520"/>
            <a:ext cx="4205880" cy="45684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50" b="0" u="none" strike="noStrike">
                <a:solidFill>
                  <a:srgbClr val="0D4A85"/>
                </a:solidFill>
                <a:effectLst/>
                <a:uFillTx/>
                <a:latin typeface="Consolas"/>
              </a:rPr>
              <a:t>1,173 Sentinel-2 tiles, 147,409 labelled pixels, India</a:t>
            </a:r>
            <a:endParaRPr lang="en-US" sz="1050" b="0" u="none" strike="noStrike">
              <a:solidFill>
                <a:srgbClr val="000000"/>
              </a:solidFill>
              <a:effectLst/>
              <a:uFillTx/>
              <a:latin typeface="Arial"/>
            </a:endParaRPr>
          </a:p>
        </p:txBody>
      </p:sp>
      <p:sp>
        <p:nvSpPr>
          <p:cNvPr id="484" name="TextBox 19"/>
          <p:cNvSpPr/>
          <p:nvPr/>
        </p:nvSpPr>
        <p:spPr>
          <a:xfrm>
            <a:off x="5394960" y="5038200"/>
            <a:ext cx="6126120" cy="822600"/>
          </a:xfrm>
          <a:prstGeom prst="rect">
            <a:avLst/>
          </a:prstGeom>
          <a:noFill/>
          <a:ln w="0">
            <a:noFill/>
          </a:ln>
        </p:spPr>
        <p:style>
          <a:lnRef idx="0"/>
          <a:fillRef idx="0"/>
          <a:effectRef idx="0"/>
          <a:fontRef idx="minor"/>
        </p:style>
        <p:txBody>
          <a:bodyPr lIns="0" tIns="0" rIns="0" bIns="0" anchor="t">
            <a:spAutoFit/>
          </a:bodyPr>
          <a:p>
            <a:pPr defTabSz="457200">
              <a:lnSpc>
                <a:spcPct val="125000"/>
              </a:lnSpc>
            </a:pPr>
            <a:r>
              <a:rPr lang="en-US" sz="1100" b="0" u="none" strike="noStrike">
                <a:solidFill>
                  <a:srgbClr val="475467"/>
                </a:solidFill>
                <a:effectLst/>
                <a:uFillTx/>
                <a:latin typeface="Segoe UI"/>
              </a:rPr>
              <a:t>Real Indian farmland with walked ground truth. Single-date imagery, which caps what any model can separate.</a:t>
            </a:r>
            <a:endParaRPr lang="en-US" sz="1100" b="0" u="none" strike="noStrike">
              <a:solidFill>
                <a:srgbClr val="000000"/>
              </a:solidFill>
              <a:effectLst/>
              <a:uFillTx/>
              <a:latin typeface="Arial"/>
            </a:endParaRPr>
          </a:p>
        </p:txBody>
      </p:sp>
      <p:sp>
        <p:nvSpPr>
          <p:cNvPr id="485" name="Rectangle 20"/>
          <p:cNvSpPr/>
          <p:nvPr/>
        </p:nvSpPr>
        <p:spPr>
          <a:xfrm>
            <a:off x="658440" y="6172200"/>
            <a:ext cx="10881000" cy="566640"/>
          </a:xfrm>
          <a:prstGeom prst="rect">
            <a:avLst/>
          </a:prstGeom>
          <a:solidFill>
            <a:srgbClr val="FDF3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86" name="Rectangle 21"/>
          <p:cNvSpPr/>
          <p:nvPr/>
        </p:nvSpPr>
        <p:spPr>
          <a:xfrm>
            <a:off x="658440" y="6172200"/>
            <a:ext cx="36360" cy="566640"/>
          </a:xfrm>
          <a:prstGeom prst="rect">
            <a:avLst/>
          </a:prstGeom>
          <a:solidFill>
            <a:srgbClr val="B547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87" name="TextBox 22"/>
          <p:cNvSpPr/>
          <p:nvPr/>
        </p:nvSpPr>
        <p:spPr>
          <a:xfrm>
            <a:off x="859680" y="6291000"/>
            <a:ext cx="10496880" cy="32868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150" b="0" u="none" strike="noStrike">
                <a:solidFill>
                  <a:srgbClr val="475467"/>
                </a:solidFill>
                <a:effectLst/>
                <a:uFillTx/>
                <a:latin typeface="Segoe UI"/>
              </a:rPr>
              <a:t>None of these is this bank's book, and the platform says so on every screen that renders a number from them.</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88" name="TextBox 1"/>
          <p:cNvSpPr/>
          <p:nvPr/>
        </p:nvSpPr>
        <p:spPr>
          <a:xfrm>
            <a:off x="11338560" y="384120"/>
            <a:ext cx="548280" cy="228240"/>
          </a:xfrm>
          <a:prstGeom prst="rect">
            <a:avLst/>
          </a:prstGeom>
          <a:noFill/>
          <a:ln w="0">
            <a:noFill/>
          </a:ln>
        </p:spPr>
        <p:style>
          <a:lnRef idx="0"/>
          <a:fillRef idx="0"/>
          <a:effectRef idx="0"/>
          <a:fontRef idx="minor"/>
        </p:style>
        <p:txBody>
          <a:bodyPr lIns="0" tIns="0" rIns="0" bIns="0" anchor="t">
            <a:spAutoFit/>
          </a:bodyPr>
          <a:p>
            <a:pPr algn="r" defTabSz="457200">
              <a:lnSpc>
                <a:spcPct val="100000"/>
              </a:lnSpc>
            </a:pPr>
            <a:r>
              <a:rPr lang="en-US" sz="900" b="0" u="none" strike="noStrike">
                <a:solidFill>
                  <a:srgbClr val="6B7C93"/>
                </a:solidFill>
                <a:effectLst/>
                <a:uFillTx/>
                <a:latin typeface="Consolas"/>
              </a:rPr>
              <a:t>13</a:t>
            </a:r>
            <a:endParaRPr lang="en-US" sz="900" b="0" u="none" strike="noStrike">
              <a:solidFill>
                <a:srgbClr val="000000"/>
              </a:solidFill>
              <a:effectLst/>
              <a:uFillTx/>
              <a:latin typeface="Arial"/>
            </a:endParaRPr>
          </a:p>
        </p:txBody>
      </p:sp>
      <p:sp>
        <p:nvSpPr>
          <p:cNvPr id="489" name="TextBox 2"/>
          <p:cNvSpPr/>
          <p:nvPr/>
        </p:nvSpPr>
        <p:spPr>
          <a:xfrm>
            <a:off x="658440" y="457200"/>
            <a:ext cx="10058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0" u="none" strike="noStrike">
                <a:solidFill>
                  <a:srgbClr val="2166A3"/>
                </a:solidFill>
                <a:effectLst/>
                <a:uFillTx/>
                <a:latin typeface="Consolas"/>
              </a:rPr>
              <a:t>HOW IT IS BUILT</a:t>
            </a:r>
            <a:endParaRPr lang="en-US" sz="1050" b="0" u="none" strike="noStrike">
              <a:solidFill>
                <a:srgbClr val="000000"/>
              </a:solidFill>
              <a:effectLst/>
              <a:uFillTx/>
              <a:latin typeface="Arial"/>
            </a:endParaRPr>
          </a:p>
        </p:txBody>
      </p:sp>
      <p:sp>
        <p:nvSpPr>
          <p:cNvPr id="490" name="TextBox 3"/>
          <p:cNvSpPr/>
          <p:nvPr/>
        </p:nvSpPr>
        <p:spPr>
          <a:xfrm>
            <a:off x="658440" y="777240"/>
            <a:ext cx="10423800" cy="914040"/>
          </a:xfrm>
          <a:prstGeom prst="rect">
            <a:avLst/>
          </a:prstGeom>
          <a:noFill/>
          <a:ln w="0">
            <a:noFill/>
          </a:ln>
        </p:spPr>
        <p:style>
          <a:lnRef idx="0"/>
          <a:fillRef idx="0"/>
          <a:effectRef idx="0"/>
          <a:fontRef idx="minor"/>
        </p:style>
        <p:txBody>
          <a:bodyPr lIns="0" tIns="0" rIns="0" bIns="0" anchor="t">
            <a:spAutoFit/>
          </a:bodyPr>
          <a:p>
            <a:pPr defTabSz="457200">
              <a:lnSpc>
                <a:spcPct val="95000"/>
              </a:lnSpc>
            </a:pPr>
            <a:r>
              <a:rPr lang="en-US" sz="3200" b="1" u="none" strike="noStrike">
                <a:solidFill>
                  <a:srgbClr val="0A3A68"/>
                </a:solidFill>
                <a:effectLst/>
                <a:uFillTx/>
                <a:latin typeface="Georgia"/>
              </a:rPr>
              <a:t>The engineering underneath</a:t>
            </a:r>
            <a:endParaRPr lang="en-US" sz="3200" b="0" u="none" strike="noStrike">
              <a:solidFill>
                <a:srgbClr val="000000"/>
              </a:solidFill>
              <a:effectLst/>
              <a:uFillTx/>
              <a:latin typeface="Arial"/>
            </a:endParaRPr>
          </a:p>
        </p:txBody>
      </p:sp>
      <p:sp>
        <p:nvSpPr>
          <p:cNvPr id="491" name="Rectangle 4"/>
          <p:cNvSpPr/>
          <p:nvPr/>
        </p:nvSpPr>
        <p:spPr>
          <a:xfrm>
            <a:off x="658440" y="1783080"/>
            <a:ext cx="3382920" cy="40680"/>
          </a:xfrm>
          <a:prstGeom prst="rect">
            <a:avLst/>
          </a:prstGeom>
          <a:solidFill>
            <a:srgbClr val="0D4A8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p>
            <a:endParaRPr lang="en-US" sz="1800" b="0" u="none" strike="noStrike">
              <a:solidFill>
                <a:schemeClr val="lt1"/>
              </a:solidFill>
              <a:effectLst/>
              <a:uFillTx/>
              <a:latin typeface="Calibri"/>
            </a:endParaRPr>
          </a:p>
        </p:txBody>
      </p:sp>
      <p:sp>
        <p:nvSpPr>
          <p:cNvPr id="492" name="TextBox 5"/>
          <p:cNvSpPr/>
          <p:nvPr/>
        </p:nvSpPr>
        <p:spPr>
          <a:xfrm>
            <a:off x="658440" y="1965960"/>
            <a:ext cx="338292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BACKEND</a:t>
            </a:r>
            <a:endParaRPr lang="en-US" sz="1000" b="0" u="none" strike="noStrike">
              <a:solidFill>
                <a:srgbClr val="000000"/>
              </a:solidFill>
              <a:effectLst/>
              <a:uFillTx/>
              <a:latin typeface="Arial"/>
            </a:endParaRPr>
          </a:p>
        </p:txBody>
      </p:sp>
      <p:sp>
        <p:nvSpPr>
          <p:cNvPr id="493" name="TextBox 6"/>
          <p:cNvSpPr/>
          <p:nvPr/>
        </p:nvSpPr>
        <p:spPr>
          <a:xfrm>
            <a:off x="658440" y="2377440"/>
            <a:ext cx="329148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01828"/>
                </a:solidFill>
                <a:effectLst/>
                <a:uFillTx/>
                <a:latin typeface="Segoe UI"/>
              </a:rPr>
              <a:t>21 packages</a:t>
            </a:r>
            <a:endParaRPr lang="en-US" sz="1200" b="0" u="none" strike="noStrike">
              <a:solidFill>
                <a:srgbClr val="000000"/>
              </a:solidFill>
              <a:effectLst/>
              <a:uFillTx/>
              <a:latin typeface="Arial"/>
            </a:endParaRPr>
          </a:p>
        </p:txBody>
      </p:sp>
      <p:sp>
        <p:nvSpPr>
          <p:cNvPr id="494" name="TextBox 7"/>
          <p:cNvSpPr/>
          <p:nvPr/>
        </p:nvSpPr>
        <p:spPr>
          <a:xfrm>
            <a:off x="658440" y="2624400"/>
            <a:ext cx="3291480" cy="41112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~40,700 lines</a:t>
            </a:r>
            <a:endParaRPr lang="en-US" sz="1000" b="0" u="none" strike="noStrike">
              <a:solidFill>
                <a:srgbClr val="000000"/>
              </a:solidFill>
              <a:effectLst/>
              <a:uFillTx/>
              <a:latin typeface="Arial"/>
            </a:endParaRPr>
          </a:p>
        </p:txBody>
      </p:sp>
      <p:sp>
        <p:nvSpPr>
          <p:cNvPr id="495" name="TextBox 8"/>
          <p:cNvSpPr/>
          <p:nvPr/>
        </p:nvSpPr>
        <p:spPr>
          <a:xfrm>
            <a:off x="658440" y="3163680"/>
            <a:ext cx="329148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01828"/>
                </a:solidFill>
                <a:effectLst/>
                <a:uFillTx/>
                <a:latin typeface="Segoe UI"/>
              </a:rPr>
              <a:t>Standard-library Python</a:t>
            </a:r>
            <a:endParaRPr lang="en-US" sz="1200" b="0" u="none" strike="noStrike">
              <a:solidFill>
                <a:srgbClr val="000000"/>
              </a:solidFill>
              <a:effectLst/>
              <a:uFillTx/>
              <a:latin typeface="Arial"/>
            </a:endParaRPr>
          </a:p>
        </p:txBody>
      </p:sp>
      <p:sp>
        <p:nvSpPr>
          <p:cNvPr id="496" name="TextBox 9"/>
          <p:cNvSpPr/>
          <p:nvPr/>
        </p:nvSpPr>
        <p:spPr>
          <a:xfrm>
            <a:off x="658440" y="3410640"/>
            <a:ext cx="3291480" cy="41112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no framework, runs anywhere</a:t>
            </a:r>
            <a:endParaRPr lang="en-US" sz="1000" b="0" u="none" strike="noStrike">
              <a:solidFill>
                <a:srgbClr val="000000"/>
              </a:solidFill>
              <a:effectLst/>
              <a:uFillTx/>
              <a:latin typeface="Arial"/>
            </a:endParaRPr>
          </a:p>
        </p:txBody>
      </p:sp>
      <p:sp>
        <p:nvSpPr>
          <p:cNvPr id="497" name="TextBox 10"/>
          <p:cNvSpPr/>
          <p:nvPr/>
        </p:nvSpPr>
        <p:spPr>
          <a:xfrm>
            <a:off x="658440" y="3950280"/>
            <a:ext cx="329148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01828"/>
                </a:solidFill>
                <a:effectLst/>
                <a:uFillTx/>
                <a:latin typeface="Segoe UI"/>
              </a:rPr>
              <a:t>2,331 tests</a:t>
            </a:r>
            <a:endParaRPr lang="en-US" sz="1200" b="0" u="none" strike="noStrike">
              <a:solidFill>
                <a:srgbClr val="000000"/>
              </a:solidFill>
              <a:effectLst/>
              <a:uFillTx/>
              <a:latin typeface="Arial"/>
            </a:endParaRPr>
          </a:p>
        </p:txBody>
      </p:sp>
      <p:sp>
        <p:nvSpPr>
          <p:cNvPr id="498" name="TextBox 11"/>
          <p:cNvSpPr/>
          <p:nvPr/>
        </p:nvSpPr>
        <p:spPr>
          <a:xfrm>
            <a:off x="658440" y="4197240"/>
            <a:ext cx="3291480" cy="41112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green on every commit</a:t>
            </a:r>
            <a:endParaRPr lang="en-US" sz="1000" b="0" u="none" strike="noStrike">
              <a:solidFill>
                <a:srgbClr val="000000"/>
              </a:solidFill>
              <a:effectLst/>
              <a:uFillTx/>
              <a:latin typeface="Arial"/>
            </a:endParaRPr>
          </a:p>
        </p:txBody>
      </p:sp>
      <p:sp>
        <p:nvSpPr>
          <p:cNvPr id="499" name="TextBox 12"/>
          <p:cNvSpPr/>
          <p:nvPr/>
        </p:nvSpPr>
        <p:spPr>
          <a:xfrm>
            <a:off x="658440" y="4736520"/>
            <a:ext cx="329148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01828"/>
                </a:solidFill>
                <a:effectLst/>
                <a:uFillTx/>
                <a:latin typeface="Segoe UI"/>
              </a:rPr>
              <a:t>Every algorithm a port</a:t>
            </a:r>
            <a:endParaRPr lang="en-US" sz="1200" b="0" u="none" strike="noStrike">
              <a:solidFill>
                <a:srgbClr val="000000"/>
              </a:solidFill>
              <a:effectLst/>
              <a:uFillTx/>
              <a:latin typeface="Arial"/>
            </a:endParaRPr>
          </a:p>
        </p:txBody>
      </p:sp>
      <p:sp>
        <p:nvSpPr>
          <p:cNvPr id="500" name="TextBox 13"/>
          <p:cNvSpPr/>
          <p:nvPr/>
        </p:nvSpPr>
        <p:spPr>
          <a:xfrm>
            <a:off x="658440" y="4983480"/>
            <a:ext cx="3291480" cy="41112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names the library it replaces</a:t>
            </a:r>
            <a:endParaRPr lang="en-US" sz="1000" b="0" u="none" strike="noStrike">
              <a:solidFill>
                <a:srgbClr val="000000"/>
              </a:solidFill>
              <a:effectLst/>
              <a:uFillTx/>
              <a:latin typeface="Arial"/>
            </a:endParaRPr>
          </a:p>
        </p:txBody>
      </p:sp>
      <p:sp>
        <p:nvSpPr>
          <p:cNvPr id="501" name="Rectangle 14"/>
          <p:cNvSpPr/>
          <p:nvPr/>
        </p:nvSpPr>
        <p:spPr>
          <a:xfrm>
            <a:off x="4370760" y="1783080"/>
            <a:ext cx="3382920" cy="40680"/>
          </a:xfrm>
          <a:prstGeom prst="rect">
            <a:avLst/>
          </a:prstGeom>
          <a:solidFill>
            <a:srgbClr val="2166A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p>
            <a:endParaRPr lang="en-US" sz="1800" b="0" u="none" strike="noStrike">
              <a:solidFill>
                <a:schemeClr val="lt1"/>
              </a:solidFill>
              <a:effectLst/>
              <a:uFillTx/>
              <a:latin typeface="Calibri"/>
            </a:endParaRPr>
          </a:p>
        </p:txBody>
      </p:sp>
      <p:sp>
        <p:nvSpPr>
          <p:cNvPr id="502" name="TextBox 15"/>
          <p:cNvSpPr/>
          <p:nvPr/>
        </p:nvSpPr>
        <p:spPr>
          <a:xfrm>
            <a:off x="4370760" y="1965960"/>
            <a:ext cx="338292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2166A3"/>
                </a:solidFill>
                <a:effectLst/>
                <a:uFillTx/>
                <a:latin typeface="Consolas"/>
              </a:rPr>
              <a:t>INTERFACES</a:t>
            </a:r>
            <a:endParaRPr lang="en-US" sz="1000" b="0" u="none" strike="noStrike">
              <a:solidFill>
                <a:srgbClr val="000000"/>
              </a:solidFill>
              <a:effectLst/>
              <a:uFillTx/>
              <a:latin typeface="Arial"/>
            </a:endParaRPr>
          </a:p>
        </p:txBody>
      </p:sp>
      <p:sp>
        <p:nvSpPr>
          <p:cNvPr id="503" name="TextBox 16"/>
          <p:cNvSpPr/>
          <p:nvPr/>
        </p:nvSpPr>
        <p:spPr>
          <a:xfrm>
            <a:off x="4370760" y="2377440"/>
            <a:ext cx="329148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01828"/>
                </a:solidFill>
                <a:effectLst/>
                <a:uFillTx/>
                <a:latin typeface="Segoe UI"/>
              </a:rPr>
              <a:t>Next.js + TypeScript</a:t>
            </a:r>
            <a:endParaRPr lang="en-US" sz="1200" b="0" u="none" strike="noStrike">
              <a:solidFill>
                <a:srgbClr val="000000"/>
              </a:solidFill>
              <a:effectLst/>
              <a:uFillTx/>
              <a:latin typeface="Arial"/>
            </a:endParaRPr>
          </a:p>
        </p:txBody>
      </p:sp>
      <p:sp>
        <p:nvSpPr>
          <p:cNvPr id="504" name="TextBox 17"/>
          <p:cNvSpPr/>
          <p:nvPr/>
        </p:nvSpPr>
        <p:spPr>
          <a:xfrm>
            <a:off x="4370760" y="2624400"/>
            <a:ext cx="3291480" cy="41112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46 files, ~6,700 lines</a:t>
            </a:r>
            <a:endParaRPr lang="en-US" sz="1000" b="0" u="none" strike="noStrike">
              <a:solidFill>
                <a:srgbClr val="000000"/>
              </a:solidFill>
              <a:effectLst/>
              <a:uFillTx/>
              <a:latin typeface="Arial"/>
            </a:endParaRPr>
          </a:p>
        </p:txBody>
      </p:sp>
      <p:sp>
        <p:nvSpPr>
          <p:cNvPr id="505" name="TextBox 18"/>
          <p:cNvSpPr/>
          <p:nvPr/>
        </p:nvSpPr>
        <p:spPr>
          <a:xfrm>
            <a:off x="4370760" y="3163680"/>
            <a:ext cx="329148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01828"/>
                </a:solidFill>
                <a:effectLst/>
                <a:uFillTx/>
                <a:latin typeface="Segoe UI"/>
              </a:rPr>
              <a:t>Nine screens</a:t>
            </a:r>
            <a:endParaRPr lang="en-US" sz="1200" b="0" u="none" strike="noStrike">
              <a:solidFill>
                <a:srgbClr val="000000"/>
              </a:solidFill>
              <a:effectLst/>
              <a:uFillTx/>
              <a:latin typeface="Arial"/>
            </a:endParaRPr>
          </a:p>
        </p:txBody>
      </p:sp>
      <p:sp>
        <p:nvSpPr>
          <p:cNvPr id="506" name="TextBox 19"/>
          <p:cNvSpPr/>
          <p:nvPr/>
        </p:nvSpPr>
        <p:spPr>
          <a:xfrm>
            <a:off x="4370760" y="3410640"/>
            <a:ext cx="3291480" cy="41112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officer, collections, risk, customer</a:t>
            </a:r>
            <a:endParaRPr lang="en-US" sz="1000" b="0" u="none" strike="noStrike">
              <a:solidFill>
                <a:srgbClr val="000000"/>
              </a:solidFill>
              <a:effectLst/>
              <a:uFillTx/>
              <a:latin typeface="Arial"/>
            </a:endParaRPr>
          </a:p>
        </p:txBody>
      </p:sp>
      <p:sp>
        <p:nvSpPr>
          <p:cNvPr id="507" name="TextBox 20"/>
          <p:cNvSpPr/>
          <p:nvPr/>
        </p:nvSpPr>
        <p:spPr>
          <a:xfrm>
            <a:off x="4370760" y="3950280"/>
            <a:ext cx="329148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01828"/>
                </a:solidFill>
                <a:effectLst/>
                <a:uFillTx/>
                <a:latin typeface="Segoe UI"/>
              </a:rPr>
              <a:t>One API gateway</a:t>
            </a:r>
            <a:endParaRPr lang="en-US" sz="1200" b="0" u="none" strike="noStrike">
              <a:solidFill>
                <a:srgbClr val="000000"/>
              </a:solidFill>
              <a:effectLst/>
              <a:uFillTx/>
              <a:latin typeface="Arial"/>
            </a:endParaRPr>
          </a:p>
        </p:txBody>
      </p:sp>
      <p:sp>
        <p:nvSpPr>
          <p:cNvPr id="508" name="TextBox 21"/>
          <p:cNvSpPr/>
          <p:nvPr/>
        </p:nvSpPr>
        <p:spPr>
          <a:xfrm>
            <a:off x="4370760" y="4197240"/>
            <a:ext cx="3291480" cy="41112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never a model service directly</a:t>
            </a:r>
            <a:endParaRPr lang="en-US" sz="1000" b="0" u="none" strike="noStrike">
              <a:solidFill>
                <a:srgbClr val="000000"/>
              </a:solidFill>
              <a:effectLst/>
              <a:uFillTx/>
              <a:latin typeface="Arial"/>
            </a:endParaRPr>
          </a:p>
        </p:txBody>
      </p:sp>
      <p:sp>
        <p:nvSpPr>
          <p:cNvPr id="509" name="TextBox 22"/>
          <p:cNvSpPr/>
          <p:nvPr/>
        </p:nvSpPr>
        <p:spPr>
          <a:xfrm>
            <a:off x="4370760" y="4736520"/>
            <a:ext cx="329148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01828"/>
                </a:solidFill>
                <a:effectLst/>
                <a:uFillTx/>
                <a:latin typeface="Segoe UI"/>
              </a:rPr>
              <a:t>Build gate on arithmetic</a:t>
            </a:r>
            <a:endParaRPr lang="en-US" sz="1200" b="0" u="none" strike="noStrike">
              <a:solidFill>
                <a:srgbClr val="000000"/>
              </a:solidFill>
              <a:effectLst/>
              <a:uFillTx/>
              <a:latin typeface="Arial"/>
            </a:endParaRPr>
          </a:p>
        </p:txBody>
      </p:sp>
      <p:sp>
        <p:nvSpPr>
          <p:cNvPr id="510" name="TextBox 23"/>
          <p:cNvSpPr/>
          <p:nvPr/>
        </p:nvSpPr>
        <p:spPr>
          <a:xfrm>
            <a:off x="4370760" y="4983480"/>
            <a:ext cx="3291480" cy="41112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the UI cannot compute a rupee</a:t>
            </a:r>
            <a:endParaRPr lang="en-US" sz="1000" b="0" u="none" strike="noStrike">
              <a:solidFill>
                <a:srgbClr val="000000"/>
              </a:solidFill>
              <a:effectLst/>
              <a:uFillTx/>
              <a:latin typeface="Arial"/>
            </a:endParaRPr>
          </a:p>
        </p:txBody>
      </p:sp>
      <p:sp>
        <p:nvSpPr>
          <p:cNvPr id="511" name="Rectangle 24"/>
          <p:cNvSpPr/>
          <p:nvPr/>
        </p:nvSpPr>
        <p:spPr>
          <a:xfrm>
            <a:off x="8083440" y="1783080"/>
            <a:ext cx="3382920" cy="4068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p>
            <a:endParaRPr lang="en-US" sz="1800" b="0" u="none" strike="noStrike">
              <a:solidFill>
                <a:schemeClr val="lt1"/>
              </a:solidFill>
              <a:effectLst/>
              <a:uFillTx/>
              <a:latin typeface="Calibri"/>
            </a:endParaRPr>
          </a:p>
        </p:txBody>
      </p:sp>
      <p:sp>
        <p:nvSpPr>
          <p:cNvPr id="512" name="TextBox 25"/>
          <p:cNvSpPr/>
          <p:nvPr/>
        </p:nvSpPr>
        <p:spPr>
          <a:xfrm>
            <a:off x="8083440" y="1965960"/>
            <a:ext cx="338292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67647"/>
                </a:solidFill>
                <a:effectLst/>
                <a:uFillTx/>
                <a:latin typeface="Consolas"/>
              </a:rPr>
              <a:t>MACHINE LEARNING</a:t>
            </a:r>
            <a:endParaRPr lang="en-US" sz="1000" b="0" u="none" strike="noStrike">
              <a:solidFill>
                <a:srgbClr val="000000"/>
              </a:solidFill>
              <a:effectLst/>
              <a:uFillTx/>
              <a:latin typeface="Arial"/>
            </a:endParaRPr>
          </a:p>
        </p:txBody>
      </p:sp>
      <p:sp>
        <p:nvSpPr>
          <p:cNvPr id="513" name="TextBox 26"/>
          <p:cNvSpPr/>
          <p:nvPr/>
        </p:nvSpPr>
        <p:spPr>
          <a:xfrm>
            <a:off x="8083440" y="2377440"/>
            <a:ext cx="329148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01828"/>
                </a:solidFill>
                <a:effectLst/>
                <a:uFillTx/>
                <a:latin typeface="Segoe UI"/>
              </a:rPr>
              <a:t>19 models, 4 families</a:t>
            </a:r>
            <a:endParaRPr lang="en-US" sz="1200" b="0" u="none" strike="noStrike">
              <a:solidFill>
                <a:srgbClr val="000000"/>
              </a:solidFill>
              <a:effectLst/>
              <a:uFillTx/>
              <a:latin typeface="Arial"/>
            </a:endParaRPr>
          </a:p>
        </p:txBody>
      </p:sp>
      <p:sp>
        <p:nvSpPr>
          <p:cNvPr id="514" name="TextBox 27"/>
          <p:cNvSpPr/>
          <p:nvPr/>
        </p:nvSpPr>
        <p:spPr>
          <a:xfrm>
            <a:off x="8083440" y="2624400"/>
            <a:ext cx="3291480" cy="41112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LightGBM, XGBoost, CatBoost, forests</a:t>
            </a:r>
            <a:endParaRPr lang="en-US" sz="1000" b="0" u="none" strike="noStrike">
              <a:solidFill>
                <a:srgbClr val="000000"/>
              </a:solidFill>
              <a:effectLst/>
              <a:uFillTx/>
              <a:latin typeface="Arial"/>
            </a:endParaRPr>
          </a:p>
        </p:txBody>
      </p:sp>
      <p:sp>
        <p:nvSpPr>
          <p:cNvPr id="515" name="TextBox 28"/>
          <p:cNvSpPr/>
          <p:nvPr/>
        </p:nvSpPr>
        <p:spPr>
          <a:xfrm>
            <a:off x="8083440" y="3163680"/>
            <a:ext cx="329148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01828"/>
                </a:solidFill>
                <a:effectLst/>
                <a:uFillTx/>
                <a:latin typeface="Segoe UI"/>
              </a:rPr>
              <a:t>Out-of-fold stacking</a:t>
            </a:r>
            <a:endParaRPr lang="en-US" sz="1200" b="0" u="none" strike="noStrike">
              <a:solidFill>
                <a:srgbClr val="000000"/>
              </a:solidFill>
              <a:effectLst/>
              <a:uFillTx/>
              <a:latin typeface="Arial"/>
            </a:endParaRPr>
          </a:p>
        </p:txBody>
      </p:sp>
      <p:sp>
        <p:nvSpPr>
          <p:cNvPr id="516" name="TextBox 29"/>
          <p:cNvSpPr/>
          <p:nvPr/>
        </p:nvSpPr>
        <p:spPr>
          <a:xfrm>
            <a:off x="8083440" y="3410640"/>
            <a:ext cx="3291480" cy="41112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blends fitted on unseen rows</a:t>
            </a:r>
            <a:endParaRPr lang="en-US" sz="1000" b="0" u="none" strike="noStrike">
              <a:solidFill>
                <a:srgbClr val="000000"/>
              </a:solidFill>
              <a:effectLst/>
              <a:uFillTx/>
              <a:latin typeface="Arial"/>
            </a:endParaRPr>
          </a:p>
        </p:txBody>
      </p:sp>
      <p:sp>
        <p:nvSpPr>
          <p:cNvPr id="517" name="TextBox 30"/>
          <p:cNvSpPr/>
          <p:nvPr/>
        </p:nvSpPr>
        <p:spPr>
          <a:xfrm>
            <a:off x="8083440" y="3950280"/>
            <a:ext cx="329148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01828"/>
                </a:solidFill>
                <a:effectLst/>
                <a:uFillTx/>
                <a:latin typeface="Segoe UI"/>
              </a:rPr>
              <a:t>Time-based splits</a:t>
            </a:r>
            <a:endParaRPr lang="en-US" sz="1200" b="0" u="none" strike="noStrike">
              <a:solidFill>
                <a:srgbClr val="000000"/>
              </a:solidFill>
              <a:effectLst/>
              <a:uFillTx/>
              <a:latin typeface="Arial"/>
            </a:endParaRPr>
          </a:p>
        </p:txBody>
      </p:sp>
      <p:sp>
        <p:nvSpPr>
          <p:cNvPr id="518" name="TextBox 31"/>
          <p:cNvSpPr/>
          <p:nvPr/>
        </p:nvSpPr>
        <p:spPr>
          <a:xfrm>
            <a:off x="8083440" y="4197240"/>
            <a:ext cx="3291480" cy="41112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never random on a panel</a:t>
            </a:r>
            <a:endParaRPr lang="en-US" sz="1000" b="0" u="none" strike="noStrike">
              <a:solidFill>
                <a:srgbClr val="000000"/>
              </a:solidFill>
              <a:effectLst/>
              <a:uFillTx/>
              <a:latin typeface="Arial"/>
            </a:endParaRPr>
          </a:p>
        </p:txBody>
      </p:sp>
      <p:sp>
        <p:nvSpPr>
          <p:cNvPr id="519" name="TextBox 32"/>
          <p:cNvSpPr/>
          <p:nvPr/>
        </p:nvSpPr>
        <p:spPr>
          <a:xfrm>
            <a:off x="8083440" y="4736520"/>
            <a:ext cx="3291480" cy="237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01828"/>
                </a:solidFill>
                <a:effectLst/>
                <a:uFillTx/>
                <a:latin typeface="Segoe UI"/>
              </a:rPr>
              <a:t>A live training monitor</a:t>
            </a:r>
            <a:endParaRPr lang="en-US" sz="1200" b="0" u="none" strike="noStrike">
              <a:solidFill>
                <a:srgbClr val="000000"/>
              </a:solidFill>
              <a:effectLst/>
              <a:uFillTx/>
              <a:latin typeface="Arial"/>
            </a:endParaRPr>
          </a:p>
        </p:txBody>
      </p:sp>
      <p:sp>
        <p:nvSpPr>
          <p:cNvPr id="520" name="TextBox 33"/>
          <p:cNvSpPr/>
          <p:nvPr/>
        </p:nvSpPr>
        <p:spPr>
          <a:xfrm>
            <a:off x="8083440" y="4983480"/>
            <a:ext cx="3291480" cy="41112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watch every fit as it runs</a:t>
            </a:r>
            <a:endParaRPr lang="en-US" sz="1000" b="0" u="none" strike="noStrike">
              <a:solidFill>
                <a:srgbClr val="000000"/>
              </a:solidFill>
              <a:effectLst/>
              <a:uFillTx/>
              <a:latin typeface="Arial"/>
            </a:endParaRPr>
          </a:p>
        </p:txBody>
      </p:sp>
      <p:sp>
        <p:nvSpPr>
          <p:cNvPr id="521" name="Rectangle 34"/>
          <p:cNvSpPr/>
          <p:nvPr/>
        </p:nvSpPr>
        <p:spPr>
          <a:xfrm>
            <a:off x="658440" y="5715000"/>
            <a:ext cx="10881000" cy="658080"/>
          </a:xfrm>
          <a:prstGeom prst="rect">
            <a:avLst/>
          </a:prstGeom>
          <a:solidFill>
            <a:srgbClr val="EEF4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22" name="Rectangle 35"/>
          <p:cNvSpPr/>
          <p:nvPr/>
        </p:nvSpPr>
        <p:spPr>
          <a:xfrm>
            <a:off x="658440" y="5715000"/>
            <a:ext cx="36360" cy="658080"/>
          </a:xfrm>
          <a:prstGeom prst="rect">
            <a:avLst/>
          </a:prstGeom>
          <a:solidFill>
            <a:srgbClr val="2166A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23" name="TextBox 36"/>
          <p:cNvSpPr/>
          <p:nvPr/>
        </p:nvSpPr>
        <p:spPr>
          <a:xfrm>
            <a:off x="859680" y="5833800"/>
            <a:ext cx="10496880" cy="42012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150" b="0" u="none" strike="noStrike">
                <a:solidFill>
                  <a:srgbClr val="475467"/>
                </a:solidFill>
                <a:effectLst/>
                <a:uFillTx/>
                <a:latin typeface="Segoe UI"/>
              </a:rPr>
              <a:t>The backend uses no machine-learning library at all: every model is written from the paper so a reviewer can read it. The training harnesses that use LightGBM and XGBoost live outside that boundary and import nothing from it — which is exactly the swap the architecture was designed for.</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24" name="TextBox 1"/>
          <p:cNvSpPr/>
          <p:nvPr/>
        </p:nvSpPr>
        <p:spPr>
          <a:xfrm>
            <a:off x="11338560" y="384120"/>
            <a:ext cx="548280" cy="228240"/>
          </a:xfrm>
          <a:prstGeom prst="rect">
            <a:avLst/>
          </a:prstGeom>
          <a:noFill/>
          <a:ln w="0">
            <a:noFill/>
          </a:ln>
        </p:spPr>
        <p:style>
          <a:lnRef idx="0"/>
          <a:fillRef idx="0"/>
          <a:effectRef idx="0"/>
          <a:fontRef idx="minor"/>
        </p:style>
        <p:txBody>
          <a:bodyPr lIns="0" tIns="0" rIns="0" bIns="0" anchor="t">
            <a:spAutoFit/>
          </a:bodyPr>
          <a:p>
            <a:pPr algn="r" defTabSz="457200">
              <a:lnSpc>
                <a:spcPct val="100000"/>
              </a:lnSpc>
            </a:pPr>
            <a:r>
              <a:rPr lang="en-US" sz="900" b="0" u="none" strike="noStrike">
                <a:solidFill>
                  <a:srgbClr val="6B7C93"/>
                </a:solidFill>
                <a:effectLst/>
                <a:uFillTx/>
                <a:latin typeface="Consolas"/>
              </a:rPr>
              <a:t>14</a:t>
            </a:r>
            <a:endParaRPr lang="en-US" sz="900" b="0" u="none" strike="noStrike">
              <a:solidFill>
                <a:srgbClr val="000000"/>
              </a:solidFill>
              <a:effectLst/>
              <a:uFillTx/>
              <a:latin typeface="Arial"/>
            </a:endParaRPr>
          </a:p>
        </p:txBody>
      </p:sp>
      <p:sp>
        <p:nvSpPr>
          <p:cNvPr id="525" name="TextBox 2"/>
          <p:cNvSpPr/>
          <p:nvPr/>
        </p:nvSpPr>
        <p:spPr>
          <a:xfrm>
            <a:off x="658440" y="457200"/>
            <a:ext cx="10058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0" u="none" strike="noStrike">
                <a:solidFill>
                  <a:srgbClr val="2166A3"/>
                </a:solidFill>
                <a:effectLst/>
                <a:uFillTx/>
                <a:latin typeface="Consolas"/>
              </a:rPr>
              <a:t>EARLY WARNING  ·  THE QUESTION THAT MATTERS</a:t>
            </a:r>
            <a:endParaRPr lang="en-US" sz="1050" b="0" u="none" strike="noStrike">
              <a:solidFill>
                <a:srgbClr val="000000"/>
              </a:solidFill>
              <a:effectLst/>
              <a:uFillTx/>
              <a:latin typeface="Arial"/>
            </a:endParaRPr>
          </a:p>
        </p:txBody>
      </p:sp>
      <p:sp>
        <p:nvSpPr>
          <p:cNvPr id="526" name="TextBox 3"/>
          <p:cNvSpPr/>
          <p:nvPr/>
        </p:nvSpPr>
        <p:spPr>
          <a:xfrm>
            <a:off x="658440" y="777240"/>
            <a:ext cx="10423800" cy="914040"/>
          </a:xfrm>
          <a:prstGeom prst="rect">
            <a:avLst/>
          </a:prstGeom>
          <a:noFill/>
          <a:ln w="0">
            <a:noFill/>
          </a:ln>
        </p:spPr>
        <p:style>
          <a:lnRef idx="0"/>
          <a:fillRef idx="0"/>
          <a:effectRef idx="0"/>
          <a:fontRef idx="minor"/>
        </p:style>
        <p:txBody>
          <a:bodyPr lIns="0" tIns="0" rIns="0" bIns="0" anchor="t">
            <a:spAutoFit/>
          </a:bodyPr>
          <a:p>
            <a:pPr defTabSz="457200">
              <a:lnSpc>
                <a:spcPct val="95000"/>
              </a:lnSpc>
            </a:pPr>
            <a:r>
              <a:rPr lang="en-US" sz="2900" b="1" u="none" strike="noStrike">
                <a:solidFill>
                  <a:srgbClr val="0A3A68"/>
                </a:solidFill>
                <a:effectLst/>
                <a:uFillTx/>
                <a:latin typeface="Georgia"/>
              </a:rPr>
              <a:t>Does deterioration precede default, and by how long?</a:t>
            </a:r>
            <a:endParaRPr lang="en-US" sz="2900" b="0" u="none" strike="noStrike">
              <a:solidFill>
                <a:srgbClr val="000000"/>
              </a:solidFill>
              <a:effectLst/>
              <a:uFillTx/>
              <a:latin typeface="Arial"/>
            </a:endParaRPr>
          </a:p>
        </p:txBody>
      </p:sp>
      <p:sp>
        <p:nvSpPr>
          <p:cNvPr id="527" name="TextBox 4"/>
          <p:cNvSpPr/>
          <p:nvPr/>
        </p:nvSpPr>
        <p:spPr>
          <a:xfrm>
            <a:off x="658440" y="1965960"/>
            <a:ext cx="5668920" cy="2377080"/>
          </a:xfrm>
          <a:prstGeom prst="rect">
            <a:avLst/>
          </a:prstGeom>
          <a:noFill/>
          <a:ln w="0">
            <a:noFill/>
          </a:ln>
        </p:spPr>
        <p:style>
          <a:lnRef idx="0"/>
          <a:fillRef idx="0"/>
          <a:effectRef idx="0"/>
          <a:fontRef idx="minor"/>
        </p:style>
        <p:txBody>
          <a:bodyPr lIns="0" tIns="0" rIns="0" bIns="0" anchor="t">
            <a:spAutoFit/>
          </a:bodyPr>
          <a:p>
            <a:pPr defTabSz="457200">
              <a:lnSpc>
                <a:spcPct val="128000"/>
              </a:lnSpc>
              <a:spcAft>
                <a:spcPts val="1100"/>
              </a:spcAft>
            </a:pPr>
            <a:r>
              <a:rPr lang="en-US" sz="1200" b="0" u="none" strike="noStrike">
                <a:solidFill>
                  <a:srgbClr val="475467"/>
                </a:solidFill>
                <a:effectLst/>
                <a:uFillTx/>
                <a:latin typeface="Segoe UI"/>
              </a:rPr>
              <a:t>The whole idea rests on one assumption: a borrower in trouble shows signs before missing a payment. We tested it on 338,210 real months of loan history, and only counted the 101 defaults the system could realistically have caught in time.</a:t>
            </a:r>
            <a:endParaRPr lang="en-US" sz="1200" b="0" u="none" strike="noStrike">
              <a:solidFill>
                <a:srgbClr val="000000"/>
              </a:solidFill>
              <a:effectLst/>
              <a:uFillTx/>
              <a:latin typeface="Arial"/>
            </a:endParaRPr>
          </a:p>
          <a:p>
            <a:pPr defTabSz="457200">
              <a:lnSpc>
                <a:spcPct val="128000"/>
              </a:lnSpc>
            </a:pPr>
            <a:r>
              <a:rPr lang="en-US" sz="1200" b="0" u="none" strike="noStrike">
                <a:solidFill>
                  <a:srgbClr val="475467"/>
                </a:solidFill>
                <a:effectLst/>
                <a:uFillTx/>
                <a:latin typeface="Segoe UI"/>
              </a:rPr>
              <a:t>Set the alert bar at the usual level and it catches 86% of them, a typical full year before the default. Make it much stricter and it only catches 56%. Where to set that bar is a business call, not ours.</a:t>
            </a:r>
            <a:endParaRPr lang="en-US" sz="1200" b="0" u="none" strike="noStrike">
              <a:solidFill>
                <a:srgbClr val="000000"/>
              </a:solidFill>
              <a:effectLst/>
              <a:uFillTx/>
              <a:latin typeface="Arial"/>
            </a:endParaRPr>
          </a:p>
        </p:txBody>
      </p:sp>
      <p:sp>
        <p:nvSpPr>
          <p:cNvPr id="528" name="Rectangle 5"/>
          <p:cNvSpPr/>
          <p:nvPr/>
        </p:nvSpPr>
        <p:spPr>
          <a:xfrm>
            <a:off x="658440" y="4572000"/>
            <a:ext cx="5668920" cy="1508400"/>
          </a:xfrm>
          <a:prstGeom prst="rect">
            <a:avLst/>
          </a:prstGeom>
          <a:solidFill>
            <a:srgbClr val="E8F5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29" name="Rectangle 6"/>
          <p:cNvSpPr/>
          <p:nvPr/>
        </p:nvSpPr>
        <p:spPr>
          <a:xfrm>
            <a:off x="658440" y="4572000"/>
            <a:ext cx="36360" cy="150840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30" name="TextBox 7"/>
          <p:cNvSpPr/>
          <p:nvPr/>
        </p:nvSpPr>
        <p:spPr>
          <a:xfrm>
            <a:off x="859680" y="4690800"/>
            <a:ext cx="5284800" cy="127080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150" b="0" u="none" strike="noStrike">
                <a:solidFill>
                  <a:srgbClr val="475467"/>
                </a:solidFill>
                <a:effectLst/>
                <a:uFillTx/>
                <a:latin typeface="Segoe UI"/>
              </a:rPr>
              <a:t>We corrected our own mistake here. The first run said 11%. It turned out 726 of 827 defaults happened before the system had any data to look at — we were measuring the calendar, not the model. A later, stronger detector on the full panel now catches 61% of defaults a typical 8 months early.</a:t>
            </a:r>
            <a:endParaRPr lang="en-US" sz="1150" b="0" u="none" strike="noStrike">
              <a:solidFill>
                <a:srgbClr val="000000"/>
              </a:solidFill>
              <a:effectLst/>
              <a:uFillTx/>
              <a:latin typeface="Arial"/>
            </a:endParaRPr>
          </a:p>
        </p:txBody>
      </p:sp>
      <p:sp>
        <p:nvSpPr>
          <p:cNvPr id="531" name="TextBox 8"/>
          <p:cNvSpPr/>
          <p:nvPr/>
        </p:nvSpPr>
        <p:spPr>
          <a:xfrm>
            <a:off x="6766560" y="1737360"/>
            <a:ext cx="4754520" cy="228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00" b="0" u="none" strike="noStrike">
                <a:solidFill>
                  <a:srgbClr val="6B7C93"/>
                </a:solidFill>
                <a:effectLst/>
                <a:uFillTx/>
                <a:latin typeface="Consolas"/>
              </a:rPr>
              <a:t>CAPTURE RATE BY ALERT THRESHOLD</a:t>
            </a:r>
            <a:endParaRPr lang="en-US" sz="900" b="0" u="none" strike="noStrike">
              <a:solidFill>
                <a:srgbClr val="000000"/>
              </a:solidFill>
              <a:effectLst/>
              <a:uFillTx/>
              <a:latin typeface="Arial"/>
            </a:endParaRPr>
          </a:p>
        </p:txBody>
      </p:sp>
      <p:sp>
        <p:nvSpPr>
          <p:cNvPr id="532" name="Rectangle 9"/>
          <p:cNvSpPr/>
          <p:nvPr/>
        </p:nvSpPr>
        <p:spPr>
          <a:xfrm>
            <a:off x="7150680" y="2309760"/>
            <a:ext cx="749520" cy="2581920"/>
          </a:xfrm>
          <a:prstGeom prst="rect">
            <a:avLst/>
          </a:prstGeom>
          <a:solidFill>
            <a:srgbClr val="0D4A8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33" name="TextBox 10"/>
          <p:cNvSpPr/>
          <p:nvPr/>
        </p:nvSpPr>
        <p:spPr>
          <a:xfrm>
            <a:off x="7013520" y="2035440"/>
            <a:ext cx="1023840" cy="23724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100" b="1" u="none" strike="noStrike">
                <a:solidFill>
                  <a:srgbClr val="0A3A68"/>
                </a:solidFill>
                <a:effectLst/>
                <a:uFillTx/>
                <a:latin typeface="Consolas"/>
              </a:rPr>
              <a:t>91.1%</a:t>
            </a:r>
            <a:endParaRPr lang="en-US" sz="1100" b="0" u="none" strike="noStrike">
              <a:solidFill>
                <a:srgbClr val="000000"/>
              </a:solidFill>
              <a:effectLst/>
              <a:uFillTx/>
              <a:latin typeface="Arial"/>
            </a:endParaRPr>
          </a:p>
        </p:txBody>
      </p:sp>
      <p:sp>
        <p:nvSpPr>
          <p:cNvPr id="534" name="TextBox 11"/>
          <p:cNvSpPr/>
          <p:nvPr/>
        </p:nvSpPr>
        <p:spPr>
          <a:xfrm>
            <a:off x="7013520" y="4946760"/>
            <a:ext cx="1023840" cy="21924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00" b="0" u="none" strike="noStrike">
                <a:solidFill>
                  <a:srgbClr val="475467"/>
                </a:solidFill>
                <a:effectLst/>
                <a:uFillTx/>
                <a:latin typeface="Consolas"/>
              </a:rPr>
              <a:t>p90</a:t>
            </a:r>
            <a:endParaRPr lang="en-US" sz="1000" b="0" u="none" strike="noStrike">
              <a:solidFill>
                <a:srgbClr val="000000"/>
              </a:solidFill>
              <a:effectLst/>
              <a:uFillTx/>
              <a:latin typeface="Arial"/>
            </a:endParaRPr>
          </a:p>
        </p:txBody>
      </p:sp>
      <p:sp>
        <p:nvSpPr>
          <p:cNvPr id="535" name="TextBox 12"/>
          <p:cNvSpPr/>
          <p:nvPr/>
        </p:nvSpPr>
        <p:spPr>
          <a:xfrm>
            <a:off x="7013520" y="5166360"/>
            <a:ext cx="1023840" cy="21924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900" b="0" u="none" strike="noStrike">
                <a:solidFill>
                  <a:srgbClr val="6B7C93"/>
                </a:solidFill>
                <a:effectLst/>
                <a:uFillTx/>
                <a:latin typeface="Consolas"/>
              </a:rPr>
              <a:t>562d</a:t>
            </a:r>
            <a:endParaRPr lang="en-US" sz="900" b="0" u="none" strike="noStrike">
              <a:solidFill>
                <a:srgbClr val="000000"/>
              </a:solidFill>
              <a:effectLst/>
              <a:uFillTx/>
              <a:latin typeface="Arial"/>
            </a:endParaRPr>
          </a:p>
        </p:txBody>
      </p:sp>
      <p:sp>
        <p:nvSpPr>
          <p:cNvPr id="536" name="Rectangle 13"/>
          <p:cNvSpPr/>
          <p:nvPr/>
        </p:nvSpPr>
        <p:spPr>
          <a:xfrm>
            <a:off x="8266320" y="2451240"/>
            <a:ext cx="749520" cy="2440440"/>
          </a:xfrm>
          <a:prstGeom prst="rect">
            <a:avLst/>
          </a:prstGeom>
          <a:solidFill>
            <a:srgbClr val="2166A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37" name="TextBox 14"/>
          <p:cNvSpPr/>
          <p:nvPr/>
        </p:nvSpPr>
        <p:spPr>
          <a:xfrm>
            <a:off x="8129160" y="2176920"/>
            <a:ext cx="1023840" cy="23724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100" b="1" u="none" strike="noStrike">
                <a:solidFill>
                  <a:srgbClr val="0A3A68"/>
                </a:solidFill>
                <a:effectLst/>
                <a:uFillTx/>
                <a:latin typeface="Consolas"/>
              </a:rPr>
              <a:t>86.1%</a:t>
            </a:r>
            <a:endParaRPr lang="en-US" sz="1100" b="0" u="none" strike="noStrike">
              <a:solidFill>
                <a:srgbClr val="000000"/>
              </a:solidFill>
              <a:effectLst/>
              <a:uFillTx/>
              <a:latin typeface="Arial"/>
            </a:endParaRPr>
          </a:p>
        </p:txBody>
      </p:sp>
      <p:sp>
        <p:nvSpPr>
          <p:cNvPr id="538" name="TextBox 15"/>
          <p:cNvSpPr/>
          <p:nvPr/>
        </p:nvSpPr>
        <p:spPr>
          <a:xfrm>
            <a:off x="8129160" y="4946760"/>
            <a:ext cx="1023840" cy="21924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00" b="0" u="none" strike="noStrike">
                <a:solidFill>
                  <a:srgbClr val="475467"/>
                </a:solidFill>
                <a:effectLst/>
                <a:uFillTx/>
                <a:latin typeface="Consolas"/>
              </a:rPr>
              <a:t>p95</a:t>
            </a:r>
            <a:endParaRPr lang="en-US" sz="1000" b="0" u="none" strike="noStrike">
              <a:solidFill>
                <a:srgbClr val="000000"/>
              </a:solidFill>
              <a:effectLst/>
              <a:uFillTx/>
              <a:latin typeface="Arial"/>
            </a:endParaRPr>
          </a:p>
        </p:txBody>
      </p:sp>
      <p:sp>
        <p:nvSpPr>
          <p:cNvPr id="539" name="TextBox 16"/>
          <p:cNvSpPr/>
          <p:nvPr/>
        </p:nvSpPr>
        <p:spPr>
          <a:xfrm>
            <a:off x="8129160" y="5166360"/>
            <a:ext cx="1023840" cy="21924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900" b="0" u="none" strike="noStrike">
                <a:solidFill>
                  <a:srgbClr val="6B7C93"/>
                </a:solidFill>
                <a:effectLst/>
                <a:uFillTx/>
                <a:latin typeface="Consolas"/>
              </a:rPr>
              <a:t>365d</a:t>
            </a:r>
            <a:endParaRPr lang="en-US" sz="900" b="0" u="none" strike="noStrike">
              <a:solidFill>
                <a:srgbClr val="000000"/>
              </a:solidFill>
              <a:effectLst/>
              <a:uFillTx/>
              <a:latin typeface="Arial"/>
            </a:endParaRPr>
          </a:p>
        </p:txBody>
      </p:sp>
      <p:sp>
        <p:nvSpPr>
          <p:cNvPr id="540" name="Rectangle 17"/>
          <p:cNvSpPr/>
          <p:nvPr/>
        </p:nvSpPr>
        <p:spPr>
          <a:xfrm>
            <a:off x="9381600" y="2562120"/>
            <a:ext cx="749520" cy="2329560"/>
          </a:xfrm>
          <a:prstGeom prst="rect">
            <a:avLst/>
          </a:prstGeom>
          <a:solidFill>
            <a:srgbClr val="4A83B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41" name="TextBox 18"/>
          <p:cNvSpPr/>
          <p:nvPr/>
        </p:nvSpPr>
        <p:spPr>
          <a:xfrm>
            <a:off x="9244440" y="2287800"/>
            <a:ext cx="1023840" cy="23724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100" b="1" u="none" strike="noStrike">
                <a:solidFill>
                  <a:srgbClr val="0A3A68"/>
                </a:solidFill>
                <a:effectLst/>
                <a:uFillTx/>
                <a:latin typeface="Consolas"/>
              </a:rPr>
              <a:t>82.2%</a:t>
            </a:r>
            <a:endParaRPr lang="en-US" sz="1100" b="0" u="none" strike="noStrike">
              <a:solidFill>
                <a:srgbClr val="000000"/>
              </a:solidFill>
              <a:effectLst/>
              <a:uFillTx/>
              <a:latin typeface="Arial"/>
            </a:endParaRPr>
          </a:p>
        </p:txBody>
      </p:sp>
      <p:sp>
        <p:nvSpPr>
          <p:cNvPr id="542" name="TextBox 19"/>
          <p:cNvSpPr/>
          <p:nvPr/>
        </p:nvSpPr>
        <p:spPr>
          <a:xfrm>
            <a:off x="9244440" y="4946760"/>
            <a:ext cx="1023840" cy="21924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00" b="0" u="none" strike="noStrike">
                <a:solidFill>
                  <a:srgbClr val="475467"/>
                </a:solidFill>
                <a:effectLst/>
                <a:uFillTx/>
                <a:latin typeface="Consolas"/>
              </a:rPr>
              <a:t>p98</a:t>
            </a:r>
            <a:endParaRPr lang="en-US" sz="1000" b="0" u="none" strike="noStrike">
              <a:solidFill>
                <a:srgbClr val="000000"/>
              </a:solidFill>
              <a:effectLst/>
              <a:uFillTx/>
              <a:latin typeface="Arial"/>
            </a:endParaRPr>
          </a:p>
        </p:txBody>
      </p:sp>
      <p:sp>
        <p:nvSpPr>
          <p:cNvPr id="543" name="TextBox 20"/>
          <p:cNvSpPr/>
          <p:nvPr/>
        </p:nvSpPr>
        <p:spPr>
          <a:xfrm>
            <a:off x="9244440" y="5166360"/>
            <a:ext cx="1023840" cy="21924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900" b="0" u="none" strike="noStrike">
                <a:solidFill>
                  <a:srgbClr val="6B7C93"/>
                </a:solidFill>
                <a:effectLst/>
                <a:uFillTx/>
                <a:latin typeface="Consolas"/>
              </a:rPr>
              <a:t>183d</a:t>
            </a:r>
            <a:endParaRPr lang="en-US" sz="900" b="0" u="none" strike="noStrike">
              <a:solidFill>
                <a:srgbClr val="000000"/>
              </a:solidFill>
              <a:effectLst/>
              <a:uFillTx/>
              <a:latin typeface="Arial"/>
            </a:endParaRPr>
          </a:p>
        </p:txBody>
      </p:sp>
      <p:sp>
        <p:nvSpPr>
          <p:cNvPr id="544" name="Rectangle 21"/>
          <p:cNvSpPr/>
          <p:nvPr/>
        </p:nvSpPr>
        <p:spPr>
          <a:xfrm>
            <a:off x="10497240" y="3293280"/>
            <a:ext cx="749520" cy="1598400"/>
          </a:xfrm>
          <a:prstGeom prst="rect">
            <a:avLst/>
          </a:prstGeom>
          <a:solidFill>
            <a:srgbClr val="B547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45" name="TextBox 22"/>
          <p:cNvSpPr/>
          <p:nvPr/>
        </p:nvSpPr>
        <p:spPr>
          <a:xfrm>
            <a:off x="10360080" y="3018960"/>
            <a:ext cx="1023840" cy="23724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100" b="1" u="none" strike="noStrike">
                <a:solidFill>
                  <a:srgbClr val="0A3A68"/>
                </a:solidFill>
                <a:effectLst/>
                <a:uFillTx/>
                <a:latin typeface="Consolas"/>
              </a:rPr>
              <a:t>56.4%</a:t>
            </a:r>
            <a:endParaRPr lang="en-US" sz="1100" b="0" u="none" strike="noStrike">
              <a:solidFill>
                <a:srgbClr val="000000"/>
              </a:solidFill>
              <a:effectLst/>
              <a:uFillTx/>
              <a:latin typeface="Arial"/>
            </a:endParaRPr>
          </a:p>
        </p:txBody>
      </p:sp>
      <p:sp>
        <p:nvSpPr>
          <p:cNvPr id="546" name="TextBox 23"/>
          <p:cNvSpPr/>
          <p:nvPr/>
        </p:nvSpPr>
        <p:spPr>
          <a:xfrm>
            <a:off x="10360080" y="4946760"/>
            <a:ext cx="1023840" cy="21924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1000" b="0" u="none" strike="noStrike">
                <a:solidFill>
                  <a:srgbClr val="475467"/>
                </a:solidFill>
                <a:effectLst/>
                <a:uFillTx/>
                <a:latin typeface="Consolas"/>
              </a:rPr>
              <a:t>p99</a:t>
            </a:r>
            <a:endParaRPr lang="en-US" sz="1000" b="0" u="none" strike="noStrike">
              <a:solidFill>
                <a:srgbClr val="000000"/>
              </a:solidFill>
              <a:effectLst/>
              <a:uFillTx/>
              <a:latin typeface="Arial"/>
            </a:endParaRPr>
          </a:p>
        </p:txBody>
      </p:sp>
      <p:sp>
        <p:nvSpPr>
          <p:cNvPr id="547" name="TextBox 24"/>
          <p:cNvSpPr/>
          <p:nvPr/>
        </p:nvSpPr>
        <p:spPr>
          <a:xfrm>
            <a:off x="10360080" y="5166360"/>
            <a:ext cx="1023840" cy="219240"/>
          </a:xfrm>
          <a:prstGeom prst="rect">
            <a:avLst/>
          </a:prstGeom>
          <a:noFill/>
          <a:ln w="0">
            <a:noFill/>
          </a:ln>
        </p:spPr>
        <p:style>
          <a:lnRef idx="0"/>
          <a:fillRef idx="0"/>
          <a:effectRef idx="0"/>
          <a:fontRef idx="minor"/>
        </p:style>
        <p:txBody>
          <a:bodyPr lIns="0" tIns="0" rIns="0" bIns="0" anchor="t">
            <a:spAutoFit/>
          </a:bodyPr>
          <a:p>
            <a:pPr algn="ctr" defTabSz="457200">
              <a:lnSpc>
                <a:spcPct val="100000"/>
              </a:lnSpc>
            </a:pPr>
            <a:r>
              <a:rPr lang="en-US" sz="900" b="0" u="none" strike="noStrike">
                <a:solidFill>
                  <a:srgbClr val="6B7C93"/>
                </a:solidFill>
                <a:effectLst/>
                <a:uFillTx/>
                <a:latin typeface="Consolas"/>
              </a:rPr>
              <a:t>153d</a:t>
            </a:r>
            <a:endParaRPr lang="en-US" sz="900" b="0" u="none" strike="noStrike">
              <a:solidFill>
                <a:srgbClr val="000000"/>
              </a:solidFill>
              <a:effectLst/>
              <a:uFillTx/>
              <a:latin typeface="Arial"/>
            </a:endParaRPr>
          </a:p>
        </p:txBody>
      </p:sp>
      <p:sp>
        <p:nvSpPr>
          <p:cNvPr id="548" name="Rectangle 25"/>
          <p:cNvSpPr/>
          <p:nvPr/>
        </p:nvSpPr>
        <p:spPr>
          <a:xfrm>
            <a:off x="6766560" y="4892040"/>
            <a:ext cx="4754520" cy="12240"/>
          </a:xfrm>
          <a:prstGeom prst="rect">
            <a:avLst/>
          </a:prstGeom>
          <a:solidFill>
            <a:srgbClr val="B9C8D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2400" rIns="90000" bIns="-32400" anchor="ctr">
            <a:noAutofit/>
          </a:bodyPr>
          <a:p>
            <a:endParaRPr lang="en-US" sz="1800" b="0" u="none" strike="noStrike">
              <a:solidFill>
                <a:schemeClr val="lt1"/>
              </a:solidFill>
              <a:effectLst/>
              <a:uFillTx/>
              <a:latin typeface="Calibri"/>
            </a:endParaRPr>
          </a:p>
        </p:txBody>
      </p:sp>
      <p:sp>
        <p:nvSpPr>
          <p:cNvPr id="549" name="TextBox 26"/>
          <p:cNvSpPr/>
          <p:nvPr/>
        </p:nvSpPr>
        <p:spPr>
          <a:xfrm>
            <a:off x="6766560" y="5459040"/>
            <a:ext cx="475452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00" b="0" u="none" strike="noStrike">
                <a:solidFill>
                  <a:srgbClr val="6B7C93"/>
                </a:solidFill>
                <a:effectLst/>
                <a:uFillTx/>
                <a:latin typeface="Consolas"/>
              </a:rPr>
              <a:t>Median lead time to default  ·  Track P  ·  Fannie Mae</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50" name="TextBox 1"/>
          <p:cNvSpPr/>
          <p:nvPr/>
        </p:nvSpPr>
        <p:spPr>
          <a:xfrm>
            <a:off x="11338560" y="384120"/>
            <a:ext cx="548280" cy="228240"/>
          </a:xfrm>
          <a:prstGeom prst="rect">
            <a:avLst/>
          </a:prstGeom>
          <a:noFill/>
          <a:ln w="0">
            <a:noFill/>
          </a:ln>
        </p:spPr>
        <p:style>
          <a:lnRef idx="0"/>
          <a:fillRef idx="0"/>
          <a:effectRef idx="0"/>
          <a:fontRef idx="minor"/>
        </p:style>
        <p:txBody>
          <a:bodyPr lIns="0" tIns="0" rIns="0" bIns="0" anchor="t">
            <a:spAutoFit/>
          </a:bodyPr>
          <a:p>
            <a:pPr algn="r" defTabSz="457200">
              <a:lnSpc>
                <a:spcPct val="100000"/>
              </a:lnSpc>
            </a:pPr>
            <a:r>
              <a:rPr lang="en-US" sz="900" b="0" u="none" strike="noStrike">
                <a:solidFill>
                  <a:srgbClr val="6B7C93"/>
                </a:solidFill>
                <a:effectLst/>
                <a:uFillTx/>
                <a:latin typeface="Consolas"/>
              </a:rPr>
              <a:t>15</a:t>
            </a:r>
            <a:endParaRPr lang="en-US" sz="900" b="0" u="none" strike="noStrike">
              <a:solidFill>
                <a:srgbClr val="000000"/>
              </a:solidFill>
              <a:effectLst/>
              <a:uFillTx/>
              <a:latin typeface="Arial"/>
            </a:endParaRPr>
          </a:p>
        </p:txBody>
      </p:sp>
      <p:sp>
        <p:nvSpPr>
          <p:cNvPr id="551" name="TextBox 2"/>
          <p:cNvSpPr/>
          <p:nvPr/>
        </p:nvSpPr>
        <p:spPr>
          <a:xfrm>
            <a:off x="658440" y="457200"/>
            <a:ext cx="10058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0" u="none" strike="noStrike">
                <a:solidFill>
                  <a:srgbClr val="2166A3"/>
                </a:solidFill>
                <a:effectLst/>
                <a:uFillTx/>
                <a:latin typeface="Consolas"/>
              </a:rPr>
              <a:t>THE DIFFERENTIATOR</a:t>
            </a:r>
            <a:endParaRPr lang="en-US" sz="1050" b="0" u="none" strike="noStrike">
              <a:solidFill>
                <a:srgbClr val="000000"/>
              </a:solidFill>
              <a:effectLst/>
              <a:uFillTx/>
              <a:latin typeface="Arial"/>
            </a:endParaRPr>
          </a:p>
        </p:txBody>
      </p:sp>
      <p:sp>
        <p:nvSpPr>
          <p:cNvPr id="552" name="TextBox 3"/>
          <p:cNvSpPr/>
          <p:nvPr/>
        </p:nvSpPr>
        <p:spPr>
          <a:xfrm>
            <a:off x="658440" y="777240"/>
            <a:ext cx="10423800" cy="914040"/>
          </a:xfrm>
          <a:prstGeom prst="rect">
            <a:avLst/>
          </a:prstGeom>
          <a:noFill/>
          <a:ln w="0">
            <a:noFill/>
          </a:ln>
        </p:spPr>
        <p:style>
          <a:lnRef idx="0"/>
          <a:fillRef idx="0"/>
          <a:effectRef idx="0"/>
          <a:fontRef idx="minor"/>
        </p:style>
        <p:txBody>
          <a:bodyPr lIns="0" tIns="0" rIns="0" bIns="0" anchor="t">
            <a:spAutoFit/>
          </a:bodyPr>
          <a:p>
            <a:pPr defTabSz="457200">
              <a:lnSpc>
                <a:spcPct val="95000"/>
              </a:lnSpc>
            </a:pPr>
            <a:r>
              <a:rPr lang="en-US" sz="3200" b="1" u="none" strike="noStrike">
                <a:solidFill>
                  <a:srgbClr val="0A3A68"/>
                </a:solidFill>
                <a:effectLst/>
                <a:uFillTx/>
                <a:latin typeface="Georgia"/>
              </a:rPr>
              <a:t>The system refuses to invent numbers</a:t>
            </a:r>
            <a:endParaRPr lang="en-US" sz="3200" b="0" u="none" strike="noStrike">
              <a:solidFill>
                <a:srgbClr val="000000"/>
              </a:solidFill>
              <a:effectLst/>
              <a:uFillTx/>
              <a:latin typeface="Arial"/>
            </a:endParaRPr>
          </a:p>
        </p:txBody>
      </p:sp>
      <p:sp>
        <p:nvSpPr>
          <p:cNvPr id="553" name="Rectangle 4"/>
          <p:cNvSpPr/>
          <p:nvPr/>
        </p:nvSpPr>
        <p:spPr>
          <a:xfrm>
            <a:off x="658440" y="1691640"/>
            <a:ext cx="31680" cy="776880"/>
          </a:xfrm>
          <a:prstGeom prst="rect">
            <a:avLst/>
          </a:prstGeom>
          <a:solidFill>
            <a:srgbClr val="0D4A8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54" name="TextBox 5"/>
          <p:cNvSpPr/>
          <p:nvPr/>
        </p:nvSpPr>
        <p:spPr>
          <a:xfrm>
            <a:off x="932760" y="1691640"/>
            <a:ext cx="10058040" cy="822600"/>
          </a:xfrm>
          <a:prstGeom prst="rect">
            <a:avLst/>
          </a:prstGeom>
          <a:noFill/>
          <a:ln w="0">
            <a:noFill/>
          </a:ln>
        </p:spPr>
        <p:style>
          <a:lnRef idx="0"/>
          <a:fillRef idx="0"/>
          <a:effectRef idx="0"/>
          <a:fontRef idx="minor"/>
        </p:style>
        <p:txBody>
          <a:bodyPr lIns="0" tIns="0" rIns="0" bIns="0" anchor="t">
            <a:spAutoFit/>
          </a:bodyPr>
          <a:p>
            <a:pPr defTabSz="457200">
              <a:lnSpc>
                <a:spcPct val="118000"/>
              </a:lnSpc>
              <a:spcAft>
                <a:spcPts val="601"/>
              </a:spcAft>
            </a:pPr>
            <a:r>
              <a:rPr lang="en-US" sz="1700" b="0" u="none" strike="noStrike">
                <a:solidFill>
                  <a:srgbClr val="0A3A68"/>
                </a:solidFill>
                <a:effectLst/>
                <a:uFillTx/>
                <a:latin typeface="Georgia"/>
              </a:rPr>
              <a:t>“A plausible-looking invented cutoff is worse than a build failure, because it survives review.”</a:t>
            </a:r>
            <a:endParaRPr lang="en-US" sz="1700" b="0" u="none" strike="noStrike">
              <a:solidFill>
                <a:srgbClr val="000000"/>
              </a:solidFill>
              <a:effectLst/>
              <a:uFillTx/>
              <a:latin typeface="Arial"/>
            </a:endParaRPr>
          </a:p>
          <a:p>
            <a:pPr defTabSz="457200">
              <a:lnSpc>
                <a:spcPct val="100000"/>
              </a:lnSpc>
            </a:pPr>
            <a:r>
              <a:rPr lang="en-US" sz="950" b="0" u="none" strike="noStrike">
                <a:solidFill>
                  <a:srgbClr val="6B7C93"/>
                </a:solidFill>
                <a:effectLst/>
                <a:uFillTx/>
                <a:latin typeface="Consolas"/>
              </a:rPr>
              <a:t>The working agreement, enforced by CI</a:t>
            </a:r>
            <a:endParaRPr lang="en-US" sz="950" b="0" u="none" strike="noStrike">
              <a:solidFill>
                <a:srgbClr val="000000"/>
              </a:solidFill>
              <a:effectLst/>
              <a:uFillTx/>
              <a:latin typeface="Arial"/>
            </a:endParaRPr>
          </a:p>
        </p:txBody>
      </p:sp>
      <p:sp>
        <p:nvSpPr>
          <p:cNvPr id="555" name="TextBox 6"/>
          <p:cNvSpPr/>
          <p:nvPr/>
        </p:nvSpPr>
        <p:spPr>
          <a:xfrm>
            <a:off x="658440" y="2697480"/>
            <a:ext cx="10515240" cy="365400"/>
          </a:xfrm>
          <a:prstGeom prst="rect">
            <a:avLst/>
          </a:prstGeom>
          <a:noFill/>
          <a:ln w="0">
            <a:noFill/>
          </a:ln>
        </p:spPr>
        <p:style>
          <a:lnRef idx="0"/>
          <a:fillRef idx="0"/>
          <a:effectRef idx="0"/>
          <a:fontRef idx="minor"/>
        </p:style>
        <p:txBody>
          <a:bodyPr lIns="0" tIns="0" rIns="0" bIns="0" anchor="t">
            <a:spAutoFit/>
          </a:bodyPr>
          <a:p>
            <a:pPr defTabSz="457200">
              <a:lnSpc>
                <a:spcPct val="125000"/>
              </a:lnSpc>
            </a:pPr>
            <a:r>
              <a:rPr lang="en-US" sz="1200" b="0" u="none" strike="noStrike">
                <a:solidFill>
                  <a:srgbClr val="475467"/>
                </a:solidFill>
                <a:effectLst/>
                <a:uFillTx/>
                <a:latin typeface="Segoe UI"/>
              </a:rPr>
              <a:t>None of these is a bug. Each is a spot where an invented number would have quietly become the real one, because nobody would ever have gone back to check it.</a:t>
            </a:r>
            <a:endParaRPr lang="en-US" sz="1200" b="0" u="none" strike="noStrike">
              <a:solidFill>
                <a:srgbClr val="000000"/>
              </a:solidFill>
              <a:effectLst/>
              <a:uFillTx/>
              <a:latin typeface="Arial"/>
            </a:endParaRPr>
          </a:p>
        </p:txBody>
      </p:sp>
      <p:sp>
        <p:nvSpPr>
          <p:cNvPr id="556" name="TextBox 7"/>
          <p:cNvSpPr/>
          <p:nvPr/>
        </p:nvSpPr>
        <p:spPr>
          <a:xfrm>
            <a:off x="658440" y="336492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P2</a:t>
            </a:r>
            <a:endParaRPr lang="en-US" sz="1000" b="0" u="none" strike="noStrike">
              <a:solidFill>
                <a:srgbClr val="000000"/>
              </a:solidFill>
              <a:effectLst/>
              <a:uFillTx/>
              <a:latin typeface="Arial"/>
            </a:endParaRPr>
          </a:p>
        </p:txBody>
      </p:sp>
      <p:sp>
        <p:nvSpPr>
          <p:cNvPr id="557" name="TextBox 8"/>
          <p:cNvSpPr/>
          <p:nvPr/>
        </p:nvSpPr>
        <p:spPr>
          <a:xfrm>
            <a:off x="1481400" y="3364920"/>
            <a:ext cx="43887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expected_income() raises</a:t>
            </a:r>
            <a:endParaRPr lang="en-US" sz="1200" b="0" u="none" strike="noStrike">
              <a:solidFill>
                <a:srgbClr val="000000"/>
              </a:solidFill>
              <a:effectLst/>
              <a:uFillTx/>
              <a:latin typeface="Arial"/>
            </a:endParaRPr>
          </a:p>
        </p:txBody>
      </p:sp>
      <p:sp>
        <p:nvSpPr>
          <p:cNvPr id="558" name="TextBox 9"/>
          <p:cNvSpPr/>
          <p:nvPr/>
        </p:nvSpPr>
        <p:spPr>
          <a:xfrm>
            <a:off x="1481400" y="3579840"/>
            <a:ext cx="438876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Without ratified input costs, the sign of the answer on a smallholder plot is unknown</a:t>
            </a:r>
            <a:endParaRPr lang="en-US" sz="950" b="0" u="none" strike="noStrike">
              <a:solidFill>
                <a:srgbClr val="000000"/>
              </a:solidFill>
              <a:effectLst/>
              <a:uFillTx/>
              <a:latin typeface="Arial"/>
            </a:endParaRPr>
          </a:p>
        </p:txBody>
      </p:sp>
      <p:sp>
        <p:nvSpPr>
          <p:cNvPr id="559" name="Rectangle 10"/>
          <p:cNvSpPr/>
          <p:nvPr/>
        </p:nvSpPr>
        <p:spPr>
          <a:xfrm>
            <a:off x="658440" y="3968640"/>
            <a:ext cx="521172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560" name="TextBox 11"/>
          <p:cNvSpPr/>
          <p:nvPr/>
        </p:nvSpPr>
        <p:spPr>
          <a:xfrm>
            <a:off x="658440" y="411480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P2</a:t>
            </a:r>
            <a:endParaRPr lang="en-US" sz="1000" b="0" u="none" strike="noStrike">
              <a:solidFill>
                <a:srgbClr val="000000"/>
              </a:solidFill>
              <a:effectLst/>
              <a:uFillTx/>
              <a:latin typeface="Arial"/>
            </a:endParaRPr>
          </a:p>
        </p:txBody>
      </p:sp>
      <p:sp>
        <p:nvSpPr>
          <p:cNvPr id="561" name="TextBox 12"/>
          <p:cNvSpPr/>
          <p:nvPr/>
        </p:nvSpPr>
        <p:spPr>
          <a:xfrm>
            <a:off x="1481400" y="4114800"/>
            <a:ext cx="43887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area_hectares raises</a:t>
            </a:r>
            <a:endParaRPr lang="en-US" sz="1200" b="0" u="none" strike="noStrike">
              <a:solidFill>
                <a:srgbClr val="000000"/>
              </a:solidFill>
              <a:effectLst/>
              <a:uFillTx/>
              <a:latin typeface="Arial"/>
            </a:endParaRPr>
          </a:p>
        </p:txBody>
      </p:sp>
      <p:sp>
        <p:nvSpPr>
          <p:cNvPr id="562" name="TextBox 13"/>
          <p:cNvSpPr/>
          <p:nvPr/>
        </p:nvSpPr>
        <p:spPr>
          <a:xfrm>
            <a:off x="1481400" y="4329720"/>
            <a:ext cx="438876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A nominal area around a village centroid is not a plot</a:t>
            </a:r>
            <a:endParaRPr lang="en-US" sz="950" b="0" u="none" strike="noStrike">
              <a:solidFill>
                <a:srgbClr val="000000"/>
              </a:solidFill>
              <a:effectLst/>
              <a:uFillTx/>
              <a:latin typeface="Arial"/>
            </a:endParaRPr>
          </a:p>
        </p:txBody>
      </p:sp>
      <p:sp>
        <p:nvSpPr>
          <p:cNvPr id="563" name="Rectangle 14"/>
          <p:cNvSpPr/>
          <p:nvPr/>
        </p:nvSpPr>
        <p:spPr>
          <a:xfrm>
            <a:off x="658440" y="4718160"/>
            <a:ext cx="521172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564" name="TextBox 15"/>
          <p:cNvSpPr/>
          <p:nvPr/>
        </p:nvSpPr>
        <p:spPr>
          <a:xfrm>
            <a:off x="658440" y="486468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P4</a:t>
            </a:r>
            <a:endParaRPr lang="en-US" sz="1000" b="0" u="none" strike="noStrike">
              <a:solidFill>
                <a:srgbClr val="000000"/>
              </a:solidFill>
              <a:effectLst/>
              <a:uFillTx/>
              <a:latin typeface="Arial"/>
            </a:endParaRPr>
          </a:p>
        </p:txBody>
      </p:sp>
      <p:sp>
        <p:nvSpPr>
          <p:cNvPr id="565" name="TextBox 16"/>
          <p:cNvSpPr/>
          <p:nvPr/>
        </p:nvSpPr>
        <p:spPr>
          <a:xfrm>
            <a:off x="1481400" y="4864680"/>
            <a:ext cx="43887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Reward.blended() raises</a:t>
            </a:r>
            <a:endParaRPr lang="en-US" sz="1200" b="0" u="none" strike="noStrike">
              <a:solidFill>
                <a:srgbClr val="000000"/>
              </a:solidFill>
              <a:effectLst/>
              <a:uFillTx/>
              <a:latin typeface="Arial"/>
            </a:endParaRPr>
          </a:p>
        </p:txBody>
      </p:sp>
      <p:sp>
        <p:nvSpPr>
          <p:cNvPr id="566" name="TextBox 17"/>
          <p:cNvSpPr/>
          <p:nvPr/>
        </p:nvSpPr>
        <p:spPr>
          <a:xfrm>
            <a:off x="1481400" y="5079600"/>
            <a:ext cx="438876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A bandit rewarded on take-up alone learns to mis-sell</a:t>
            </a:r>
            <a:endParaRPr lang="en-US" sz="950" b="0" u="none" strike="noStrike">
              <a:solidFill>
                <a:srgbClr val="000000"/>
              </a:solidFill>
              <a:effectLst/>
              <a:uFillTx/>
              <a:latin typeface="Arial"/>
            </a:endParaRPr>
          </a:p>
        </p:txBody>
      </p:sp>
      <p:sp>
        <p:nvSpPr>
          <p:cNvPr id="567" name="Rectangle 18"/>
          <p:cNvSpPr/>
          <p:nvPr/>
        </p:nvSpPr>
        <p:spPr>
          <a:xfrm>
            <a:off x="658440" y="5468040"/>
            <a:ext cx="521172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568" name="TextBox 19"/>
          <p:cNvSpPr/>
          <p:nvPr/>
        </p:nvSpPr>
        <p:spPr>
          <a:xfrm>
            <a:off x="6400800" y="336492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P5</a:t>
            </a:r>
            <a:endParaRPr lang="en-US" sz="1000" b="0" u="none" strike="noStrike">
              <a:solidFill>
                <a:srgbClr val="000000"/>
              </a:solidFill>
              <a:effectLst/>
              <a:uFillTx/>
              <a:latin typeface="Arial"/>
            </a:endParaRPr>
          </a:p>
        </p:txBody>
      </p:sp>
      <p:sp>
        <p:nvSpPr>
          <p:cNvPr id="569" name="TextBox 20"/>
          <p:cNvSpPr/>
          <p:nvPr/>
        </p:nvSpPr>
        <p:spPr>
          <a:xfrm>
            <a:off x="7223760" y="3364920"/>
            <a:ext cx="43887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No sentence composed</a:t>
            </a:r>
            <a:endParaRPr lang="en-US" sz="1200" b="0" u="none" strike="noStrike">
              <a:solidFill>
                <a:srgbClr val="000000"/>
              </a:solidFill>
              <a:effectLst/>
              <a:uFillTx/>
              <a:latin typeface="Arial"/>
            </a:endParaRPr>
          </a:p>
        </p:txBody>
      </p:sp>
      <p:sp>
        <p:nvSpPr>
          <p:cNvPr id="570" name="TextBox 21"/>
          <p:cNvSpPr/>
          <p:nvPr/>
        </p:nvSpPr>
        <p:spPr>
          <a:xfrm>
            <a:off x="7223760" y="3579840"/>
            <a:ext cx="438876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No code path writes an adverse-action sentence; templates are selected</a:t>
            </a:r>
            <a:endParaRPr lang="en-US" sz="950" b="0" u="none" strike="noStrike">
              <a:solidFill>
                <a:srgbClr val="000000"/>
              </a:solidFill>
              <a:effectLst/>
              <a:uFillTx/>
              <a:latin typeface="Arial"/>
            </a:endParaRPr>
          </a:p>
        </p:txBody>
      </p:sp>
      <p:sp>
        <p:nvSpPr>
          <p:cNvPr id="571" name="Rectangle 22"/>
          <p:cNvSpPr/>
          <p:nvPr/>
        </p:nvSpPr>
        <p:spPr>
          <a:xfrm>
            <a:off x="6400800" y="3968640"/>
            <a:ext cx="521172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572" name="TextBox 23"/>
          <p:cNvSpPr/>
          <p:nvPr/>
        </p:nvSpPr>
        <p:spPr>
          <a:xfrm>
            <a:off x="6400800" y="411480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P6</a:t>
            </a:r>
            <a:endParaRPr lang="en-US" sz="1000" b="0" u="none" strike="noStrike">
              <a:solidFill>
                <a:srgbClr val="000000"/>
              </a:solidFill>
              <a:effectLst/>
              <a:uFillTx/>
              <a:latin typeface="Arial"/>
            </a:endParaRPr>
          </a:p>
        </p:txBody>
      </p:sp>
      <p:sp>
        <p:nvSpPr>
          <p:cNvPr id="573" name="TextBox 24"/>
          <p:cNvSpPr/>
          <p:nvPr/>
        </p:nvSpPr>
        <p:spPr>
          <a:xfrm>
            <a:off x="7223760" y="4114800"/>
            <a:ext cx="43887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estimate_uplift() raises</a:t>
            </a:r>
            <a:endParaRPr lang="en-US" sz="1200" b="0" u="none" strike="noStrike">
              <a:solidFill>
                <a:srgbClr val="000000"/>
              </a:solidFill>
              <a:effectLst/>
              <a:uFillTx/>
              <a:latin typeface="Arial"/>
            </a:endParaRPr>
          </a:p>
        </p:txBody>
      </p:sp>
      <p:sp>
        <p:nvSpPr>
          <p:cNvPr id="574" name="TextBox 25"/>
          <p:cNvSpPr/>
          <p:nvPr/>
        </p:nvSpPr>
        <p:spPr>
          <a:xfrm>
            <a:off x="7223760" y="4329720"/>
            <a:ext cx="438876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Uplift from an unrandomised log is not a worse estimate — it is a different quantity</a:t>
            </a:r>
            <a:endParaRPr lang="en-US" sz="950" b="0" u="none" strike="noStrike">
              <a:solidFill>
                <a:srgbClr val="000000"/>
              </a:solidFill>
              <a:effectLst/>
              <a:uFillTx/>
              <a:latin typeface="Arial"/>
            </a:endParaRPr>
          </a:p>
        </p:txBody>
      </p:sp>
      <p:sp>
        <p:nvSpPr>
          <p:cNvPr id="575" name="Rectangle 26"/>
          <p:cNvSpPr/>
          <p:nvPr/>
        </p:nvSpPr>
        <p:spPr>
          <a:xfrm>
            <a:off x="6400800" y="4718160"/>
            <a:ext cx="521172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576" name="TextBox 27"/>
          <p:cNvSpPr/>
          <p:nvPr/>
        </p:nvSpPr>
        <p:spPr>
          <a:xfrm>
            <a:off x="6400800" y="486468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P7</a:t>
            </a:r>
            <a:endParaRPr lang="en-US" sz="1000" b="0" u="none" strike="noStrike">
              <a:solidFill>
                <a:srgbClr val="000000"/>
              </a:solidFill>
              <a:effectLst/>
              <a:uFillTx/>
              <a:latin typeface="Arial"/>
            </a:endParaRPr>
          </a:p>
        </p:txBody>
      </p:sp>
      <p:sp>
        <p:nvSpPr>
          <p:cNvPr id="577" name="TextBox 28"/>
          <p:cNvSpPr/>
          <p:nvPr/>
        </p:nvSpPr>
        <p:spPr>
          <a:xfrm>
            <a:off x="7223760" y="4864680"/>
            <a:ext cx="43887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No demo data</a:t>
            </a:r>
            <a:endParaRPr lang="en-US" sz="1200" b="0" u="none" strike="noStrike">
              <a:solidFill>
                <a:srgbClr val="000000"/>
              </a:solidFill>
              <a:effectLst/>
              <a:uFillTx/>
              <a:latin typeface="Arial"/>
            </a:endParaRPr>
          </a:p>
        </p:txBody>
      </p:sp>
      <p:sp>
        <p:nvSpPr>
          <p:cNvPr id="578" name="TextBox 29"/>
          <p:cNvSpPr/>
          <p:nvPr/>
        </p:nvSpPr>
        <p:spPr>
          <a:xfrm>
            <a:off x="7223760" y="5079600"/>
            <a:ext cx="438876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A fabricated score is indistinguishable from a real one in a screenshot</a:t>
            </a:r>
            <a:endParaRPr lang="en-US" sz="950" b="0" u="none" strike="noStrike">
              <a:solidFill>
                <a:srgbClr val="000000"/>
              </a:solidFill>
              <a:effectLst/>
              <a:uFillTx/>
              <a:latin typeface="Arial"/>
            </a:endParaRPr>
          </a:p>
        </p:txBody>
      </p:sp>
      <p:sp>
        <p:nvSpPr>
          <p:cNvPr id="579" name="Rectangle 30"/>
          <p:cNvSpPr/>
          <p:nvPr/>
        </p:nvSpPr>
        <p:spPr>
          <a:xfrm>
            <a:off x="6400800" y="5468040"/>
            <a:ext cx="521172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580" name="Rectangle 31"/>
          <p:cNvSpPr/>
          <p:nvPr/>
        </p:nvSpPr>
        <p:spPr>
          <a:xfrm>
            <a:off x="658440" y="5669280"/>
            <a:ext cx="10881000" cy="776880"/>
          </a:xfrm>
          <a:prstGeom prst="rect">
            <a:avLst/>
          </a:prstGeom>
          <a:solidFill>
            <a:srgbClr val="FDF3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81" name="Rectangle 32"/>
          <p:cNvSpPr/>
          <p:nvPr/>
        </p:nvSpPr>
        <p:spPr>
          <a:xfrm>
            <a:off x="658440" y="5669280"/>
            <a:ext cx="36360" cy="776880"/>
          </a:xfrm>
          <a:prstGeom prst="rect">
            <a:avLst/>
          </a:prstGeom>
          <a:solidFill>
            <a:srgbClr val="B547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82" name="TextBox 33"/>
          <p:cNvSpPr/>
          <p:nvPr/>
        </p:nvSpPr>
        <p:spPr>
          <a:xfrm>
            <a:off x="859680" y="5788080"/>
            <a:ext cx="10496880" cy="53928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150" b="0" u="none" strike="noStrike">
                <a:solidFill>
                  <a:srgbClr val="475467"/>
                </a:solidFill>
                <a:effectLst/>
                <a:uFillTx/>
                <a:latin typeface="Segoe UI"/>
              </a:rPr>
              <a:t>98 open items, each naming who must decide it and what the decision is. That list is the real project plan — it says exactly what a bank has to settle before any of this touches a customer.</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83" name="TextBox 1"/>
          <p:cNvSpPr/>
          <p:nvPr/>
        </p:nvSpPr>
        <p:spPr>
          <a:xfrm>
            <a:off x="11338560" y="384120"/>
            <a:ext cx="548280" cy="228240"/>
          </a:xfrm>
          <a:prstGeom prst="rect">
            <a:avLst/>
          </a:prstGeom>
          <a:noFill/>
          <a:ln w="0">
            <a:noFill/>
          </a:ln>
        </p:spPr>
        <p:style>
          <a:lnRef idx="0"/>
          <a:fillRef idx="0"/>
          <a:effectRef idx="0"/>
          <a:fontRef idx="minor"/>
        </p:style>
        <p:txBody>
          <a:bodyPr lIns="0" tIns="0" rIns="0" bIns="0" anchor="t">
            <a:spAutoFit/>
          </a:bodyPr>
          <a:p>
            <a:pPr algn="r" defTabSz="457200">
              <a:lnSpc>
                <a:spcPct val="100000"/>
              </a:lnSpc>
            </a:pPr>
            <a:r>
              <a:rPr lang="en-US" sz="900" b="0" u="none" strike="noStrike">
                <a:solidFill>
                  <a:srgbClr val="6B7C93"/>
                </a:solidFill>
                <a:effectLst/>
                <a:uFillTx/>
                <a:latin typeface="Consolas"/>
              </a:rPr>
              <a:t>16</a:t>
            </a:r>
            <a:endParaRPr lang="en-US" sz="900" b="0" u="none" strike="noStrike">
              <a:solidFill>
                <a:srgbClr val="000000"/>
              </a:solidFill>
              <a:effectLst/>
              <a:uFillTx/>
              <a:latin typeface="Arial"/>
            </a:endParaRPr>
          </a:p>
        </p:txBody>
      </p:sp>
      <p:sp>
        <p:nvSpPr>
          <p:cNvPr id="584" name="TextBox 2"/>
          <p:cNvSpPr/>
          <p:nvPr/>
        </p:nvSpPr>
        <p:spPr>
          <a:xfrm>
            <a:off x="658440" y="457200"/>
            <a:ext cx="10058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0" u="none" strike="noStrike">
                <a:solidFill>
                  <a:srgbClr val="2166A3"/>
                </a:solidFill>
                <a:effectLst/>
                <a:uFillTx/>
                <a:latin typeface="Consolas"/>
              </a:rPr>
              <a:t>ENGINEERING</a:t>
            </a:r>
            <a:endParaRPr lang="en-US" sz="1050" b="0" u="none" strike="noStrike">
              <a:solidFill>
                <a:srgbClr val="000000"/>
              </a:solidFill>
              <a:effectLst/>
              <a:uFillTx/>
              <a:latin typeface="Arial"/>
            </a:endParaRPr>
          </a:p>
        </p:txBody>
      </p:sp>
      <p:sp>
        <p:nvSpPr>
          <p:cNvPr id="585" name="TextBox 3"/>
          <p:cNvSpPr/>
          <p:nvPr/>
        </p:nvSpPr>
        <p:spPr>
          <a:xfrm>
            <a:off x="658440" y="777240"/>
            <a:ext cx="10423800" cy="914040"/>
          </a:xfrm>
          <a:prstGeom prst="rect">
            <a:avLst/>
          </a:prstGeom>
          <a:noFill/>
          <a:ln w="0">
            <a:noFill/>
          </a:ln>
        </p:spPr>
        <p:style>
          <a:lnRef idx="0"/>
          <a:fillRef idx="0"/>
          <a:effectRef idx="0"/>
          <a:fontRef idx="minor"/>
        </p:style>
        <p:txBody>
          <a:bodyPr lIns="0" tIns="0" rIns="0" bIns="0" anchor="t">
            <a:spAutoFit/>
          </a:bodyPr>
          <a:p>
            <a:pPr defTabSz="457200">
              <a:lnSpc>
                <a:spcPct val="95000"/>
              </a:lnSpc>
            </a:pPr>
            <a:r>
              <a:rPr lang="en-US" sz="3200" b="1" u="none" strike="noStrike">
                <a:solidFill>
                  <a:srgbClr val="0A3A68"/>
                </a:solidFill>
                <a:effectLst/>
                <a:uFillTx/>
                <a:latin typeface="Georgia"/>
              </a:rPr>
              <a:t>Guarantees held by the type system, not by review</a:t>
            </a:r>
            <a:endParaRPr lang="en-US" sz="3200" b="0" u="none" strike="noStrike">
              <a:solidFill>
                <a:srgbClr val="000000"/>
              </a:solidFill>
              <a:effectLst/>
              <a:uFillTx/>
              <a:latin typeface="Arial"/>
            </a:endParaRPr>
          </a:p>
        </p:txBody>
      </p:sp>
      <p:sp>
        <p:nvSpPr>
          <p:cNvPr id="586" name="TextBox 4"/>
          <p:cNvSpPr/>
          <p:nvPr/>
        </p:nvSpPr>
        <p:spPr>
          <a:xfrm>
            <a:off x="658440" y="1691640"/>
            <a:ext cx="10515240" cy="365400"/>
          </a:xfrm>
          <a:prstGeom prst="rect">
            <a:avLst/>
          </a:prstGeom>
          <a:noFill/>
          <a:ln w="0">
            <a:noFill/>
          </a:ln>
        </p:spPr>
        <p:style>
          <a:lnRef idx="0"/>
          <a:fillRef idx="0"/>
          <a:effectRef idx="0"/>
          <a:fontRef idx="minor"/>
        </p:style>
        <p:txBody>
          <a:bodyPr lIns="0" tIns="0" rIns="0" bIns="0" anchor="t">
            <a:spAutoFit/>
          </a:bodyPr>
          <a:p>
            <a:pPr defTabSz="457200">
              <a:lnSpc>
                <a:spcPct val="125000"/>
              </a:lnSpc>
            </a:pPr>
            <a:r>
              <a:rPr lang="en-US" sz="1200" b="0" u="none" strike="noStrike">
                <a:solidFill>
                  <a:srgbClr val="475467"/>
                </a:solidFill>
                <a:effectLst/>
                <a:uFillTx/>
                <a:latin typeface="Segoe UI"/>
              </a:rPr>
              <a:t>A rule that depends on someone remembering it fails the first busy week. These are built into the code itself, so the unsafe version simply cannot be written.</a:t>
            </a:r>
            <a:endParaRPr lang="en-US" sz="1200" b="0" u="none" strike="noStrike">
              <a:solidFill>
                <a:srgbClr val="000000"/>
              </a:solidFill>
              <a:effectLst/>
              <a:uFillTx/>
              <a:latin typeface="Arial"/>
            </a:endParaRPr>
          </a:p>
        </p:txBody>
      </p:sp>
      <p:sp>
        <p:nvSpPr>
          <p:cNvPr id="587" name="Rectangle 5"/>
          <p:cNvSpPr/>
          <p:nvPr/>
        </p:nvSpPr>
        <p:spPr>
          <a:xfrm>
            <a:off x="658440" y="2468880"/>
            <a:ext cx="2514240" cy="2520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endParaRPr lang="en-US" sz="1800" b="0" u="none" strike="noStrike">
              <a:solidFill>
                <a:schemeClr val="lt1"/>
              </a:solidFill>
              <a:effectLst/>
              <a:uFillTx/>
              <a:latin typeface="Calibri"/>
            </a:endParaRPr>
          </a:p>
        </p:txBody>
      </p:sp>
      <p:sp>
        <p:nvSpPr>
          <p:cNvPr id="588" name="TextBox 6"/>
          <p:cNvSpPr/>
          <p:nvPr/>
        </p:nvSpPr>
        <p:spPr>
          <a:xfrm>
            <a:off x="658440" y="2597040"/>
            <a:ext cx="2514240" cy="5025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800" b="1" u="none" strike="noStrike">
                <a:solidFill>
                  <a:srgbClr val="067647"/>
                </a:solidFill>
                <a:effectLst/>
                <a:uFillTx/>
                <a:latin typeface="Georgia"/>
              </a:rPr>
              <a:t>100%</a:t>
            </a:r>
            <a:endParaRPr lang="en-US" sz="2800" b="0" u="none" strike="noStrike">
              <a:solidFill>
                <a:srgbClr val="000000"/>
              </a:solidFill>
              <a:effectLst/>
              <a:uFillTx/>
              <a:latin typeface="Arial"/>
            </a:endParaRPr>
          </a:p>
        </p:txBody>
      </p:sp>
      <p:sp>
        <p:nvSpPr>
          <p:cNvPr id="589" name="TextBox 7"/>
          <p:cNvSpPr/>
          <p:nvPr/>
        </p:nvSpPr>
        <p:spPr>
          <a:xfrm>
            <a:off x="658440" y="3127320"/>
            <a:ext cx="2514240" cy="105120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Bandit propensity completeness — a decision cannot be constructed without one, so off-policy evaluation stays possible later</a:t>
            </a:r>
            <a:endParaRPr lang="en-US" sz="1000" b="0" u="none" strike="noStrike">
              <a:solidFill>
                <a:srgbClr val="000000"/>
              </a:solidFill>
              <a:effectLst/>
              <a:uFillTx/>
              <a:latin typeface="Arial"/>
            </a:endParaRPr>
          </a:p>
        </p:txBody>
      </p:sp>
      <p:sp>
        <p:nvSpPr>
          <p:cNvPr id="590" name="Rectangle 8"/>
          <p:cNvSpPr/>
          <p:nvPr/>
        </p:nvSpPr>
        <p:spPr>
          <a:xfrm>
            <a:off x="3429000" y="2468880"/>
            <a:ext cx="2514240" cy="2520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endParaRPr lang="en-US" sz="1800" b="0" u="none" strike="noStrike">
              <a:solidFill>
                <a:schemeClr val="lt1"/>
              </a:solidFill>
              <a:effectLst/>
              <a:uFillTx/>
              <a:latin typeface="Calibri"/>
            </a:endParaRPr>
          </a:p>
        </p:txBody>
      </p:sp>
      <p:sp>
        <p:nvSpPr>
          <p:cNvPr id="591" name="TextBox 9"/>
          <p:cNvSpPr/>
          <p:nvPr/>
        </p:nvSpPr>
        <p:spPr>
          <a:xfrm>
            <a:off x="3429000" y="2597040"/>
            <a:ext cx="2514240" cy="5025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800" b="1" u="none" strike="noStrike">
                <a:solidFill>
                  <a:srgbClr val="067647"/>
                </a:solidFill>
                <a:effectLst/>
                <a:uFillTx/>
                <a:latin typeface="Georgia"/>
              </a:rPr>
              <a:t>0</a:t>
            </a:r>
            <a:endParaRPr lang="en-US" sz="2800" b="0" u="none" strike="noStrike">
              <a:solidFill>
                <a:srgbClr val="000000"/>
              </a:solidFill>
              <a:effectLst/>
              <a:uFillTx/>
              <a:latin typeface="Arial"/>
            </a:endParaRPr>
          </a:p>
        </p:txBody>
      </p:sp>
      <p:sp>
        <p:nvSpPr>
          <p:cNvPr id="592" name="TextBox 10"/>
          <p:cNvSpPr/>
          <p:nvPr/>
        </p:nvSpPr>
        <p:spPr>
          <a:xfrm>
            <a:off x="3429000" y="3127320"/>
            <a:ext cx="2514240" cy="105120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Uncited numeric claims — the validated answer is the only servable type and strips them before the object exists</a:t>
            </a:r>
            <a:endParaRPr lang="en-US" sz="1000" b="0" u="none" strike="noStrike">
              <a:solidFill>
                <a:srgbClr val="000000"/>
              </a:solidFill>
              <a:effectLst/>
              <a:uFillTx/>
              <a:latin typeface="Arial"/>
            </a:endParaRPr>
          </a:p>
        </p:txBody>
      </p:sp>
      <p:sp>
        <p:nvSpPr>
          <p:cNvPr id="593" name="Rectangle 11"/>
          <p:cNvSpPr/>
          <p:nvPr/>
        </p:nvSpPr>
        <p:spPr>
          <a:xfrm>
            <a:off x="6199560" y="2468880"/>
            <a:ext cx="2514240" cy="2520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endParaRPr lang="en-US" sz="1800" b="0" u="none" strike="noStrike">
              <a:solidFill>
                <a:schemeClr val="lt1"/>
              </a:solidFill>
              <a:effectLst/>
              <a:uFillTx/>
              <a:latin typeface="Calibri"/>
            </a:endParaRPr>
          </a:p>
        </p:txBody>
      </p:sp>
      <p:sp>
        <p:nvSpPr>
          <p:cNvPr id="594" name="TextBox 12"/>
          <p:cNvSpPr/>
          <p:nvPr/>
        </p:nvSpPr>
        <p:spPr>
          <a:xfrm>
            <a:off x="6199560" y="2597040"/>
            <a:ext cx="2514240" cy="5025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800" b="1" u="none" strike="noStrike">
                <a:solidFill>
                  <a:srgbClr val="067647"/>
                </a:solidFill>
                <a:effectLst/>
                <a:uFillTx/>
                <a:latin typeface="Georgia"/>
              </a:rPr>
              <a:t>0</a:t>
            </a:r>
            <a:endParaRPr lang="en-US" sz="2800" b="0" u="none" strike="noStrike">
              <a:solidFill>
                <a:srgbClr val="000000"/>
              </a:solidFill>
              <a:effectLst/>
              <a:uFillTx/>
              <a:latin typeface="Arial"/>
            </a:endParaRPr>
          </a:p>
        </p:txBody>
      </p:sp>
      <p:sp>
        <p:nvSpPr>
          <p:cNvPr id="595" name="TextBox 13"/>
          <p:cNvSpPr/>
          <p:nvPr/>
        </p:nvSpPr>
        <p:spPr>
          <a:xfrm>
            <a:off x="6199560" y="3127320"/>
            <a:ext cx="2514240" cy="105120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Fabricated values served by the API gateway — every route either computes or refuses with a ticket</a:t>
            </a:r>
            <a:endParaRPr lang="en-US" sz="1000" b="0" u="none" strike="noStrike">
              <a:solidFill>
                <a:srgbClr val="000000"/>
              </a:solidFill>
              <a:effectLst/>
              <a:uFillTx/>
              <a:latin typeface="Arial"/>
            </a:endParaRPr>
          </a:p>
        </p:txBody>
      </p:sp>
      <p:sp>
        <p:nvSpPr>
          <p:cNvPr id="596" name="Rectangle 14"/>
          <p:cNvSpPr/>
          <p:nvPr/>
        </p:nvSpPr>
        <p:spPr>
          <a:xfrm>
            <a:off x="8970120" y="2468880"/>
            <a:ext cx="2514240" cy="25200"/>
          </a:xfrm>
          <a:prstGeom prst="rect">
            <a:avLst/>
          </a:prstGeom>
          <a:solidFill>
            <a:srgbClr val="0D4A8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endParaRPr lang="en-US" sz="1800" b="0" u="none" strike="noStrike">
              <a:solidFill>
                <a:schemeClr val="lt1"/>
              </a:solidFill>
              <a:effectLst/>
              <a:uFillTx/>
              <a:latin typeface="Calibri"/>
            </a:endParaRPr>
          </a:p>
        </p:txBody>
      </p:sp>
      <p:sp>
        <p:nvSpPr>
          <p:cNvPr id="597" name="TextBox 15"/>
          <p:cNvSpPr/>
          <p:nvPr/>
        </p:nvSpPr>
        <p:spPr>
          <a:xfrm>
            <a:off x="8970120" y="2597040"/>
            <a:ext cx="2514240" cy="5025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800" b="1" u="none" strike="noStrike">
                <a:solidFill>
                  <a:srgbClr val="0D4A85"/>
                </a:solidFill>
                <a:effectLst/>
                <a:uFillTx/>
                <a:latin typeface="Georgia"/>
              </a:rPr>
              <a:t>2,318</a:t>
            </a:r>
            <a:endParaRPr lang="en-US" sz="2800" b="0" u="none" strike="noStrike">
              <a:solidFill>
                <a:srgbClr val="000000"/>
              </a:solidFill>
              <a:effectLst/>
              <a:uFillTx/>
              <a:latin typeface="Arial"/>
            </a:endParaRPr>
          </a:p>
        </p:txBody>
      </p:sp>
      <p:sp>
        <p:nvSpPr>
          <p:cNvPr id="598" name="TextBox 16"/>
          <p:cNvSpPr/>
          <p:nvPr/>
        </p:nvSpPr>
        <p:spPr>
          <a:xfrm>
            <a:off x="8970120" y="3127320"/>
            <a:ext cx="2514240" cy="105120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Tests green on every commit, alongside grounding and schema-compatibility gates</a:t>
            </a:r>
            <a:endParaRPr lang="en-US" sz="1000" b="0" u="none" strike="noStrike">
              <a:solidFill>
                <a:srgbClr val="000000"/>
              </a:solidFill>
              <a:effectLst/>
              <a:uFillTx/>
              <a:latin typeface="Arial"/>
            </a:endParaRPr>
          </a:p>
        </p:txBody>
      </p:sp>
      <p:sp>
        <p:nvSpPr>
          <p:cNvPr id="599" name="Rectangle 17"/>
          <p:cNvSpPr/>
          <p:nvPr/>
        </p:nvSpPr>
        <p:spPr>
          <a:xfrm>
            <a:off x="658440" y="4709160"/>
            <a:ext cx="10881000" cy="822600"/>
          </a:xfrm>
          <a:prstGeom prst="rect">
            <a:avLst/>
          </a:prstGeom>
          <a:solidFill>
            <a:srgbClr val="E8F5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00" name="Rectangle 18"/>
          <p:cNvSpPr/>
          <p:nvPr/>
        </p:nvSpPr>
        <p:spPr>
          <a:xfrm>
            <a:off x="658440" y="4709160"/>
            <a:ext cx="36360" cy="82260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01" name="TextBox 19"/>
          <p:cNvSpPr/>
          <p:nvPr/>
        </p:nvSpPr>
        <p:spPr>
          <a:xfrm>
            <a:off x="859680" y="4827960"/>
            <a:ext cx="10496880" cy="58500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150" b="0" u="none" strike="noStrike">
                <a:solidFill>
                  <a:srgbClr val="475467"/>
                </a:solidFill>
                <a:effectLst/>
                <a:uFillTx/>
                <a:latin typeface="Segoe UI"/>
              </a:rPr>
              <a:t>An alert cannot be created without an owner, a deadline and a recommended action. Without all three it is just a notification — and once it is sitting in a queue, nobody can tell the difference.</a:t>
            </a:r>
            <a:endParaRPr lang="en-US" sz="1150" b="0" u="none" strike="noStrike">
              <a:solidFill>
                <a:srgbClr val="000000"/>
              </a:solidFill>
              <a:effectLst/>
              <a:uFillTx/>
              <a:latin typeface="Arial"/>
            </a:endParaRPr>
          </a:p>
        </p:txBody>
      </p:sp>
      <p:sp>
        <p:nvSpPr>
          <p:cNvPr id="602" name="Rectangle 20"/>
          <p:cNvSpPr/>
          <p:nvPr/>
        </p:nvSpPr>
        <p:spPr>
          <a:xfrm>
            <a:off x="658440" y="5715000"/>
            <a:ext cx="10881000" cy="731160"/>
          </a:xfrm>
          <a:prstGeom prst="rect">
            <a:avLst/>
          </a:prstGeom>
          <a:solidFill>
            <a:srgbClr val="EEF4F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03" name="Rectangle 21"/>
          <p:cNvSpPr/>
          <p:nvPr/>
        </p:nvSpPr>
        <p:spPr>
          <a:xfrm>
            <a:off x="658440" y="5715000"/>
            <a:ext cx="36360" cy="731160"/>
          </a:xfrm>
          <a:prstGeom prst="rect">
            <a:avLst/>
          </a:prstGeom>
          <a:solidFill>
            <a:srgbClr val="2166A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04" name="TextBox 22"/>
          <p:cNvSpPr/>
          <p:nvPr/>
        </p:nvSpPr>
        <p:spPr>
          <a:xfrm>
            <a:off x="859680" y="5833800"/>
            <a:ext cx="10496880" cy="49356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150" b="0" u="none" strike="noStrike">
                <a:solidFill>
                  <a:srgbClr val="475467"/>
                </a:solidFill>
                <a:effectLst/>
                <a:uFillTx/>
                <a:latin typeface="Segoe UI"/>
              </a:rPr>
              <a:t>The frontend cannot compute an EMI: a build gate fails the project if any screen does arithmetic on a money figure. Every number on screen arrives from the backend carrying its model id and version.</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05" name="TextBox 1"/>
          <p:cNvSpPr/>
          <p:nvPr/>
        </p:nvSpPr>
        <p:spPr>
          <a:xfrm>
            <a:off x="11338560" y="384120"/>
            <a:ext cx="548280" cy="228240"/>
          </a:xfrm>
          <a:prstGeom prst="rect">
            <a:avLst/>
          </a:prstGeom>
          <a:noFill/>
          <a:ln w="0">
            <a:noFill/>
          </a:ln>
        </p:spPr>
        <p:style>
          <a:lnRef idx="0"/>
          <a:fillRef idx="0"/>
          <a:effectRef idx="0"/>
          <a:fontRef idx="minor"/>
        </p:style>
        <p:txBody>
          <a:bodyPr lIns="0" tIns="0" rIns="0" bIns="0" anchor="t">
            <a:spAutoFit/>
          </a:bodyPr>
          <a:p>
            <a:pPr algn="r" defTabSz="457200">
              <a:lnSpc>
                <a:spcPct val="100000"/>
              </a:lnSpc>
            </a:pPr>
            <a:r>
              <a:rPr lang="en-US" sz="900" b="0" u="none" strike="noStrike">
                <a:solidFill>
                  <a:srgbClr val="6B7C93"/>
                </a:solidFill>
                <a:effectLst/>
                <a:uFillTx/>
                <a:latin typeface="Consolas"/>
              </a:rPr>
              <a:t>17</a:t>
            </a:r>
            <a:endParaRPr lang="en-US" sz="900" b="0" u="none" strike="noStrike">
              <a:solidFill>
                <a:srgbClr val="000000"/>
              </a:solidFill>
              <a:effectLst/>
              <a:uFillTx/>
              <a:latin typeface="Arial"/>
            </a:endParaRPr>
          </a:p>
        </p:txBody>
      </p:sp>
      <p:sp>
        <p:nvSpPr>
          <p:cNvPr id="606" name="TextBox 2"/>
          <p:cNvSpPr/>
          <p:nvPr/>
        </p:nvSpPr>
        <p:spPr>
          <a:xfrm>
            <a:off x="658440" y="457200"/>
            <a:ext cx="10058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0" u="none" strike="noStrike">
                <a:solidFill>
                  <a:srgbClr val="2166A3"/>
                </a:solidFill>
                <a:effectLst/>
                <a:uFillTx/>
                <a:latin typeface="Consolas"/>
              </a:rPr>
              <a:t>WHAT BUILDING IT FOUND</a:t>
            </a:r>
            <a:endParaRPr lang="en-US" sz="1050" b="0" u="none" strike="noStrike">
              <a:solidFill>
                <a:srgbClr val="000000"/>
              </a:solidFill>
              <a:effectLst/>
              <a:uFillTx/>
              <a:latin typeface="Arial"/>
            </a:endParaRPr>
          </a:p>
        </p:txBody>
      </p:sp>
      <p:sp>
        <p:nvSpPr>
          <p:cNvPr id="607" name="TextBox 3"/>
          <p:cNvSpPr/>
          <p:nvPr/>
        </p:nvSpPr>
        <p:spPr>
          <a:xfrm>
            <a:off x="658440" y="777240"/>
            <a:ext cx="10423800" cy="914040"/>
          </a:xfrm>
          <a:prstGeom prst="rect">
            <a:avLst/>
          </a:prstGeom>
          <a:noFill/>
          <a:ln w="0">
            <a:noFill/>
          </a:ln>
        </p:spPr>
        <p:style>
          <a:lnRef idx="0"/>
          <a:fillRef idx="0"/>
          <a:effectRef idx="0"/>
          <a:fontRef idx="minor"/>
        </p:style>
        <p:txBody>
          <a:bodyPr lIns="0" tIns="0" rIns="0" bIns="0" anchor="t">
            <a:spAutoFit/>
          </a:bodyPr>
          <a:p>
            <a:pPr defTabSz="457200">
              <a:lnSpc>
                <a:spcPct val="95000"/>
              </a:lnSpc>
            </a:pPr>
            <a:r>
              <a:rPr lang="en-US" sz="3200" b="1" u="none" strike="noStrike">
                <a:solidFill>
                  <a:srgbClr val="0A3A68"/>
                </a:solidFill>
                <a:effectLst/>
                <a:uFillTx/>
                <a:latin typeface="Georgia"/>
              </a:rPr>
              <a:t>82 findings raised against the specification</a:t>
            </a:r>
            <a:endParaRPr lang="en-US" sz="3200" b="0" u="none" strike="noStrike">
              <a:solidFill>
                <a:srgbClr val="000000"/>
              </a:solidFill>
              <a:effectLst/>
              <a:uFillTx/>
              <a:latin typeface="Arial"/>
            </a:endParaRPr>
          </a:p>
        </p:txBody>
      </p:sp>
      <p:sp>
        <p:nvSpPr>
          <p:cNvPr id="608" name="TextBox 4"/>
          <p:cNvSpPr/>
          <p:nvPr/>
        </p:nvSpPr>
        <p:spPr>
          <a:xfrm>
            <a:off x="658440" y="1691640"/>
            <a:ext cx="10515240" cy="365400"/>
          </a:xfrm>
          <a:prstGeom prst="rect">
            <a:avLst/>
          </a:prstGeom>
          <a:noFill/>
          <a:ln w="0">
            <a:noFill/>
          </a:ln>
        </p:spPr>
        <p:style>
          <a:lnRef idx="0"/>
          <a:fillRef idx="0"/>
          <a:effectRef idx="0"/>
          <a:fontRef idx="minor"/>
        </p:style>
        <p:txBody>
          <a:bodyPr lIns="0" tIns="0" rIns="0" bIns="0" anchor="t">
            <a:spAutoFit/>
          </a:bodyPr>
          <a:p>
            <a:pPr defTabSz="457200">
              <a:lnSpc>
                <a:spcPct val="125000"/>
              </a:lnSpc>
            </a:pPr>
            <a:r>
              <a:rPr lang="en-US" sz="1200" b="0" u="none" strike="noStrike">
                <a:solidFill>
                  <a:srgbClr val="475467"/>
                </a:solidFill>
                <a:effectLst/>
                <a:uFillTx/>
                <a:latin typeface="Segoe UI"/>
              </a:rPr>
              <a:t>Writing the code is the only reliable way to test a design document. Each of these is a place the design looked finished until someone had to produce an actual number.</a:t>
            </a:r>
            <a:endParaRPr lang="en-US" sz="1200" b="0" u="none" strike="noStrike">
              <a:solidFill>
                <a:srgbClr val="000000"/>
              </a:solidFill>
              <a:effectLst/>
              <a:uFillTx/>
              <a:latin typeface="Arial"/>
            </a:endParaRPr>
          </a:p>
        </p:txBody>
      </p:sp>
      <p:sp>
        <p:nvSpPr>
          <p:cNvPr id="609" name="TextBox 5"/>
          <p:cNvSpPr/>
          <p:nvPr/>
        </p:nvSpPr>
        <p:spPr>
          <a:xfrm>
            <a:off x="658440" y="2331720"/>
            <a:ext cx="86832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1" u="none" strike="noStrike">
                <a:solidFill>
                  <a:srgbClr val="0D4A85"/>
                </a:solidFill>
                <a:effectLst/>
                <a:uFillTx/>
                <a:latin typeface="Consolas"/>
              </a:rPr>
              <a:t>P4-F1</a:t>
            </a:r>
            <a:endParaRPr lang="en-US" sz="1050" b="0" u="none" strike="noStrike">
              <a:solidFill>
                <a:srgbClr val="000000"/>
              </a:solidFill>
              <a:effectLst/>
              <a:uFillTx/>
              <a:latin typeface="Arial"/>
            </a:endParaRPr>
          </a:p>
        </p:txBody>
      </p:sp>
      <p:sp>
        <p:nvSpPr>
          <p:cNvPr id="610" name="TextBox 6"/>
          <p:cNvSpPr/>
          <p:nvPr/>
        </p:nvSpPr>
        <p:spPr>
          <a:xfrm>
            <a:off x="1618560" y="2331720"/>
            <a:ext cx="7589160" cy="6854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475467"/>
                </a:solidFill>
                <a:effectLst/>
                <a:uFillTx/>
                <a:latin typeface="Segoe UI"/>
              </a:rPr>
              <a:t>The design told us to watch a number that never changes, whatever the data does. It could never have detected anything. The real signal was one step away.</a:t>
            </a:r>
            <a:endParaRPr lang="en-US" sz="1100" b="0" u="none" strike="noStrike">
              <a:solidFill>
                <a:srgbClr val="000000"/>
              </a:solidFill>
              <a:effectLst/>
              <a:uFillTx/>
              <a:latin typeface="Arial"/>
            </a:endParaRPr>
          </a:p>
        </p:txBody>
      </p:sp>
      <p:sp>
        <p:nvSpPr>
          <p:cNvPr id="611" name="TextBox 7"/>
          <p:cNvSpPr/>
          <p:nvPr/>
        </p:nvSpPr>
        <p:spPr>
          <a:xfrm>
            <a:off x="9372600" y="2331720"/>
            <a:ext cx="214848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6B7C93"/>
                </a:solidFill>
                <a:effectLst/>
                <a:uFillTx/>
                <a:latin typeface="Consolas"/>
              </a:rPr>
              <a:t>Correction</a:t>
            </a:r>
            <a:endParaRPr lang="en-US" sz="1000" b="0" u="none" strike="noStrike">
              <a:solidFill>
                <a:srgbClr val="000000"/>
              </a:solidFill>
              <a:effectLst/>
              <a:uFillTx/>
              <a:latin typeface="Arial"/>
            </a:endParaRPr>
          </a:p>
        </p:txBody>
      </p:sp>
      <p:sp>
        <p:nvSpPr>
          <p:cNvPr id="612" name="Rectangle 8"/>
          <p:cNvSpPr/>
          <p:nvPr/>
        </p:nvSpPr>
        <p:spPr>
          <a:xfrm>
            <a:off x="658440" y="3044880"/>
            <a:ext cx="1088100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613" name="TextBox 9"/>
          <p:cNvSpPr/>
          <p:nvPr/>
        </p:nvSpPr>
        <p:spPr>
          <a:xfrm>
            <a:off x="658440" y="3173040"/>
            <a:ext cx="86832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1" u="none" strike="noStrike">
                <a:solidFill>
                  <a:srgbClr val="0D4A85"/>
                </a:solidFill>
                <a:effectLst/>
                <a:uFillTx/>
                <a:latin typeface="Consolas"/>
              </a:rPr>
              <a:t>P6-F1</a:t>
            </a:r>
            <a:endParaRPr lang="en-US" sz="1050" b="0" u="none" strike="noStrike">
              <a:solidFill>
                <a:srgbClr val="000000"/>
              </a:solidFill>
              <a:effectLst/>
              <a:uFillTx/>
              <a:latin typeface="Arial"/>
            </a:endParaRPr>
          </a:p>
        </p:txBody>
      </p:sp>
      <p:sp>
        <p:nvSpPr>
          <p:cNvPr id="614" name="TextBox 10"/>
          <p:cNvSpPr/>
          <p:nvPr/>
        </p:nvSpPr>
        <p:spPr>
          <a:xfrm>
            <a:off x="1618560" y="3173040"/>
            <a:ext cx="7589160" cy="6854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475467"/>
                </a:solidFill>
                <a:effectLst/>
                <a:uFillTx/>
                <a:latin typeface="Segoe UI"/>
              </a:rPr>
              <a:t>You cannot tell whether an action helped unless you also left some customers alone. Collecting more data does not fix it — it just makes the wrong answer look confident.</a:t>
            </a:r>
            <a:endParaRPr lang="en-US" sz="1100" b="0" u="none" strike="noStrike">
              <a:solidFill>
                <a:srgbClr val="000000"/>
              </a:solidFill>
              <a:effectLst/>
              <a:uFillTx/>
              <a:latin typeface="Arial"/>
            </a:endParaRPr>
          </a:p>
        </p:txBody>
      </p:sp>
      <p:sp>
        <p:nvSpPr>
          <p:cNvPr id="615" name="TextBox 11"/>
          <p:cNvSpPr/>
          <p:nvPr/>
        </p:nvSpPr>
        <p:spPr>
          <a:xfrm>
            <a:off x="9372600" y="3173040"/>
            <a:ext cx="214848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6B7C93"/>
                </a:solidFill>
                <a:effectLst/>
                <a:uFillTx/>
                <a:latin typeface="Consolas"/>
              </a:rPr>
              <a:t>Method</a:t>
            </a:r>
            <a:endParaRPr lang="en-US" sz="1000" b="0" u="none" strike="noStrike">
              <a:solidFill>
                <a:srgbClr val="000000"/>
              </a:solidFill>
              <a:effectLst/>
              <a:uFillTx/>
              <a:latin typeface="Arial"/>
            </a:endParaRPr>
          </a:p>
        </p:txBody>
      </p:sp>
      <p:sp>
        <p:nvSpPr>
          <p:cNvPr id="616" name="Rectangle 12"/>
          <p:cNvSpPr/>
          <p:nvPr/>
        </p:nvSpPr>
        <p:spPr>
          <a:xfrm>
            <a:off x="658440" y="3886200"/>
            <a:ext cx="1088100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617" name="TextBox 13"/>
          <p:cNvSpPr/>
          <p:nvPr/>
        </p:nvSpPr>
        <p:spPr>
          <a:xfrm>
            <a:off x="658440" y="4014360"/>
            <a:ext cx="86832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1" u="none" strike="noStrike">
                <a:solidFill>
                  <a:srgbClr val="0D4A85"/>
                </a:solidFill>
                <a:effectLst/>
                <a:uFillTx/>
                <a:latin typeface="Consolas"/>
              </a:rPr>
              <a:t>P7-F1</a:t>
            </a:r>
            <a:endParaRPr lang="en-US" sz="1050" b="0" u="none" strike="noStrike">
              <a:solidFill>
                <a:srgbClr val="000000"/>
              </a:solidFill>
              <a:effectLst/>
              <a:uFillTx/>
              <a:latin typeface="Arial"/>
            </a:endParaRPr>
          </a:p>
        </p:txBody>
      </p:sp>
      <p:sp>
        <p:nvSpPr>
          <p:cNvPr id="618" name="TextBox 14"/>
          <p:cNvSpPr/>
          <p:nvPr/>
        </p:nvSpPr>
        <p:spPr>
          <a:xfrm>
            <a:off x="1618560" y="4014360"/>
            <a:ext cx="7589160" cy="6854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475467"/>
                </a:solidFill>
                <a:effectLst/>
                <a:uFillTx/>
                <a:latin typeface="Segoe UI"/>
              </a:rPr>
              <a:t>The screen design brief points at sections of the specification that do not exist. The list of screens it depends on cannot be recovered.</a:t>
            </a:r>
            <a:endParaRPr lang="en-US" sz="1100" b="0" u="none" strike="noStrike">
              <a:solidFill>
                <a:srgbClr val="000000"/>
              </a:solidFill>
              <a:effectLst/>
              <a:uFillTx/>
              <a:latin typeface="Arial"/>
            </a:endParaRPr>
          </a:p>
        </p:txBody>
      </p:sp>
      <p:sp>
        <p:nvSpPr>
          <p:cNvPr id="619" name="TextBox 15"/>
          <p:cNvSpPr/>
          <p:nvPr/>
        </p:nvSpPr>
        <p:spPr>
          <a:xfrm>
            <a:off x="9372600" y="4014360"/>
            <a:ext cx="214848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6B7C93"/>
                </a:solidFill>
                <a:effectLst/>
                <a:uFillTx/>
                <a:latin typeface="Consolas"/>
              </a:rPr>
              <a:t>Document defect</a:t>
            </a:r>
            <a:endParaRPr lang="en-US" sz="1000" b="0" u="none" strike="noStrike">
              <a:solidFill>
                <a:srgbClr val="000000"/>
              </a:solidFill>
              <a:effectLst/>
              <a:uFillTx/>
              <a:latin typeface="Arial"/>
            </a:endParaRPr>
          </a:p>
        </p:txBody>
      </p:sp>
      <p:sp>
        <p:nvSpPr>
          <p:cNvPr id="620" name="Rectangle 16"/>
          <p:cNvSpPr/>
          <p:nvPr/>
        </p:nvSpPr>
        <p:spPr>
          <a:xfrm>
            <a:off x="658440" y="4727520"/>
            <a:ext cx="1088100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621" name="TextBox 17"/>
          <p:cNvSpPr/>
          <p:nvPr/>
        </p:nvSpPr>
        <p:spPr>
          <a:xfrm>
            <a:off x="658440" y="4855320"/>
            <a:ext cx="86832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1" u="none" strike="noStrike">
                <a:solidFill>
                  <a:srgbClr val="0D4A85"/>
                </a:solidFill>
                <a:effectLst/>
                <a:uFillTx/>
                <a:latin typeface="Consolas"/>
              </a:rPr>
              <a:t>P5-F2</a:t>
            </a:r>
            <a:endParaRPr lang="en-US" sz="1050" b="0" u="none" strike="noStrike">
              <a:solidFill>
                <a:srgbClr val="000000"/>
              </a:solidFill>
              <a:effectLst/>
              <a:uFillTx/>
              <a:latin typeface="Arial"/>
            </a:endParaRPr>
          </a:p>
        </p:txBody>
      </p:sp>
      <p:sp>
        <p:nvSpPr>
          <p:cNvPr id="622" name="TextBox 18"/>
          <p:cNvSpPr/>
          <p:nvPr/>
        </p:nvSpPr>
        <p:spPr>
          <a:xfrm>
            <a:off x="1618560" y="4855320"/>
            <a:ext cx="7589160" cy="6854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475467"/>
                </a:solidFill>
                <a:effectLst/>
                <a:uFillTx/>
                <a:latin typeface="Segoe UI"/>
              </a:rPr>
              <a:t>Two policy documents can both be current, with the newer one changing only part of the older. Dates alone cannot express that, so the assistant would pick one at random.</a:t>
            </a:r>
            <a:endParaRPr lang="en-US" sz="1100" b="0" u="none" strike="noStrike">
              <a:solidFill>
                <a:srgbClr val="000000"/>
              </a:solidFill>
              <a:effectLst/>
              <a:uFillTx/>
              <a:latin typeface="Arial"/>
            </a:endParaRPr>
          </a:p>
        </p:txBody>
      </p:sp>
      <p:sp>
        <p:nvSpPr>
          <p:cNvPr id="623" name="TextBox 19"/>
          <p:cNvSpPr/>
          <p:nvPr/>
        </p:nvSpPr>
        <p:spPr>
          <a:xfrm>
            <a:off x="9372600" y="4855320"/>
            <a:ext cx="214848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6B7C93"/>
                </a:solidFill>
                <a:effectLst/>
                <a:uFillTx/>
                <a:latin typeface="Consolas"/>
              </a:rPr>
              <a:t>Gap</a:t>
            </a:r>
            <a:endParaRPr lang="en-US" sz="1000" b="0" u="none" strike="noStrike">
              <a:solidFill>
                <a:srgbClr val="000000"/>
              </a:solidFill>
              <a:effectLst/>
              <a:uFillTx/>
              <a:latin typeface="Arial"/>
            </a:endParaRPr>
          </a:p>
        </p:txBody>
      </p:sp>
      <p:sp>
        <p:nvSpPr>
          <p:cNvPr id="624" name="Rectangle 20"/>
          <p:cNvSpPr/>
          <p:nvPr/>
        </p:nvSpPr>
        <p:spPr>
          <a:xfrm>
            <a:off x="658440" y="5568840"/>
            <a:ext cx="1088100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625" name="TextBox 21"/>
          <p:cNvSpPr/>
          <p:nvPr/>
        </p:nvSpPr>
        <p:spPr>
          <a:xfrm>
            <a:off x="658440" y="5696640"/>
            <a:ext cx="86832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1" u="none" strike="noStrike">
                <a:solidFill>
                  <a:srgbClr val="0D4A85"/>
                </a:solidFill>
                <a:effectLst/>
                <a:uFillTx/>
                <a:latin typeface="Consolas"/>
              </a:rPr>
              <a:t>P4-F11</a:t>
            </a:r>
            <a:endParaRPr lang="en-US" sz="1050" b="0" u="none" strike="noStrike">
              <a:solidFill>
                <a:srgbClr val="000000"/>
              </a:solidFill>
              <a:effectLst/>
              <a:uFillTx/>
              <a:latin typeface="Arial"/>
            </a:endParaRPr>
          </a:p>
        </p:txBody>
      </p:sp>
      <p:sp>
        <p:nvSpPr>
          <p:cNvPr id="626" name="TextBox 22"/>
          <p:cNvSpPr/>
          <p:nvPr/>
        </p:nvSpPr>
        <p:spPr>
          <a:xfrm>
            <a:off x="1618560" y="5696640"/>
            <a:ext cx="7589160" cy="6854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475467"/>
                </a:solidFill>
                <a:effectLst/>
                <a:uFillTx/>
                <a:latin typeface="Segoe UI"/>
              </a:rPr>
              <a:t>We corrected ourselves: our first score counted defaults the system had no chance of seeing, so we were measuring the calendar rather than the model.</a:t>
            </a:r>
            <a:endParaRPr lang="en-US" sz="1100" b="0" u="none" strike="noStrike">
              <a:solidFill>
                <a:srgbClr val="000000"/>
              </a:solidFill>
              <a:effectLst/>
              <a:uFillTx/>
              <a:latin typeface="Arial"/>
            </a:endParaRPr>
          </a:p>
        </p:txBody>
      </p:sp>
      <p:sp>
        <p:nvSpPr>
          <p:cNvPr id="627" name="TextBox 23"/>
          <p:cNvSpPr/>
          <p:nvPr/>
        </p:nvSpPr>
        <p:spPr>
          <a:xfrm>
            <a:off x="9372600" y="5696640"/>
            <a:ext cx="214848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0" u="none" strike="noStrike">
                <a:solidFill>
                  <a:srgbClr val="6B7C93"/>
                </a:solidFill>
                <a:effectLst/>
                <a:uFillTx/>
                <a:latin typeface="Consolas"/>
              </a:rPr>
              <a:t>Self-correction</a:t>
            </a:r>
            <a:endParaRPr lang="en-US" sz="1000" b="0" u="none" strike="noStrike">
              <a:solidFill>
                <a:srgbClr val="000000"/>
              </a:solidFill>
              <a:effectLst/>
              <a:uFillTx/>
              <a:latin typeface="Arial"/>
            </a:endParaRPr>
          </a:p>
        </p:txBody>
      </p:sp>
      <p:sp>
        <p:nvSpPr>
          <p:cNvPr id="628" name="Rectangle 24"/>
          <p:cNvSpPr/>
          <p:nvPr/>
        </p:nvSpPr>
        <p:spPr>
          <a:xfrm>
            <a:off x="658440" y="6409800"/>
            <a:ext cx="1088100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29" name="TextBox 1"/>
          <p:cNvSpPr/>
          <p:nvPr/>
        </p:nvSpPr>
        <p:spPr>
          <a:xfrm>
            <a:off x="11338560" y="384120"/>
            <a:ext cx="548280" cy="228240"/>
          </a:xfrm>
          <a:prstGeom prst="rect">
            <a:avLst/>
          </a:prstGeom>
          <a:noFill/>
          <a:ln w="0">
            <a:noFill/>
          </a:ln>
        </p:spPr>
        <p:style>
          <a:lnRef idx="0"/>
          <a:fillRef idx="0"/>
          <a:effectRef idx="0"/>
          <a:fontRef idx="minor"/>
        </p:style>
        <p:txBody>
          <a:bodyPr lIns="0" tIns="0" rIns="0" bIns="0" anchor="t">
            <a:spAutoFit/>
          </a:bodyPr>
          <a:p>
            <a:pPr algn="r" defTabSz="457200">
              <a:lnSpc>
                <a:spcPct val="100000"/>
              </a:lnSpc>
            </a:pPr>
            <a:r>
              <a:rPr lang="en-US" sz="900" b="0" u="none" strike="noStrike">
                <a:solidFill>
                  <a:srgbClr val="6B7C93"/>
                </a:solidFill>
                <a:effectLst/>
                <a:uFillTx/>
                <a:latin typeface="Consolas"/>
              </a:rPr>
              <a:t>18</a:t>
            </a:r>
            <a:endParaRPr lang="en-US" sz="900" b="0" u="none" strike="noStrike">
              <a:solidFill>
                <a:srgbClr val="000000"/>
              </a:solidFill>
              <a:effectLst/>
              <a:uFillTx/>
              <a:latin typeface="Arial"/>
            </a:endParaRPr>
          </a:p>
        </p:txBody>
      </p:sp>
      <p:sp>
        <p:nvSpPr>
          <p:cNvPr id="630" name="TextBox 2"/>
          <p:cNvSpPr/>
          <p:nvPr/>
        </p:nvSpPr>
        <p:spPr>
          <a:xfrm>
            <a:off x="658440" y="457200"/>
            <a:ext cx="10058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0" u="none" strike="noStrike">
                <a:solidFill>
                  <a:srgbClr val="2166A3"/>
                </a:solidFill>
                <a:effectLst/>
                <a:uFillTx/>
                <a:latin typeface="Consolas"/>
              </a:rPr>
              <a:t>IT RUNS</a:t>
            </a:r>
            <a:endParaRPr lang="en-US" sz="1050" b="0" u="none" strike="noStrike">
              <a:solidFill>
                <a:srgbClr val="000000"/>
              </a:solidFill>
              <a:effectLst/>
              <a:uFillTx/>
              <a:latin typeface="Arial"/>
            </a:endParaRPr>
          </a:p>
        </p:txBody>
      </p:sp>
      <p:sp>
        <p:nvSpPr>
          <p:cNvPr id="631" name="TextBox 3"/>
          <p:cNvSpPr/>
          <p:nvPr/>
        </p:nvSpPr>
        <p:spPr>
          <a:xfrm>
            <a:off x="658440" y="777240"/>
            <a:ext cx="10423800" cy="914040"/>
          </a:xfrm>
          <a:prstGeom prst="rect">
            <a:avLst/>
          </a:prstGeom>
          <a:noFill/>
          <a:ln w="0">
            <a:noFill/>
          </a:ln>
        </p:spPr>
        <p:style>
          <a:lnRef idx="0"/>
          <a:fillRef idx="0"/>
          <a:effectRef idx="0"/>
          <a:fontRef idx="minor"/>
        </p:style>
        <p:txBody>
          <a:bodyPr lIns="0" tIns="0" rIns="0" bIns="0" anchor="t">
            <a:spAutoFit/>
          </a:bodyPr>
          <a:p>
            <a:pPr defTabSz="457200">
              <a:lnSpc>
                <a:spcPct val="95000"/>
              </a:lnSpc>
            </a:pPr>
            <a:r>
              <a:rPr lang="en-US" sz="3200" b="1" u="none" strike="noStrike">
                <a:solidFill>
                  <a:srgbClr val="0A3A68"/>
                </a:solidFill>
                <a:effectLst/>
                <a:uFillTx/>
                <a:latin typeface="Georgia"/>
              </a:rPr>
              <a:t>A working stack, end to end</a:t>
            </a:r>
            <a:endParaRPr lang="en-US" sz="3200" b="0" u="none" strike="noStrike">
              <a:solidFill>
                <a:srgbClr val="000000"/>
              </a:solidFill>
              <a:effectLst/>
              <a:uFillTx/>
              <a:latin typeface="Arial"/>
            </a:endParaRPr>
          </a:p>
        </p:txBody>
      </p:sp>
      <p:sp>
        <p:nvSpPr>
          <p:cNvPr id="632" name="TextBox 4"/>
          <p:cNvSpPr/>
          <p:nvPr/>
        </p:nvSpPr>
        <p:spPr>
          <a:xfrm>
            <a:off x="658440" y="1737360"/>
            <a:ext cx="5760360" cy="2377080"/>
          </a:xfrm>
          <a:prstGeom prst="rect">
            <a:avLst/>
          </a:prstGeom>
          <a:noFill/>
          <a:ln w="0">
            <a:noFill/>
          </a:ln>
        </p:spPr>
        <p:style>
          <a:lnRef idx="0"/>
          <a:fillRef idx="0"/>
          <a:effectRef idx="0"/>
          <a:fontRef idx="minor"/>
        </p:style>
        <p:txBody>
          <a:bodyPr lIns="0" tIns="0" rIns="0" bIns="0" anchor="t">
            <a:spAutoFit/>
          </a:bodyPr>
          <a:p>
            <a:pPr defTabSz="457200">
              <a:lnSpc>
                <a:spcPct val="128000"/>
              </a:lnSpc>
              <a:spcAft>
                <a:spcPts val="1100"/>
              </a:spcAft>
            </a:pPr>
            <a:r>
              <a:rPr lang="en-US" sz="1200" b="0" u="none" strike="noStrike">
                <a:solidFill>
                  <a:srgbClr val="475467"/>
                </a:solidFill>
                <a:effectLst/>
                <a:uFillTx/>
                <a:latin typeface="Segoe UI"/>
              </a:rPr>
              <a:t>One backend serves all the screens. Four of its endpoints return numbers the engines actually worked out. Seventeen politely refuse, naming who has to unblock them and why.</a:t>
            </a:r>
            <a:endParaRPr lang="en-US" sz="1200" b="0" u="none" strike="noStrike">
              <a:solidFill>
                <a:srgbClr val="000000"/>
              </a:solidFill>
              <a:effectLst/>
              <a:uFillTx/>
              <a:latin typeface="Arial"/>
            </a:endParaRPr>
          </a:p>
          <a:p>
            <a:pPr defTabSz="457200">
              <a:lnSpc>
                <a:spcPct val="128000"/>
              </a:lnSpc>
            </a:pPr>
            <a:r>
              <a:rPr lang="en-US" sz="1200" b="0" u="none" strike="noStrike">
                <a:solidFill>
                  <a:srgbClr val="475467"/>
                </a:solidFill>
                <a:effectLst/>
                <a:uFillTx/>
                <a:latin typeface="Segoe UI"/>
              </a:rPr>
              <a:t>Every score arriving at a screen must say which model produced it, which version, and which decision it belongs to. A screen literally cannot be given a number without that label — the app rejects it rather than showing it.</a:t>
            </a:r>
            <a:endParaRPr lang="en-US" sz="1200" b="0" u="none" strike="noStrike">
              <a:solidFill>
                <a:srgbClr val="000000"/>
              </a:solidFill>
              <a:effectLst/>
              <a:uFillTx/>
              <a:latin typeface="Arial"/>
            </a:endParaRPr>
          </a:p>
        </p:txBody>
      </p:sp>
      <p:sp>
        <p:nvSpPr>
          <p:cNvPr id="633" name="Rectangle 5"/>
          <p:cNvSpPr/>
          <p:nvPr/>
        </p:nvSpPr>
        <p:spPr>
          <a:xfrm>
            <a:off x="658440" y="4343400"/>
            <a:ext cx="5760360" cy="1691280"/>
          </a:xfrm>
          <a:prstGeom prst="rect">
            <a:avLst/>
          </a:prstGeom>
          <a:solidFill>
            <a:srgbClr val="E8F5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34" name="Rectangle 6"/>
          <p:cNvSpPr/>
          <p:nvPr/>
        </p:nvSpPr>
        <p:spPr>
          <a:xfrm>
            <a:off x="658440" y="4343400"/>
            <a:ext cx="36360" cy="169128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35" name="TextBox 7"/>
          <p:cNvSpPr/>
          <p:nvPr/>
        </p:nvSpPr>
        <p:spPr>
          <a:xfrm>
            <a:off x="859680" y="4462200"/>
            <a:ext cx="5376240" cy="145368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150" b="0" u="none" strike="noStrike">
                <a:solidFill>
                  <a:srgbClr val="475467"/>
                </a:solidFill>
                <a:effectLst/>
                <a:uFillTx/>
                <a:latin typeface="Segoe UI"/>
              </a:rPr>
              <a:t>We checked this by running it, not by claiming it. A browser opens the officer screen, the backend logs the request, and the refusal appears with its owner. A real instalment of ₹11,248.97 travels the whole way from the screen to the pricing engine and back.</a:t>
            </a:r>
            <a:endParaRPr lang="en-US" sz="1150" b="0" u="none" strike="noStrike">
              <a:solidFill>
                <a:srgbClr val="000000"/>
              </a:solidFill>
              <a:effectLst/>
              <a:uFillTx/>
              <a:latin typeface="Arial"/>
            </a:endParaRPr>
          </a:p>
        </p:txBody>
      </p:sp>
      <p:sp>
        <p:nvSpPr>
          <p:cNvPr id="636" name="TextBox 8"/>
          <p:cNvSpPr/>
          <p:nvPr/>
        </p:nvSpPr>
        <p:spPr>
          <a:xfrm>
            <a:off x="6720840" y="1737360"/>
            <a:ext cx="484596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0" u="none" strike="noStrike">
                <a:solidFill>
                  <a:srgbClr val="6B7C93"/>
                </a:solidFill>
                <a:effectLst/>
                <a:uFillTx/>
                <a:latin typeface="Consolas"/>
              </a:rPr>
              <a:t>VERIFICATION PIPELINE</a:t>
            </a:r>
            <a:endParaRPr lang="en-US" sz="950" b="0" u="none" strike="noStrike">
              <a:solidFill>
                <a:srgbClr val="000000"/>
              </a:solidFill>
              <a:effectLst/>
              <a:uFillTx/>
              <a:latin typeface="Arial"/>
            </a:endParaRPr>
          </a:p>
        </p:txBody>
      </p:sp>
      <p:sp>
        <p:nvSpPr>
          <p:cNvPr id="637" name="TextBox 9"/>
          <p:cNvSpPr/>
          <p:nvPr/>
        </p:nvSpPr>
        <p:spPr>
          <a:xfrm>
            <a:off x="6720840" y="214884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make</a:t>
            </a:r>
            <a:endParaRPr lang="en-US" sz="1000" b="0" u="none" strike="noStrike">
              <a:solidFill>
                <a:srgbClr val="000000"/>
              </a:solidFill>
              <a:effectLst/>
              <a:uFillTx/>
              <a:latin typeface="Arial"/>
            </a:endParaRPr>
          </a:p>
        </p:txBody>
      </p:sp>
      <p:sp>
        <p:nvSpPr>
          <p:cNvPr id="638" name="TextBox 10"/>
          <p:cNvSpPr/>
          <p:nvPr/>
        </p:nvSpPr>
        <p:spPr>
          <a:xfrm>
            <a:off x="7543800" y="2148840"/>
            <a:ext cx="402300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check</a:t>
            </a:r>
            <a:endParaRPr lang="en-US" sz="1200" b="0" u="none" strike="noStrike">
              <a:solidFill>
                <a:srgbClr val="000000"/>
              </a:solidFill>
              <a:effectLst/>
              <a:uFillTx/>
              <a:latin typeface="Arial"/>
            </a:endParaRPr>
          </a:p>
        </p:txBody>
      </p:sp>
      <p:sp>
        <p:nvSpPr>
          <p:cNvPr id="639" name="TextBox 11"/>
          <p:cNvSpPr/>
          <p:nvPr/>
        </p:nvSpPr>
        <p:spPr>
          <a:xfrm>
            <a:off x="7543800" y="2363760"/>
            <a:ext cx="402300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grounding + registry + 2,318 tests</a:t>
            </a:r>
            <a:endParaRPr lang="en-US" sz="950" b="0" u="none" strike="noStrike">
              <a:solidFill>
                <a:srgbClr val="000000"/>
              </a:solidFill>
              <a:effectLst/>
              <a:uFillTx/>
              <a:latin typeface="Arial"/>
            </a:endParaRPr>
          </a:p>
        </p:txBody>
      </p:sp>
      <p:sp>
        <p:nvSpPr>
          <p:cNvPr id="640" name="Rectangle 12"/>
          <p:cNvSpPr/>
          <p:nvPr/>
        </p:nvSpPr>
        <p:spPr>
          <a:xfrm>
            <a:off x="6720840" y="2752200"/>
            <a:ext cx="484596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641" name="TextBox 13"/>
          <p:cNvSpPr/>
          <p:nvPr/>
        </p:nvSpPr>
        <p:spPr>
          <a:xfrm>
            <a:off x="6720840" y="293508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make</a:t>
            </a:r>
            <a:endParaRPr lang="en-US" sz="1000" b="0" u="none" strike="noStrike">
              <a:solidFill>
                <a:srgbClr val="000000"/>
              </a:solidFill>
              <a:effectLst/>
              <a:uFillTx/>
              <a:latin typeface="Arial"/>
            </a:endParaRPr>
          </a:p>
        </p:txBody>
      </p:sp>
      <p:sp>
        <p:nvSpPr>
          <p:cNvPr id="642" name="TextBox 14"/>
          <p:cNvSpPr/>
          <p:nvPr/>
        </p:nvSpPr>
        <p:spPr>
          <a:xfrm>
            <a:off x="7543800" y="2935080"/>
            <a:ext cx="402300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gate1…gate6</a:t>
            </a:r>
            <a:endParaRPr lang="en-US" sz="1200" b="0" u="none" strike="noStrike">
              <a:solidFill>
                <a:srgbClr val="000000"/>
              </a:solidFill>
              <a:effectLst/>
              <a:uFillTx/>
              <a:latin typeface="Arial"/>
            </a:endParaRPr>
          </a:p>
        </p:txBody>
      </p:sp>
      <p:sp>
        <p:nvSpPr>
          <p:cNvPr id="643" name="TextBox 15"/>
          <p:cNvSpPr/>
          <p:nvPr/>
        </p:nvSpPr>
        <p:spPr>
          <a:xfrm>
            <a:off x="7543800" y="3150000"/>
            <a:ext cx="402300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six evidence packs, generated never written</a:t>
            </a:r>
            <a:endParaRPr lang="en-US" sz="950" b="0" u="none" strike="noStrike">
              <a:solidFill>
                <a:srgbClr val="000000"/>
              </a:solidFill>
              <a:effectLst/>
              <a:uFillTx/>
              <a:latin typeface="Arial"/>
            </a:endParaRPr>
          </a:p>
        </p:txBody>
      </p:sp>
      <p:sp>
        <p:nvSpPr>
          <p:cNvPr id="644" name="Rectangle 16"/>
          <p:cNvSpPr/>
          <p:nvPr/>
        </p:nvSpPr>
        <p:spPr>
          <a:xfrm>
            <a:off x="6720840" y="3538800"/>
            <a:ext cx="484596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645" name="TextBox 17"/>
          <p:cNvSpPr/>
          <p:nvPr/>
        </p:nvSpPr>
        <p:spPr>
          <a:xfrm>
            <a:off x="6720840" y="372168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make</a:t>
            </a:r>
            <a:endParaRPr lang="en-US" sz="1000" b="0" u="none" strike="noStrike">
              <a:solidFill>
                <a:srgbClr val="000000"/>
              </a:solidFill>
              <a:effectLst/>
              <a:uFillTx/>
              <a:latin typeface="Arial"/>
            </a:endParaRPr>
          </a:p>
        </p:txBody>
      </p:sp>
      <p:sp>
        <p:nvSpPr>
          <p:cNvPr id="646" name="TextBox 18"/>
          <p:cNvSpPr/>
          <p:nvPr/>
        </p:nvSpPr>
        <p:spPr>
          <a:xfrm>
            <a:off x="7543800" y="3721680"/>
            <a:ext cx="402300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trackp-p1/p3/p4</a:t>
            </a:r>
            <a:endParaRPr lang="en-US" sz="1200" b="0" u="none" strike="noStrike">
              <a:solidFill>
                <a:srgbClr val="000000"/>
              </a:solidFill>
              <a:effectLst/>
              <a:uFillTx/>
              <a:latin typeface="Arial"/>
            </a:endParaRPr>
          </a:p>
        </p:txBody>
      </p:sp>
      <p:sp>
        <p:nvSpPr>
          <p:cNvPr id="647" name="TextBox 19"/>
          <p:cNvSpPr/>
          <p:nvPr/>
        </p:nvSpPr>
        <p:spPr>
          <a:xfrm>
            <a:off x="7543800" y="3936600"/>
            <a:ext cx="402300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full pipelines on real public data</a:t>
            </a:r>
            <a:endParaRPr lang="en-US" sz="950" b="0" u="none" strike="noStrike">
              <a:solidFill>
                <a:srgbClr val="000000"/>
              </a:solidFill>
              <a:effectLst/>
              <a:uFillTx/>
              <a:latin typeface="Arial"/>
            </a:endParaRPr>
          </a:p>
        </p:txBody>
      </p:sp>
      <p:sp>
        <p:nvSpPr>
          <p:cNvPr id="648" name="Rectangle 20"/>
          <p:cNvSpPr/>
          <p:nvPr/>
        </p:nvSpPr>
        <p:spPr>
          <a:xfrm>
            <a:off x="6720840" y="4325040"/>
            <a:ext cx="484596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649" name="TextBox 21"/>
          <p:cNvSpPr/>
          <p:nvPr/>
        </p:nvSpPr>
        <p:spPr>
          <a:xfrm>
            <a:off x="6720840" y="450792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make</a:t>
            </a:r>
            <a:endParaRPr lang="en-US" sz="1000" b="0" u="none" strike="noStrike">
              <a:solidFill>
                <a:srgbClr val="000000"/>
              </a:solidFill>
              <a:effectLst/>
              <a:uFillTx/>
              <a:latin typeface="Arial"/>
            </a:endParaRPr>
          </a:p>
        </p:txBody>
      </p:sp>
      <p:sp>
        <p:nvSpPr>
          <p:cNvPr id="650" name="TextBox 22"/>
          <p:cNvSpPr/>
          <p:nvPr/>
        </p:nvSpPr>
        <p:spPr>
          <a:xfrm>
            <a:off x="7543800" y="4507920"/>
            <a:ext cx="402300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demo5 / demo6</a:t>
            </a:r>
            <a:endParaRPr lang="en-US" sz="1200" b="0" u="none" strike="noStrike">
              <a:solidFill>
                <a:srgbClr val="000000"/>
              </a:solidFill>
              <a:effectLst/>
              <a:uFillTx/>
              <a:latin typeface="Arial"/>
            </a:endParaRPr>
          </a:p>
        </p:txBody>
      </p:sp>
      <p:sp>
        <p:nvSpPr>
          <p:cNvPr id="651" name="TextBox 23"/>
          <p:cNvSpPr/>
          <p:nvPr/>
        </p:nvSpPr>
        <p:spPr>
          <a:xfrm>
            <a:off x="7543800" y="4722840"/>
            <a:ext cx="402300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the assistant controls, and the learning loops</a:t>
            </a:r>
            <a:endParaRPr lang="en-US" sz="950" b="0" u="none" strike="noStrike">
              <a:solidFill>
                <a:srgbClr val="000000"/>
              </a:solidFill>
              <a:effectLst/>
              <a:uFillTx/>
              <a:latin typeface="Arial"/>
            </a:endParaRPr>
          </a:p>
        </p:txBody>
      </p:sp>
      <p:sp>
        <p:nvSpPr>
          <p:cNvPr id="652" name="Rectangle 24"/>
          <p:cNvSpPr/>
          <p:nvPr/>
        </p:nvSpPr>
        <p:spPr>
          <a:xfrm>
            <a:off x="6720840" y="5111640"/>
            <a:ext cx="484596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653" name="TextBox 25"/>
          <p:cNvSpPr/>
          <p:nvPr/>
        </p:nvSpPr>
        <p:spPr>
          <a:xfrm>
            <a:off x="6720840" y="5294520"/>
            <a:ext cx="77688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npm</a:t>
            </a:r>
            <a:endParaRPr lang="en-US" sz="1000" b="0" u="none" strike="noStrike">
              <a:solidFill>
                <a:srgbClr val="000000"/>
              </a:solidFill>
              <a:effectLst/>
              <a:uFillTx/>
              <a:latin typeface="Arial"/>
            </a:endParaRPr>
          </a:p>
        </p:txBody>
      </p:sp>
      <p:sp>
        <p:nvSpPr>
          <p:cNvPr id="654" name="TextBox 26"/>
          <p:cNvSpPr/>
          <p:nvPr/>
        </p:nvSpPr>
        <p:spPr>
          <a:xfrm>
            <a:off x="7543800" y="5294520"/>
            <a:ext cx="402300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0" u="none" strike="noStrike">
                <a:solidFill>
                  <a:srgbClr val="101828"/>
                </a:solidFill>
                <a:effectLst/>
                <a:uFillTx/>
                <a:latin typeface="Segoe UI"/>
              </a:rPr>
              <a:t>run verify</a:t>
            </a:r>
            <a:endParaRPr lang="en-US" sz="1200" b="0" u="none" strike="noStrike">
              <a:solidFill>
                <a:srgbClr val="000000"/>
              </a:solidFill>
              <a:effectLst/>
              <a:uFillTx/>
              <a:latin typeface="Arial"/>
            </a:endParaRPr>
          </a:p>
        </p:txBody>
      </p:sp>
      <p:sp>
        <p:nvSpPr>
          <p:cNvPr id="655" name="TextBox 27"/>
          <p:cNvSpPr/>
          <p:nvPr/>
        </p:nvSpPr>
        <p:spPr>
          <a:xfrm>
            <a:off x="7543800" y="5509440"/>
            <a:ext cx="4023000" cy="38376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50" b="0" u="none" strike="noStrike">
                <a:solidFill>
                  <a:srgbClr val="6B7C93"/>
                </a:solidFill>
                <a:effectLst/>
                <a:uFillTx/>
                <a:latin typeface="Segoe UI"/>
              </a:rPr>
              <a:t>typecheck · lint · no-client-math · contracts</a:t>
            </a:r>
            <a:endParaRPr lang="en-US" sz="950" b="0" u="none" strike="noStrike">
              <a:solidFill>
                <a:srgbClr val="000000"/>
              </a:solidFill>
              <a:effectLst/>
              <a:uFillTx/>
              <a:latin typeface="Arial"/>
            </a:endParaRPr>
          </a:p>
        </p:txBody>
      </p:sp>
      <p:sp>
        <p:nvSpPr>
          <p:cNvPr id="656" name="Rectangle 28"/>
          <p:cNvSpPr/>
          <p:nvPr/>
        </p:nvSpPr>
        <p:spPr>
          <a:xfrm>
            <a:off x="6720840" y="5897880"/>
            <a:ext cx="4845960" cy="9000"/>
          </a:xfrm>
          <a:prstGeom prst="rect">
            <a:avLst/>
          </a:prstGeom>
          <a:solidFill>
            <a:srgbClr val="DBE3E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57" name="TextBox 1"/>
          <p:cNvSpPr/>
          <p:nvPr/>
        </p:nvSpPr>
        <p:spPr>
          <a:xfrm>
            <a:off x="11338560" y="384120"/>
            <a:ext cx="548280" cy="228240"/>
          </a:xfrm>
          <a:prstGeom prst="rect">
            <a:avLst/>
          </a:prstGeom>
          <a:noFill/>
          <a:ln w="0">
            <a:noFill/>
          </a:ln>
        </p:spPr>
        <p:style>
          <a:lnRef idx="0"/>
          <a:fillRef idx="0"/>
          <a:effectRef idx="0"/>
          <a:fontRef idx="minor"/>
        </p:style>
        <p:txBody>
          <a:bodyPr lIns="0" tIns="0" rIns="0" bIns="0" anchor="t">
            <a:spAutoFit/>
          </a:bodyPr>
          <a:p>
            <a:pPr algn="r" defTabSz="457200">
              <a:lnSpc>
                <a:spcPct val="100000"/>
              </a:lnSpc>
            </a:pPr>
            <a:r>
              <a:rPr lang="en-US" sz="900" b="0" u="none" strike="noStrike">
                <a:solidFill>
                  <a:srgbClr val="6B7C93"/>
                </a:solidFill>
                <a:effectLst/>
                <a:uFillTx/>
                <a:latin typeface="Consolas"/>
              </a:rPr>
              <a:t>19</a:t>
            </a:r>
            <a:endParaRPr lang="en-US" sz="900" b="0" u="none" strike="noStrike">
              <a:solidFill>
                <a:srgbClr val="000000"/>
              </a:solidFill>
              <a:effectLst/>
              <a:uFillTx/>
              <a:latin typeface="Arial"/>
            </a:endParaRPr>
          </a:p>
        </p:txBody>
      </p:sp>
      <p:sp>
        <p:nvSpPr>
          <p:cNvPr id="658" name="TextBox 2"/>
          <p:cNvSpPr/>
          <p:nvPr/>
        </p:nvSpPr>
        <p:spPr>
          <a:xfrm>
            <a:off x="658440" y="457200"/>
            <a:ext cx="10058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0" u="none" strike="noStrike">
                <a:solidFill>
                  <a:srgbClr val="2166A3"/>
                </a:solidFill>
                <a:effectLst/>
                <a:uFillTx/>
                <a:latin typeface="Consolas"/>
              </a:rPr>
              <a:t>WHAT HAPPENS NEXT</a:t>
            </a:r>
            <a:endParaRPr lang="en-US" sz="1050" b="0" u="none" strike="noStrike">
              <a:solidFill>
                <a:srgbClr val="000000"/>
              </a:solidFill>
              <a:effectLst/>
              <a:uFillTx/>
              <a:latin typeface="Arial"/>
            </a:endParaRPr>
          </a:p>
        </p:txBody>
      </p:sp>
      <p:sp>
        <p:nvSpPr>
          <p:cNvPr id="659" name="TextBox 3"/>
          <p:cNvSpPr/>
          <p:nvPr/>
        </p:nvSpPr>
        <p:spPr>
          <a:xfrm>
            <a:off x="658440" y="777240"/>
            <a:ext cx="10423800" cy="914040"/>
          </a:xfrm>
          <a:prstGeom prst="rect">
            <a:avLst/>
          </a:prstGeom>
          <a:noFill/>
          <a:ln w="0">
            <a:noFill/>
          </a:ln>
        </p:spPr>
        <p:style>
          <a:lnRef idx="0"/>
          <a:fillRef idx="0"/>
          <a:effectRef idx="0"/>
          <a:fontRef idx="minor"/>
        </p:style>
        <p:txBody>
          <a:bodyPr lIns="0" tIns="0" rIns="0" bIns="0" anchor="t">
            <a:spAutoFit/>
          </a:bodyPr>
          <a:p>
            <a:pPr defTabSz="457200">
              <a:lnSpc>
                <a:spcPct val="95000"/>
              </a:lnSpc>
            </a:pPr>
            <a:r>
              <a:rPr lang="en-US" sz="3200" b="1" u="none" strike="noStrike">
                <a:solidFill>
                  <a:srgbClr val="0A3A68"/>
                </a:solidFill>
                <a:effectLst/>
                <a:uFillTx/>
                <a:latin typeface="Georgia"/>
              </a:rPr>
              <a:t>From here to a customer</a:t>
            </a:r>
            <a:endParaRPr lang="en-US" sz="3200" b="0" u="none" strike="noStrike">
              <a:solidFill>
                <a:srgbClr val="000000"/>
              </a:solidFill>
              <a:effectLst/>
              <a:uFillTx/>
              <a:latin typeface="Arial"/>
            </a:endParaRPr>
          </a:p>
        </p:txBody>
      </p:sp>
      <p:sp>
        <p:nvSpPr>
          <p:cNvPr id="660" name="Rectangle 4"/>
          <p:cNvSpPr/>
          <p:nvPr/>
        </p:nvSpPr>
        <p:spPr>
          <a:xfrm>
            <a:off x="658440" y="1828800"/>
            <a:ext cx="2514240" cy="4536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720" rIns="90000" bIns="720" anchor="ctr">
            <a:noAutofit/>
          </a:bodyPr>
          <a:p>
            <a:endParaRPr lang="en-US" sz="1800" b="0" u="none" strike="noStrike">
              <a:solidFill>
                <a:schemeClr val="lt1"/>
              </a:solidFill>
              <a:effectLst/>
              <a:uFillTx/>
              <a:latin typeface="Calibri"/>
            </a:endParaRPr>
          </a:p>
        </p:txBody>
      </p:sp>
      <p:sp>
        <p:nvSpPr>
          <p:cNvPr id="661" name="TextBox 5"/>
          <p:cNvSpPr/>
          <p:nvPr/>
        </p:nvSpPr>
        <p:spPr>
          <a:xfrm>
            <a:off x="658440" y="2030040"/>
            <a:ext cx="237708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67647"/>
                </a:solidFill>
                <a:effectLst/>
                <a:uFillTx/>
                <a:latin typeface="Consolas"/>
              </a:rPr>
              <a:t>NOW</a:t>
            </a:r>
            <a:endParaRPr lang="en-US" sz="1000" b="0" u="none" strike="noStrike">
              <a:solidFill>
                <a:srgbClr val="000000"/>
              </a:solidFill>
              <a:effectLst/>
              <a:uFillTx/>
              <a:latin typeface="Arial"/>
            </a:endParaRPr>
          </a:p>
        </p:txBody>
      </p:sp>
      <p:sp>
        <p:nvSpPr>
          <p:cNvPr id="662" name="TextBox 6"/>
          <p:cNvSpPr/>
          <p:nvPr/>
        </p:nvSpPr>
        <p:spPr>
          <a:xfrm>
            <a:off x="658440" y="2286000"/>
            <a:ext cx="237708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01828"/>
                </a:solidFill>
                <a:effectLst/>
                <a:uFillTx/>
                <a:latin typeface="Georgia"/>
              </a:rPr>
              <a:t>Built and measured</a:t>
            </a:r>
            <a:endParaRPr lang="en-US" sz="1300" b="0" u="none" strike="noStrike">
              <a:solidFill>
                <a:srgbClr val="000000"/>
              </a:solidFill>
              <a:effectLst/>
              <a:uFillTx/>
              <a:latin typeface="Arial"/>
            </a:endParaRPr>
          </a:p>
        </p:txBody>
      </p:sp>
      <p:sp>
        <p:nvSpPr>
          <p:cNvPr id="663" name="TextBox 7"/>
          <p:cNvSpPr/>
          <p:nvPr/>
        </p:nvSpPr>
        <p:spPr>
          <a:xfrm>
            <a:off x="658440" y="2697480"/>
            <a:ext cx="2422800" cy="456840"/>
          </a:xfrm>
          <a:prstGeom prst="rect">
            <a:avLst/>
          </a:prstGeom>
          <a:noFill/>
          <a:ln w="0">
            <a:noFill/>
          </a:ln>
        </p:spPr>
        <p:style>
          <a:lnRef idx="0"/>
          <a:fillRef idx="0"/>
          <a:effectRef idx="0"/>
          <a:fontRef idx="minor"/>
        </p:style>
        <p:txBody>
          <a:bodyPr lIns="0" tIns="0" rIns="0" bIns="0" anchor="t">
            <a:spAutoFit/>
          </a:bodyPr>
          <a:p>
            <a:pPr defTabSz="457200">
              <a:lnSpc>
                <a:spcPct val="120000"/>
              </a:lnSpc>
            </a:pPr>
            <a:r>
              <a:rPr lang="en-US" sz="1050" b="0" u="none" strike="noStrike">
                <a:solidFill>
                  <a:srgbClr val="475467"/>
                </a:solidFill>
                <a:effectLst/>
                <a:uFillTx/>
                <a:latin typeface="Segoe UI"/>
              </a:rPr>
              <a:t>· Nineteen models on real data</a:t>
            </a:r>
            <a:endParaRPr lang="en-US" sz="1050" b="0" u="none" strike="noStrike">
              <a:solidFill>
                <a:srgbClr val="000000"/>
              </a:solidFill>
              <a:effectLst/>
              <a:uFillTx/>
              <a:latin typeface="Arial"/>
            </a:endParaRPr>
          </a:p>
        </p:txBody>
      </p:sp>
      <p:sp>
        <p:nvSpPr>
          <p:cNvPr id="664" name="TextBox 8"/>
          <p:cNvSpPr/>
          <p:nvPr/>
        </p:nvSpPr>
        <p:spPr>
          <a:xfrm>
            <a:off x="658440" y="3264480"/>
            <a:ext cx="2422800" cy="456840"/>
          </a:xfrm>
          <a:prstGeom prst="rect">
            <a:avLst/>
          </a:prstGeom>
          <a:noFill/>
          <a:ln w="0">
            <a:noFill/>
          </a:ln>
        </p:spPr>
        <p:style>
          <a:lnRef idx="0"/>
          <a:fillRef idx="0"/>
          <a:effectRef idx="0"/>
          <a:fontRef idx="minor"/>
        </p:style>
        <p:txBody>
          <a:bodyPr lIns="0" tIns="0" rIns="0" bIns="0" anchor="t">
            <a:spAutoFit/>
          </a:bodyPr>
          <a:p>
            <a:pPr defTabSz="457200">
              <a:lnSpc>
                <a:spcPct val="120000"/>
              </a:lnSpc>
            </a:pPr>
            <a:r>
              <a:rPr lang="en-US" sz="1050" b="0" u="none" strike="noStrike">
                <a:solidFill>
                  <a:srgbClr val="475467"/>
                </a:solidFill>
                <a:effectLst/>
                <a:uFillTx/>
                <a:latin typeface="Segoe UI"/>
              </a:rPr>
              <a:t>· Nine screens over one gateway</a:t>
            </a:r>
            <a:endParaRPr lang="en-US" sz="1050" b="0" u="none" strike="noStrike">
              <a:solidFill>
                <a:srgbClr val="000000"/>
              </a:solidFill>
              <a:effectLst/>
              <a:uFillTx/>
              <a:latin typeface="Arial"/>
            </a:endParaRPr>
          </a:p>
        </p:txBody>
      </p:sp>
      <p:sp>
        <p:nvSpPr>
          <p:cNvPr id="665" name="TextBox 9"/>
          <p:cNvSpPr/>
          <p:nvPr/>
        </p:nvSpPr>
        <p:spPr>
          <a:xfrm>
            <a:off x="658440" y="3831480"/>
            <a:ext cx="2422800" cy="456840"/>
          </a:xfrm>
          <a:prstGeom prst="rect">
            <a:avLst/>
          </a:prstGeom>
          <a:noFill/>
          <a:ln w="0">
            <a:noFill/>
          </a:ln>
        </p:spPr>
        <p:style>
          <a:lnRef idx="0"/>
          <a:fillRef idx="0"/>
          <a:effectRef idx="0"/>
          <a:fontRef idx="minor"/>
        </p:style>
        <p:txBody>
          <a:bodyPr lIns="0" tIns="0" rIns="0" bIns="0" anchor="t">
            <a:spAutoFit/>
          </a:bodyPr>
          <a:p>
            <a:pPr defTabSz="457200">
              <a:lnSpc>
                <a:spcPct val="120000"/>
              </a:lnSpc>
            </a:pPr>
            <a:r>
              <a:rPr lang="en-US" sz="1050" b="0" u="none" strike="noStrike">
                <a:solidFill>
                  <a:srgbClr val="475467"/>
                </a:solidFill>
                <a:effectLst/>
                <a:uFillTx/>
                <a:latin typeface="Segoe UI"/>
              </a:rPr>
              <a:t>· 2,331 tests, every commit</a:t>
            </a:r>
            <a:endParaRPr lang="en-US" sz="1050" b="0" u="none" strike="noStrike">
              <a:solidFill>
                <a:srgbClr val="000000"/>
              </a:solidFill>
              <a:effectLst/>
              <a:uFillTx/>
              <a:latin typeface="Arial"/>
            </a:endParaRPr>
          </a:p>
        </p:txBody>
      </p:sp>
      <p:sp>
        <p:nvSpPr>
          <p:cNvPr id="666" name="TextBox 10"/>
          <p:cNvSpPr/>
          <p:nvPr/>
        </p:nvSpPr>
        <p:spPr>
          <a:xfrm>
            <a:off x="658440" y="4398120"/>
            <a:ext cx="2422800" cy="456840"/>
          </a:xfrm>
          <a:prstGeom prst="rect">
            <a:avLst/>
          </a:prstGeom>
          <a:noFill/>
          <a:ln w="0">
            <a:noFill/>
          </a:ln>
        </p:spPr>
        <p:style>
          <a:lnRef idx="0"/>
          <a:fillRef idx="0"/>
          <a:effectRef idx="0"/>
          <a:fontRef idx="minor"/>
        </p:style>
        <p:txBody>
          <a:bodyPr lIns="0" tIns="0" rIns="0" bIns="0" anchor="t">
            <a:spAutoFit/>
          </a:bodyPr>
          <a:p>
            <a:pPr defTabSz="457200">
              <a:lnSpc>
                <a:spcPct val="120000"/>
              </a:lnSpc>
            </a:pPr>
            <a:r>
              <a:rPr lang="en-US" sz="1050" b="0" u="none" strike="noStrike">
                <a:solidFill>
                  <a:srgbClr val="475467"/>
                </a:solidFill>
                <a:effectLst/>
                <a:uFillTx/>
                <a:latin typeface="Segoe UI"/>
              </a:rPr>
              <a:t>· 98 blockers named with owners</a:t>
            </a:r>
            <a:endParaRPr lang="en-US" sz="1050" b="0" u="none" strike="noStrike">
              <a:solidFill>
                <a:srgbClr val="000000"/>
              </a:solidFill>
              <a:effectLst/>
              <a:uFillTx/>
              <a:latin typeface="Arial"/>
            </a:endParaRPr>
          </a:p>
        </p:txBody>
      </p:sp>
      <p:sp>
        <p:nvSpPr>
          <p:cNvPr id="667" name="Rectangle 11"/>
          <p:cNvSpPr/>
          <p:nvPr/>
        </p:nvSpPr>
        <p:spPr>
          <a:xfrm>
            <a:off x="3429000" y="1828800"/>
            <a:ext cx="2514240" cy="45360"/>
          </a:xfrm>
          <a:prstGeom prst="rect">
            <a:avLst/>
          </a:prstGeom>
          <a:solidFill>
            <a:srgbClr val="B547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720" rIns="90000" bIns="720" anchor="ctr">
            <a:noAutofit/>
          </a:bodyPr>
          <a:p>
            <a:endParaRPr lang="en-US" sz="1800" b="0" u="none" strike="noStrike">
              <a:solidFill>
                <a:schemeClr val="lt1"/>
              </a:solidFill>
              <a:effectLst/>
              <a:uFillTx/>
              <a:latin typeface="Calibri"/>
            </a:endParaRPr>
          </a:p>
        </p:txBody>
      </p:sp>
      <p:sp>
        <p:nvSpPr>
          <p:cNvPr id="668" name="TextBox 12"/>
          <p:cNvSpPr/>
          <p:nvPr/>
        </p:nvSpPr>
        <p:spPr>
          <a:xfrm>
            <a:off x="3429000" y="2030040"/>
            <a:ext cx="237708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B54708"/>
                </a:solidFill>
                <a:effectLst/>
                <a:uFillTx/>
                <a:latin typeface="Consolas"/>
              </a:rPr>
              <a:t>NEXT</a:t>
            </a:r>
            <a:endParaRPr lang="en-US" sz="1000" b="0" u="none" strike="noStrike">
              <a:solidFill>
                <a:srgbClr val="000000"/>
              </a:solidFill>
              <a:effectLst/>
              <a:uFillTx/>
              <a:latin typeface="Arial"/>
            </a:endParaRPr>
          </a:p>
        </p:txBody>
      </p:sp>
      <p:sp>
        <p:nvSpPr>
          <p:cNvPr id="669" name="TextBox 13"/>
          <p:cNvSpPr/>
          <p:nvPr/>
        </p:nvSpPr>
        <p:spPr>
          <a:xfrm>
            <a:off x="3429000" y="2286000"/>
            <a:ext cx="237708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01828"/>
                </a:solidFill>
                <a:effectLst/>
                <a:uFillTx/>
                <a:latin typeface="Georgia"/>
              </a:rPr>
              <a:t>Needs a decision, not code</a:t>
            </a:r>
            <a:endParaRPr lang="en-US" sz="1300" b="0" u="none" strike="noStrike">
              <a:solidFill>
                <a:srgbClr val="000000"/>
              </a:solidFill>
              <a:effectLst/>
              <a:uFillTx/>
              <a:latin typeface="Arial"/>
            </a:endParaRPr>
          </a:p>
        </p:txBody>
      </p:sp>
      <p:sp>
        <p:nvSpPr>
          <p:cNvPr id="670" name="TextBox 14"/>
          <p:cNvSpPr/>
          <p:nvPr/>
        </p:nvSpPr>
        <p:spPr>
          <a:xfrm>
            <a:off x="3429000" y="2697480"/>
            <a:ext cx="2422800" cy="456840"/>
          </a:xfrm>
          <a:prstGeom prst="rect">
            <a:avLst/>
          </a:prstGeom>
          <a:noFill/>
          <a:ln w="0">
            <a:noFill/>
          </a:ln>
        </p:spPr>
        <p:style>
          <a:lnRef idx="0"/>
          <a:fillRef idx="0"/>
          <a:effectRef idx="0"/>
          <a:fontRef idx="minor"/>
        </p:style>
        <p:txBody>
          <a:bodyPr lIns="0" tIns="0" rIns="0" bIns="0" anchor="t">
            <a:spAutoFit/>
          </a:bodyPr>
          <a:p>
            <a:pPr defTabSz="457200">
              <a:lnSpc>
                <a:spcPct val="120000"/>
              </a:lnSpc>
            </a:pPr>
            <a:r>
              <a:rPr lang="en-US" sz="1050" b="0" u="none" strike="noStrike">
                <a:solidFill>
                  <a:srgbClr val="475467"/>
                </a:solidFill>
                <a:effectLst/>
                <a:uFillTx/>
                <a:latin typeface="Segoe UI"/>
              </a:rPr>
              <a:t>· Ratify cutoffs and risk bands</a:t>
            </a:r>
            <a:endParaRPr lang="en-US" sz="1050" b="0" u="none" strike="noStrike">
              <a:solidFill>
                <a:srgbClr val="000000"/>
              </a:solidFill>
              <a:effectLst/>
              <a:uFillTx/>
              <a:latin typeface="Arial"/>
            </a:endParaRPr>
          </a:p>
        </p:txBody>
      </p:sp>
      <p:sp>
        <p:nvSpPr>
          <p:cNvPr id="671" name="TextBox 15"/>
          <p:cNvSpPr/>
          <p:nvPr/>
        </p:nvSpPr>
        <p:spPr>
          <a:xfrm>
            <a:off x="3429000" y="3264480"/>
            <a:ext cx="2422800" cy="456840"/>
          </a:xfrm>
          <a:prstGeom prst="rect">
            <a:avLst/>
          </a:prstGeom>
          <a:noFill/>
          <a:ln w="0">
            <a:noFill/>
          </a:ln>
        </p:spPr>
        <p:style>
          <a:lnRef idx="0"/>
          <a:fillRef idx="0"/>
          <a:effectRef idx="0"/>
          <a:fontRef idx="minor"/>
        </p:style>
        <p:txBody>
          <a:bodyPr lIns="0" tIns="0" rIns="0" bIns="0" anchor="t">
            <a:spAutoFit/>
          </a:bodyPr>
          <a:p>
            <a:pPr defTabSz="457200">
              <a:lnSpc>
                <a:spcPct val="120000"/>
              </a:lnSpc>
            </a:pPr>
            <a:r>
              <a:rPr lang="en-US" sz="1050" b="0" u="none" strike="noStrike">
                <a:solidFill>
                  <a:srgbClr val="475467"/>
                </a:solidFill>
                <a:effectLst/>
                <a:uFillTx/>
                <a:latin typeface="Segoe UI"/>
              </a:rPr>
              <a:t>· Set the alert budget</a:t>
            </a:r>
            <a:endParaRPr lang="en-US" sz="1050" b="0" u="none" strike="noStrike">
              <a:solidFill>
                <a:srgbClr val="000000"/>
              </a:solidFill>
              <a:effectLst/>
              <a:uFillTx/>
              <a:latin typeface="Arial"/>
            </a:endParaRPr>
          </a:p>
        </p:txBody>
      </p:sp>
      <p:sp>
        <p:nvSpPr>
          <p:cNvPr id="672" name="TextBox 16"/>
          <p:cNvSpPr/>
          <p:nvPr/>
        </p:nvSpPr>
        <p:spPr>
          <a:xfrm>
            <a:off x="3429000" y="3831480"/>
            <a:ext cx="2422800" cy="456840"/>
          </a:xfrm>
          <a:prstGeom prst="rect">
            <a:avLst/>
          </a:prstGeom>
          <a:noFill/>
          <a:ln w="0">
            <a:noFill/>
          </a:ln>
        </p:spPr>
        <p:style>
          <a:lnRef idx="0"/>
          <a:fillRef idx="0"/>
          <a:effectRef idx="0"/>
          <a:fontRef idx="minor"/>
        </p:style>
        <p:txBody>
          <a:bodyPr lIns="0" tIns="0" rIns="0" bIns="0" anchor="t">
            <a:spAutoFit/>
          </a:bodyPr>
          <a:p>
            <a:pPr defTabSz="457200">
              <a:lnSpc>
                <a:spcPct val="120000"/>
              </a:lnSpc>
            </a:pPr>
            <a:r>
              <a:rPr lang="en-US" sz="1050" b="0" u="none" strike="noStrike">
                <a:solidFill>
                  <a:srgbClr val="475467"/>
                </a:solidFill>
                <a:effectLst/>
                <a:uFillTx/>
                <a:latin typeface="Segoe UI"/>
              </a:rPr>
              <a:t>· Supply the crop calendar</a:t>
            </a:r>
            <a:endParaRPr lang="en-US" sz="1050" b="0" u="none" strike="noStrike">
              <a:solidFill>
                <a:srgbClr val="000000"/>
              </a:solidFill>
              <a:effectLst/>
              <a:uFillTx/>
              <a:latin typeface="Arial"/>
            </a:endParaRPr>
          </a:p>
        </p:txBody>
      </p:sp>
      <p:sp>
        <p:nvSpPr>
          <p:cNvPr id="673" name="TextBox 17"/>
          <p:cNvSpPr/>
          <p:nvPr/>
        </p:nvSpPr>
        <p:spPr>
          <a:xfrm>
            <a:off x="3429000" y="4398120"/>
            <a:ext cx="2422800" cy="456840"/>
          </a:xfrm>
          <a:prstGeom prst="rect">
            <a:avLst/>
          </a:prstGeom>
          <a:noFill/>
          <a:ln w="0">
            <a:noFill/>
          </a:ln>
        </p:spPr>
        <p:style>
          <a:lnRef idx="0"/>
          <a:fillRef idx="0"/>
          <a:effectRef idx="0"/>
          <a:fontRef idx="minor"/>
        </p:style>
        <p:txBody>
          <a:bodyPr lIns="0" tIns="0" rIns="0" bIns="0" anchor="t">
            <a:spAutoFit/>
          </a:bodyPr>
          <a:p>
            <a:pPr defTabSz="457200">
              <a:lnSpc>
                <a:spcPct val="120000"/>
              </a:lnSpc>
            </a:pPr>
            <a:r>
              <a:rPr lang="en-US" sz="1050" b="0" u="none" strike="noStrike">
                <a:solidFill>
                  <a:srgbClr val="475467"/>
                </a:solidFill>
                <a:effectLst/>
                <a:uFillTx/>
                <a:latin typeface="Segoe UI"/>
              </a:rPr>
              <a:t>· Approve reason-code wording</a:t>
            </a:r>
            <a:endParaRPr lang="en-US" sz="1050" b="0" u="none" strike="noStrike">
              <a:solidFill>
                <a:srgbClr val="000000"/>
              </a:solidFill>
              <a:effectLst/>
              <a:uFillTx/>
              <a:latin typeface="Arial"/>
            </a:endParaRPr>
          </a:p>
        </p:txBody>
      </p:sp>
      <p:sp>
        <p:nvSpPr>
          <p:cNvPr id="674" name="Rectangle 18"/>
          <p:cNvSpPr/>
          <p:nvPr/>
        </p:nvSpPr>
        <p:spPr>
          <a:xfrm>
            <a:off x="6199560" y="1828800"/>
            <a:ext cx="2514240" cy="45360"/>
          </a:xfrm>
          <a:prstGeom prst="rect">
            <a:avLst/>
          </a:prstGeom>
          <a:solidFill>
            <a:srgbClr val="2166A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720" rIns="90000" bIns="720" anchor="ctr">
            <a:noAutofit/>
          </a:bodyPr>
          <a:p>
            <a:endParaRPr lang="en-US" sz="1800" b="0" u="none" strike="noStrike">
              <a:solidFill>
                <a:schemeClr val="lt1"/>
              </a:solidFill>
              <a:effectLst/>
              <a:uFillTx/>
              <a:latin typeface="Calibri"/>
            </a:endParaRPr>
          </a:p>
        </p:txBody>
      </p:sp>
      <p:sp>
        <p:nvSpPr>
          <p:cNvPr id="675" name="TextBox 19"/>
          <p:cNvSpPr/>
          <p:nvPr/>
        </p:nvSpPr>
        <p:spPr>
          <a:xfrm>
            <a:off x="6199560" y="2030040"/>
            <a:ext cx="237708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2166A3"/>
                </a:solidFill>
                <a:effectLst/>
                <a:uFillTx/>
                <a:latin typeface="Consolas"/>
              </a:rPr>
              <a:t>THEN</a:t>
            </a:r>
            <a:endParaRPr lang="en-US" sz="1000" b="0" u="none" strike="noStrike">
              <a:solidFill>
                <a:srgbClr val="000000"/>
              </a:solidFill>
              <a:effectLst/>
              <a:uFillTx/>
              <a:latin typeface="Arial"/>
            </a:endParaRPr>
          </a:p>
        </p:txBody>
      </p:sp>
      <p:sp>
        <p:nvSpPr>
          <p:cNvPr id="676" name="TextBox 20"/>
          <p:cNvSpPr/>
          <p:nvPr/>
        </p:nvSpPr>
        <p:spPr>
          <a:xfrm>
            <a:off x="6199560" y="2286000"/>
            <a:ext cx="237708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01828"/>
                </a:solidFill>
                <a:effectLst/>
                <a:uFillTx/>
                <a:latin typeface="Georgia"/>
              </a:rPr>
              <a:t>Needs the bank's own data</a:t>
            </a:r>
            <a:endParaRPr lang="en-US" sz="1300" b="0" u="none" strike="noStrike">
              <a:solidFill>
                <a:srgbClr val="000000"/>
              </a:solidFill>
              <a:effectLst/>
              <a:uFillTx/>
              <a:latin typeface="Arial"/>
            </a:endParaRPr>
          </a:p>
        </p:txBody>
      </p:sp>
      <p:sp>
        <p:nvSpPr>
          <p:cNvPr id="677" name="TextBox 21"/>
          <p:cNvSpPr/>
          <p:nvPr/>
        </p:nvSpPr>
        <p:spPr>
          <a:xfrm>
            <a:off x="6199560" y="2697480"/>
            <a:ext cx="2422800" cy="456840"/>
          </a:xfrm>
          <a:prstGeom prst="rect">
            <a:avLst/>
          </a:prstGeom>
          <a:noFill/>
          <a:ln w="0">
            <a:noFill/>
          </a:ln>
        </p:spPr>
        <p:style>
          <a:lnRef idx="0"/>
          <a:fillRef idx="0"/>
          <a:effectRef idx="0"/>
          <a:fontRef idx="minor"/>
        </p:style>
        <p:txBody>
          <a:bodyPr lIns="0" tIns="0" rIns="0" bIns="0" anchor="t">
            <a:spAutoFit/>
          </a:bodyPr>
          <a:p>
            <a:pPr defTabSz="457200">
              <a:lnSpc>
                <a:spcPct val="120000"/>
              </a:lnSpc>
            </a:pPr>
            <a:r>
              <a:rPr lang="en-US" sz="1050" b="0" u="none" strike="noStrike">
                <a:solidFill>
                  <a:srgbClr val="475467"/>
                </a:solidFill>
                <a:effectLst/>
                <a:uFillTx/>
                <a:latin typeface="Segoe UI"/>
              </a:rPr>
              <a:t>· Retrain on this book</a:t>
            </a:r>
            <a:endParaRPr lang="en-US" sz="1050" b="0" u="none" strike="noStrike">
              <a:solidFill>
                <a:srgbClr val="000000"/>
              </a:solidFill>
              <a:effectLst/>
              <a:uFillTx/>
              <a:latin typeface="Arial"/>
            </a:endParaRPr>
          </a:p>
        </p:txBody>
      </p:sp>
      <p:sp>
        <p:nvSpPr>
          <p:cNvPr id="678" name="TextBox 22"/>
          <p:cNvSpPr/>
          <p:nvPr/>
        </p:nvSpPr>
        <p:spPr>
          <a:xfrm>
            <a:off x="6199560" y="3264480"/>
            <a:ext cx="2422800" cy="456840"/>
          </a:xfrm>
          <a:prstGeom prst="rect">
            <a:avLst/>
          </a:prstGeom>
          <a:noFill/>
          <a:ln w="0">
            <a:noFill/>
          </a:ln>
        </p:spPr>
        <p:style>
          <a:lnRef idx="0"/>
          <a:fillRef idx="0"/>
          <a:effectRef idx="0"/>
          <a:fontRef idx="minor"/>
        </p:style>
        <p:txBody>
          <a:bodyPr lIns="0" tIns="0" rIns="0" bIns="0" anchor="t">
            <a:spAutoFit/>
          </a:bodyPr>
          <a:p>
            <a:pPr defTabSz="457200">
              <a:lnSpc>
                <a:spcPct val="120000"/>
              </a:lnSpc>
            </a:pPr>
            <a:r>
              <a:rPr lang="en-US" sz="1050" b="0" u="none" strike="noStrike">
                <a:solidFill>
                  <a:srgbClr val="475467"/>
                </a:solidFill>
                <a:effectLst/>
                <a:uFillTx/>
                <a:latin typeface="Segoe UI"/>
              </a:rPr>
              <a:t>· Shadow-run beside the current process</a:t>
            </a:r>
            <a:endParaRPr lang="en-US" sz="1050" b="0" u="none" strike="noStrike">
              <a:solidFill>
                <a:srgbClr val="000000"/>
              </a:solidFill>
              <a:effectLst/>
              <a:uFillTx/>
              <a:latin typeface="Arial"/>
            </a:endParaRPr>
          </a:p>
        </p:txBody>
      </p:sp>
      <p:sp>
        <p:nvSpPr>
          <p:cNvPr id="679" name="TextBox 23"/>
          <p:cNvSpPr/>
          <p:nvPr/>
        </p:nvSpPr>
        <p:spPr>
          <a:xfrm>
            <a:off x="6199560" y="3831480"/>
            <a:ext cx="2422800" cy="456840"/>
          </a:xfrm>
          <a:prstGeom prst="rect">
            <a:avLst/>
          </a:prstGeom>
          <a:noFill/>
          <a:ln w="0">
            <a:noFill/>
          </a:ln>
        </p:spPr>
        <p:style>
          <a:lnRef idx="0"/>
          <a:fillRef idx="0"/>
          <a:effectRef idx="0"/>
          <a:fontRef idx="minor"/>
        </p:style>
        <p:txBody>
          <a:bodyPr lIns="0" tIns="0" rIns="0" bIns="0" anchor="t">
            <a:spAutoFit/>
          </a:bodyPr>
          <a:p>
            <a:pPr defTabSz="457200">
              <a:lnSpc>
                <a:spcPct val="120000"/>
              </a:lnSpc>
            </a:pPr>
            <a:r>
              <a:rPr lang="en-US" sz="1050" b="0" u="none" strike="noStrike">
                <a:solidFill>
                  <a:srgbClr val="475467"/>
                </a:solidFill>
                <a:effectLst/>
                <a:uFillTx/>
                <a:latin typeface="Segoe UI"/>
              </a:rPr>
              <a:t>· Independent model validation</a:t>
            </a:r>
            <a:endParaRPr lang="en-US" sz="1050" b="0" u="none" strike="noStrike">
              <a:solidFill>
                <a:srgbClr val="000000"/>
              </a:solidFill>
              <a:effectLst/>
              <a:uFillTx/>
              <a:latin typeface="Arial"/>
            </a:endParaRPr>
          </a:p>
        </p:txBody>
      </p:sp>
      <p:sp>
        <p:nvSpPr>
          <p:cNvPr id="680" name="TextBox 24"/>
          <p:cNvSpPr/>
          <p:nvPr/>
        </p:nvSpPr>
        <p:spPr>
          <a:xfrm>
            <a:off x="6199560" y="4398120"/>
            <a:ext cx="2422800" cy="456840"/>
          </a:xfrm>
          <a:prstGeom prst="rect">
            <a:avLst/>
          </a:prstGeom>
          <a:noFill/>
          <a:ln w="0">
            <a:noFill/>
          </a:ln>
        </p:spPr>
        <p:style>
          <a:lnRef idx="0"/>
          <a:fillRef idx="0"/>
          <a:effectRef idx="0"/>
          <a:fontRef idx="minor"/>
        </p:style>
        <p:txBody>
          <a:bodyPr lIns="0" tIns="0" rIns="0" bIns="0" anchor="t">
            <a:spAutoFit/>
          </a:bodyPr>
          <a:p>
            <a:pPr defTabSz="457200">
              <a:lnSpc>
                <a:spcPct val="120000"/>
              </a:lnSpc>
            </a:pPr>
            <a:r>
              <a:rPr lang="en-US" sz="1050" b="0" u="none" strike="noStrike">
                <a:solidFill>
                  <a:srgbClr val="475467"/>
                </a:solidFill>
                <a:effectLst/>
                <a:uFillTx/>
                <a:latin typeface="Segoe UI"/>
              </a:rPr>
              <a:t>· Fairness audit before any live decision</a:t>
            </a:r>
            <a:endParaRPr lang="en-US" sz="1050" b="0" u="none" strike="noStrike">
              <a:solidFill>
                <a:srgbClr val="000000"/>
              </a:solidFill>
              <a:effectLst/>
              <a:uFillTx/>
              <a:latin typeface="Arial"/>
            </a:endParaRPr>
          </a:p>
        </p:txBody>
      </p:sp>
      <p:sp>
        <p:nvSpPr>
          <p:cNvPr id="681" name="Rectangle 25"/>
          <p:cNvSpPr/>
          <p:nvPr/>
        </p:nvSpPr>
        <p:spPr>
          <a:xfrm>
            <a:off x="8970120" y="1828800"/>
            <a:ext cx="2514240" cy="45360"/>
          </a:xfrm>
          <a:prstGeom prst="rect">
            <a:avLst/>
          </a:prstGeom>
          <a:solidFill>
            <a:srgbClr val="0D4A8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720" rIns="90000" bIns="720" anchor="ctr">
            <a:noAutofit/>
          </a:bodyPr>
          <a:p>
            <a:endParaRPr lang="en-US" sz="1800" b="0" u="none" strike="noStrike">
              <a:solidFill>
                <a:schemeClr val="lt1"/>
              </a:solidFill>
              <a:effectLst/>
              <a:uFillTx/>
              <a:latin typeface="Calibri"/>
            </a:endParaRPr>
          </a:p>
        </p:txBody>
      </p:sp>
      <p:sp>
        <p:nvSpPr>
          <p:cNvPr id="682" name="TextBox 26"/>
          <p:cNvSpPr/>
          <p:nvPr/>
        </p:nvSpPr>
        <p:spPr>
          <a:xfrm>
            <a:off x="8970120" y="2030040"/>
            <a:ext cx="2377080" cy="21924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00" b="1" u="none" strike="noStrike">
                <a:solidFill>
                  <a:srgbClr val="0D4A85"/>
                </a:solidFill>
                <a:effectLst/>
                <a:uFillTx/>
                <a:latin typeface="Consolas"/>
              </a:rPr>
              <a:t>LIVE</a:t>
            </a:r>
            <a:endParaRPr lang="en-US" sz="1000" b="0" u="none" strike="noStrike">
              <a:solidFill>
                <a:srgbClr val="000000"/>
              </a:solidFill>
              <a:effectLst/>
              <a:uFillTx/>
              <a:latin typeface="Arial"/>
            </a:endParaRPr>
          </a:p>
        </p:txBody>
      </p:sp>
      <p:sp>
        <p:nvSpPr>
          <p:cNvPr id="683" name="TextBox 27"/>
          <p:cNvSpPr/>
          <p:nvPr/>
        </p:nvSpPr>
        <p:spPr>
          <a:xfrm>
            <a:off x="8970120" y="2286000"/>
            <a:ext cx="237708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300" b="1" u="none" strike="noStrike">
                <a:solidFill>
                  <a:srgbClr val="101828"/>
                </a:solidFill>
                <a:effectLst/>
                <a:uFillTx/>
                <a:latin typeface="Georgia"/>
              </a:rPr>
              <a:t>Steady state</a:t>
            </a:r>
            <a:endParaRPr lang="en-US" sz="1300" b="0" u="none" strike="noStrike">
              <a:solidFill>
                <a:srgbClr val="000000"/>
              </a:solidFill>
              <a:effectLst/>
              <a:uFillTx/>
              <a:latin typeface="Arial"/>
            </a:endParaRPr>
          </a:p>
        </p:txBody>
      </p:sp>
      <p:sp>
        <p:nvSpPr>
          <p:cNvPr id="684" name="TextBox 28"/>
          <p:cNvSpPr/>
          <p:nvPr/>
        </p:nvSpPr>
        <p:spPr>
          <a:xfrm>
            <a:off x="8970120" y="2697480"/>
            <a:ext cx="2422800" cy="456840"/>
          </a:xfrm>
          <a:prstGeom prst="rect">
            <a:avLst/>
          </a:prstGeom>
          <a:noFill/>
          <a:ln w="0">
            <a:noFill/>
          </a:ln>
        </p:spPr>
        <p:style>
          <a:lnRef idx="0"/>
          <a:fillRef idx="0"/>
          <a:effectRef idx="0"/>
          <a:fontRef idx="minor"/>
        </p:style>
        <p:txBody>
          <a:bodyPr lIns="0" tIns="0" rIns="0" bIns="0" anchor="t">
            <a:spAutoFit/>
          </a:bodyPr>
          <a:p>
            <a:pPr defTabSz="457200">
              <a:lnSpc>
                <a:spcPct val="120000"/>
              </a:lnSpc>
            </a:pPr>
            <a:r>
              <a:rPr lang="en-US" sz="1050" b="0" u="none" strike="noStrike">
                <a:solidFill>
                  <a:srgbClr val="475467"/>
                </a:solidFill>
                <a:effectLst/>
                <a:uFillTx/>
                <a:latin typeface="Segoe UI"/>
              </a:rPr>
              <a:t>· Champion / challenger, forever</a:t>
            </a:r>
            <a:endParaRPr lang="en-US" sz="1050" b="0" u="none" strike="noStrike">
              <a:solidFill>
                <a:srgbClr val="000000"/>
              </a:solidFill>
              <a:effectLst/>
              <a:uFillTx/>
              <a:latin typeface="Arial"/>
            </a:endParaRPr>
          </a:p>
        </p:txBody>
      </p:sp>
      <p:sp>
        <p:nvSpPr>
          <p:cNvPr id="685" name="TextBox 29"/>
          <p:cNvSpPr/>
          <p:nvPr/>
        </p:nvSpPr>
        <p:spPr>
          <a:xfrm>
            <a:off x="8970120" y="3264480"/>
            <a:ext cx="2422800" cy="456840"/>
          </a:xfrm>
          <a:prstGeom prst="rect">
            <a:avLst/>
          </a:prstGeom>
          <a:noFill/>
          <a:ln w="0">
            <a:noFill/>
          </a:ln>
        </p:spPr>
        <p:style>
          <a:lnRef idx="0"/>
          <a:fillRef idx="0"/>
          <a:effectRef idx="0"/>
          <a:fontRef idx="minor"/>
        </p:style>
        <p:txBody>
          <a:bodyPr lIns="0" tIns="0" rIns="0" bIns="0" anchor="t">
            <a:spAutoFit/>
          </a:bodyPr>
          <a:p>
            <a:pPr defTabSz="457200">
              <a:lnSpc>
                <a:spcPct val="120000"/>
              </a:lnSpc>
            </a:pPr>
            <a:r>
              <a:rPr lang="en-US" sz="1050" b="0" u="none" strike="noStrike">
                <a:solidFill>
                  <a:srgbClr val="475467"/>
                </a:solidFill>
                <a:effectLst/>
                <a:uFillTx/>
                <a:latin typeface="Segoe UI"/>
              </a:rPr>
              <a:t>· Weekly drift and calibration checks</a:t>
            </a:r>
            <a:endParaRPr lang="en-US" sz="1050" b="0" u="none" strike="noStrike">
              <a:solidFill>
                <a:srgbClr val="000000"/>
              </a:solidFill>
              <a:effectLst/>
              <a:uFillTx/>
              <a:latin typeface="Arial"/>
            </a:endParaRPr>
          </a:p>
        </p:txBody>
      </p:sp>
      <p:sp>
        <p:nvSpPr>
          <p:cNvPr id="686" name="TextBox 30"/>
          <p:cNvSpPr/>
          <p:nvPr/>
        </p:nvSpPr>
        <p:spPr>
          <a:xfrm>
            <a:off x="8970120" y="3831480"/>
            <a:ext cx="2422800" cy="456840"/>
          </a:xfrm>
          <a:prstGeom prst="rect">
            <a:avLst/>
          </a:prstGeom>
          <a:noFill/>
          <a:ln w="0">
            <a:noFill/>
          </a:ln>
        </p:spPr>
        <p:style>
          <a:lnRef idx="0"/>
          <a:fillRef idx="0"/>
          <a:effectRef idx="0"/>
          <a:fontRef idx="minor"/>
        </p:style>
        <p:txBody>
          <a:bodyPr lIns="0" tIns="0" rIns="0" bIns="0" anchor="t">
            <a:spAutoFit/>
          </a:bodyPr>
          <a:p>
            <a:pPr defTabSz="457200">
              <a:lnSpc>
                <a:spcPct val="120000"/>
              </a:lnSpc>
            </a:pPr>
            <a:r>
              <a:rPr lang="en-US" sz="1050" b="0" u="none" strike="noStrike">
                <a:solidFill>
                  <a:srgbClr val="475467"/>
                </a:solidFill>
                <a:effectLst/>
                <a:uFillTx/>
                <a:latin typeface="Segoe UI"/>
              </a:rPr>
              <a:t>· Randomised holdouts for uplift</a:t>
            </a:r>
            <a:endParaRPr lang="en-US" sz="1050" b="0" u="none" strike="noStrike">
              <a:solidFill>
                <a:srgbClr val="000000"/>
              </a:solidFill>
              <a:effectLst/>
              <a:uFillTx/>
              <a:latin typeface="Arial"/>
            </a:endParaRPr>
          </a:p>
        </p:txBody>
      </p:sp>
      <p:sp>
        <p:nvSpPr>
          <p:cNvPr id="687" name="TextBox 31"/>
          <p:cNvSpPr/>
          <p:nvPr/>
        </p:nvSpPr>
        <p:spPr>
          <a:xfrm>
            <a:off x="8970120" y="4398120"/>
            <a:ext cx="2422800" cy="456840"/>
          </a:xfrm>
          <a:prstGeom prst="rect">
            <a:avLst/>
          </a:prstGeom>
          <a:noFill/>
          <a:ln w="0">
            <a:noFill/>
          </a:ln>
        </p:spPr>
        <p:style>
          <a:lnRef idx="0"/>
          <a:fillRef idx="0"/>
          <a:effectRef idx="0"/>
          <a:fontRef idx="minor"/>
        </p:style>
        <p:txBody>
          <a:bodyPr lIns="0" tIns="0" rIns="0" bIns="0" anchor="t">
            <a:spAutoFit/>
          </a:bodyPr>
          <a:p>
            <a:pPr defTabSz="457200">
              <a:lnSpc>
                <a:spcPct val="120000"/>
              </a:lnSpc>
            </a:pPr>
            <a:r>
              <a:rPr lang="en-US" sz="1050" b="0" u="none" strike="noStrike">
                <a:solidFill>
                  <a:srgbClr val="475467"/>
                </a:solidFill>
                <a:effectLst/>
                <a:uFillTx/>
                <a:latin typeface="Segoe UI"/>
              </a:rPr>
              <a:t>· Annual revalidation</a:t>
            </a:r>
            <a:endParaRPr lang="en-US" sz="1050" b="0" u="none" strike="noStrike">
              <a:solidFill>
                <a:srgbClr val="000000"/>
              </a:solidFill>
              <a:effectLst/>
              <a:uFillTx/>
              <a:latin typeface="Arial"/>
            </a:endParaRPr>
          </a:p>
        </p:txBody>
      </p:sp>
      <p:sp>
        <p:nvSpPr>
          <p:cNvPr id="688" name="Rectangle 32"/>
          <p:cNvSpPr/>
          <p:nvPr/>
        </p:nvSpPr>
        <p:spPr>
          <a:xfrm>
            <a:off x="658440" y="5257800"/>
            <a:ext cx="10881000" cy="776880"/>
          </a:xfrm>
          <a:prstGeom prst="rect">
            <a:avLst/>
          </a:prstGeom>
          <a:solidFill>
            <a:srgbClr val="FDF3E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89" name="Rectangle 33"/>
          <p:cNvSpPr/>
          <p:nvPr/>
        </p:nvSpPr>
        <p:spPr>
          <a:xfrm>
            <a:off x="658440" y="5257800"/>
            <a:ext cx="36360" cy="776880"/>
          </a:xfrm>
          <a:prstGeom prst="rect">
            <a:avLst/>
          </a:prstGeom>
          <a:solidFill>
            <a:srgbClr val="B547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90" name="TextBox 34"/>
          <p:cNvSpPr/>
          <p:nvPr/>
        </p:nvSpPr>
        <p:spPr>
          <a:xfrm>
            <a:off x="859680" y="5376600"/>
            <a:ext cx="10496880" cy="53928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150" b="0" u="none" strike="noStrike">
                <a:solidFill>
                  <a:srgbClr val="475467"/>
                </a:solidFill>
                <a:effectLst/>
                <a:uFillTx/>
                <a:latin typeface="Segoe UI"/>
              </a:rPr>
              <a:t>The second column is the honest bottleneck. None of it is engineering work — it is four committees writing down numbers they already have opinions about. Every one is registered with a named owner, which is why the platform can say precisely what it is waiting for.</a:t>
            </a:r>
            <a:endParaRPr lang="en-US" sz="1150" b="0" u="none" strike="noStrike">
              <a:solidFill>
                <a:srgbClr val="000000"/>
              </a:solidFill>
              <a:effectLst/>
              <a:uFillTx/>
              <a:latin typeface="Arial"/>
            </a:endParaRPr>
          </a:p>
        </p:txBody>
      </p:sp>
      <p:sp>
        <p:nvSpPr>
          <p:cNvPr id="691" name="Rectangle 35"/>
          <p:cNvSpPr/>
          <p:nvPr/>
        </p:nvSpPr>
        <p:spPr>
          <a:xfrm>
            <a:off x="658440" y="6172200"/>
            <a:ext cx="10881000" cy="566640"/>
          </a:xfrm>
          <a:prstGeom prst="rect">
            <a:avLst/>
          </a:prstGeom>
          <a:solidFill>
            <a:srgbClr val="E8F5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92" name="Rectangle 36"/>
          <p:cNvSpPr/>
          <p:nvPr/>
        </p:nvSpPr>
        <p:spPr>
          <a:xfrm>
            <a:off x="658440" y="6172200"/>
            <a:ext cx="36360" cy="56664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93" name="TextBox 37"/>
          <p:cNvSpPr/>
          <p:nvPr/>
        </p:nvSpPr>
        <p:spPr>
          <a:xfrm>
            <a:off x="859680" y="6291000"/>
            <a:ext cx="10496880" cy="32868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150" b="0" u="none" strike="noStrike">
                <a:solidFill>
                  <a:srgbClr val="475467"/>
                </a:solidFill>
                <a:effectLst/>
                <a:uFillTx/>
                <a:latin typeface="Segoe UI"/>
              </a:rPr>
              <a:t>Nothing in the first column has to be unpicked to reach the fourth. The interfaces, the gateway and the definitions do not change when a cutoff is ratified — the value simply arrives.</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94" name="TextBox 1"/>
          <p:cNvSpPr/>
          <p:nvPr/>
        </p:nvSpPr>
        <p:spPr>
          <a:xfrm>
            <a:off x="11338560" y="384120"/>
            <a:ext cx="548280" cy="228240"/>
          </a:xfrm>
          <a:prstGeom prst="rect">
            <a:avLst/>
          </a:prstGeom>
          <a:noFill/>
          <a:ln w="0">
            <a:noFill/>
          </a:ln>
        </p:spPr>
        <p:style>
          <a:lnRef idx="0"/>
          <a:fillRef idx="0"/>
          <a:effectRef idx="0"/>
          <a:fontRef idx="minor"/>
        </p:style>
        <p:txBody>
          <a:bodyPr lIns="0" tIns="0" rIns="0" bIns="0" anchor="t">
            <a:spAutoFit/>
          </a:bodyPr>
          <a:p>
            <a:pPr algn="r" defTabSz="457200">
              <a:lnSpc>
                <a:spcPct val="100000"/>
              </a:lnSpc>
            </a:pPr>
            <a:r>
              <a:rPr lang="en-US" sz="900" b="0" u="none" strike="noStrike">
                <a:solidFill>
                  <a:srgbClr val="6B7C93"/>
                </a:solidFill>
                <a:effectLst/>
                <a:uFillTx/>
                <a:latin typeface="Consolas"/>
              </a:rPr>
              <a:t>20</a:t>
            </a:r>
            <a:endParaRPr lang="en-US" sz="900" b="0" u="none" strike="noStrike">
              <a:solidFill>
                <a:srgbClr val="000000"/>
              </a:solidFill>
              <a:effectLst/>
              <a:uFillTx/>
              <a:latin typeface="Arial"/>
            </a:endParaRPr>
          </a:p>
        </p:txBody>
      </p:sp>
      <p:sp>
        <p:nvSpPr>
          <p:cNvPr id="695" name="TextBox 2"/>
          <p:cNvSpPr/>
          <p:nvPr/>
        </p:nvSpPr>
        <p:spPr>
          <a:xfrm>
            <a:off x="658440" y="457200"/>
            <a:ext cx="100580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050" b="0" u="none" strike="noStrike">
                <a:solidFill>
                  <a:srgbClr val="2166A3"/>
                </a:solidFill>
                <a:effectLst/>
                <a:uFillTx/>
                <a:latin typeface="Consolas"/>
              </a:rPr>
              <a:t>STATUS, STATED PLAINLY</a:t>
            </a:r>
            <a:endParaRPr lang="en-US" sz="1050" b="0" u="none" strike="noStrike">
              <a:solidFill>
                <a:srgbClr val="000000"/>
              </a:solidFill>
              <a:effectLst/>
              <a:uFillTx/>
              <a:latin typeface="Arial"/>
            </a:endParaRPr>
          </a:p>
        </p:txBody>
      </p:sp>
      <p:sp>
        <p:nvSpPr>
          <p:cNvPr id="696" name="TextBox 3"/>
          <p:cNvSpPr/>
          <p:nvPr/>
        </p:nvSpPr>
        <p:spPr>
          <a:xfrm>
            <a:off x="658440" y="777240"/>
            <a:ext cx="10423800" cy="914040"/>
          </a:xfrm>
          <a:prstGeom prst="rect">
            <a:avLst/>
          </a:prstGeom>
          <a:noFill/>
          <a:ln w="0">
            <a:noFill/>
          </a:ln>
        </p:spPr>
        <p:style>
          <a:lnRef idx="0"/>
          <a:fillRef idx="0"/>
          <a:effectRef idx="0"/>
          <a:fontRef idx="minor"/>
        </p:style>
        <p:txBody>
          <a:bodyPr lIns="0" tIns="0" rIns="0" bIns="0" anchor="t">
            <a:spAutoFit/>
          </a:bodyPr>
          <a:p>
            <a:pPr defTabSz="457200">
              <a:lnSpc>
                <a:spcPct val="95000"/>
              </a:lnSpc>
            </a:pPr>
            <a:r>
              <a:rPr lang="en-US" sz="3200" b="1" u="none" strike="noStrike">
                <a:solidFill>
                  <a:srgbClr val="0A3A68"/>
                </a:solidFill>
                <a:effectLst/>
                <a:uFillTx/>
                <a:latin typeface="Georgia"/>
              </a:rPr>
              <a:t>Zero of thirty-one exit criteria have gate evidence</a:t>
            </a:r>
            <a:endParaRPr lang="en-US" sz="3200" b="0" u="none" strike="noStrike">
              <a:solidFill>
                <a:srgbClr val="000000"/>
              </a:solidFill>
              <a:effectLst/>
              <a:uFillTx/>
              <a:latin typeface="Arial"/>
            </a:endParaRPr>
          </a:p>
        </p:txBody>
      </p:sp>
      <p:sp>
        <p:nvSpPr>
          <p:cNvPr id="697" name="TextBox 4"/>
          <p:cNvSpPr/>
          <p:nvPr/>
        </p:nvSpPr>
        <p:spPr>
          <a:xfrm>
            <a:off x="658440" y="1691640"/>
            <a:ext cx="10515240" cy="365400"/>
          </a:xfrm>
          <a:prstGeom prst="rect">
            <a:avLst/>
          </a:prstGeom>
          <a:noFill/>
          <a:ln w="0">
            <a:noFill/>
          </a:ln>
        </p:spPr>
        <p:style>
          <a:lnRef idx="0"/>
          <a:fillRef idx="0"/>
          <a:effectRef idx="0"/>
          <a:fontRef idx="minor"/>
        </p:style>
        <p:txBody>
          <a:bodyPr lIns="0" tIns="0" rIns="0" bIns="0" anchor="t">
            <a:spAutoFit/>
          </a:bodyPr>
          <a:p>
            <a:pPr defTabSz="457200">
              <a:lnSpc>
                <a:spcPct val="125000"/>
              </a:lnSpc>
            </a:pPr>
            <a:r>
              <a:rPr lang="en-US" sz="1200" b="0" u="none" strike="noStrike">
                <a:solidFill>
                  <a:srgbClr val="475467"/>
                </a:solidFill>
                <a:effectLst/>
                <a:uFillTx/>
                <a:latin typeface="Segoe UI"/>
              </a:rPr>
              <a:t>Most teams leave this slide out. Every stage reports zero verified results, because verification needs the bank's own systems and data, which we do not have. Saying so plainly is the point.</a:t>
            </a:r>
            <a:endParaRPr lang="en-US" sz="1200" b="0" u="none" strike="noStrike">
              <a:solidFill>
                <a:srgbClr val="000000"/>
              </a:solidFill>
              <a:effectLst/>
              <a:uFillTx/>
              <a:latin typeface="Arial"/>
            </a:endParaRPr>
          </a:p>
        </p:txBody>
      </p:sp>
      <p:sp>
        <p:nvSpPr>
          <p:cNvPr id="698" name="Rectangle 5"/>
          <p:cNvSpPr/>
          <p:nvPr/>
        </p:nvSpPr>
        <p:spPr>
          <a:xfrm>
            <a:off x="658440" y="2377440"/>
            <a:ext cx="2514240" cy="25200"/>
          </a:xfrm>
          <a:prstGeom prst="rect">
            <a:avLst/>
          </a:prstGeom>
          <a:solidFill>
            <a:srgbClr val="B547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endParaRPr lang="en-US" sz="1800" b="0" u="none" strike="noStrike">
              <a:solidFill>
                <a:schemeClr val="lt1"/>
              </a:solidFill>
              <a:effectLst/>
              <a:uFillTx/>
              <a:latin typeface="Calibri"/>
            </a:endParaRPr>
          </a:p>
        </p:txBody>
      </p:sp>
      <p:sp>
        <p:nvSpPr>
          <p:cNvPr id="699" name="TextBox 6"/>
          <p:cNvSpPr/>
          <p:nvPr/>
        </p:nvSpPr>
        <p:spPr>
          <a:xfrm>
            <a:off x="658440" y="2505600"/>
            <a:ext cx="2514240" cy="5025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800" b="1" u="none" strike="noStrike">
                <a:solidFill>
                  <a:srgbClr val="B54708"/>
                </a:solidFill>
                <a:effectLst/>
                <a:uFillTx/>
                <a:latin typeface="Georgia"/>
              </a:rPr>
              <a:t>0 / 8</a:t>
            </a:r>
            <a:endParaRPr lang="en-US" sz="2800" b="0" u="none" strike="noStrike">
              <a:solidFill>
                <a:srgbClr val="000000"/>
              </a:solidFill>
              <a:effectLst/>
              <a:uFillTx/>
              <a:latin typeface="Arial"/>
            </a:endParaRPr>
          </a:p>
        </p:txBody>
      </p:sp>
      <p:sp>
        <p:nvSpPr>
          <p:cNvPr id="700" name="TextBox 7"/>
          <p:cNvSpPr/>
          <p:nvPr/>
        </p:nvSpPr>
        <p:spPr>
          <a:xfrm>
            <a:off x="658440" y="3035880"/>
            <a:ext cx="2514240" cy="105120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Phase 1 · credit scoring &amp; fraud</a:t>
            </a:r>
            <a:endParaRPr lang="en-US" sz="1000" b="0" u="none" strike="noStrike">
              <a:solidFill>
                <a:srgbClr val="000000"/>
              </a:solidFill>
              <a:effectLst/>
              <a:uFillTx/>
              <a:latin typeface="Arial"/>
            </a:endParaRPr>
          </a:p>
        </p:txBody>
      </p:sp>
      <p:sp>
        <p:nvSpPr>
          <p:cNvPr id="701" name="Rectangle 8"/>
          <p:cNvSpPr/>
          <p:nvPr/>
        </p:nvSpPr>
        <p:spPr>
          <a:xfrm>
            <a:off x="3429000" y="2377440"/>
            <a:ext cx="2514240" cy="25200"/>
          </a:xfrm>
          <a:prstGeom prst="rect">
            <a:avLst/>
          </a:prstGeom>
          <a:solidFill>
            <a:srgbClr val="B547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endParaRPr lang="en-US" sz="1800" b="0" u="none" strike="noStrike">
              <a:solidFill>
                <a:schemeClr val="lt1"/>
              </a:solidFill>
              <a:effectLst/>
              <a:uFillTx/>
              <a:latin typeface="Calibri"/>
            </a:endParaRPr>
          </a:p>
        </p:txBody>
      </p:sp>
      <p:sp>
        <p:nvSpPr>
          <p:cNvPr id="702" name="TextBox 9"/>
          <p:cNvSpPr/>
          <p:nvPr/>
        </p:nvSpPr>
        <p:spPr>
          <a:xfrm>
            <a:off x="3429000" y="2505600"/>
            <a:ext cx="2514240" cy="5025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800" b="1" u="none" strike="noStrike">
                <a:solidFill>
                  <a:srgbClr val="B54708"/>
                </a:solidFill>
                <a:effectLst/>
                <a:uFillTx/>
                <a:latin typeface="Georgia"/>
              </a:rPr>
              <a:t>0 / 6</a:t>
            </a:r>
            <a:endParaRPr lang="en-US" sz="2800" b="0" u="none" strike="noStrike">
              <a:solidFill>
                <a:srgbClr val="000000"/>
              </a:solidFill>
              <a:effectLst/>
              <a:uFillTx/>
              <a:latin typeface="Arial"/>
            </a:endParaRPr>
          </a:p>
        </p:txBody>
      </p:sp>
      <p:sp>
        <p:nvSpPr>
          <p:cNvPr id="703" name="TextBox 10"/>
          <p:cNvSpPr/>
          <p:nvPr/>
        </p:nvSpPr>
        <p:spPr>
          <a:xfrm>
            <a:off x="3429000" y="3035880"/>
            <a:ext cx="2514240" cy="105120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Phase 2 · agri intelligence</a:t>
            </a:r>
            <a:endParaRPr lang="en-US" sz="1000" b="0" u="none" strike="noStrike">
              <a:solidFill>
                <a:srgbClr val="000000"/>
              </a:solidFill>
              <a:effectLst/>
              <a:uFillTx/>
              <a:latin typeface="Arial"/>
            </a:endParaRPr>
          </a:p>
        </p:txBody>
      </p:sp>
      <p:sp>
        <p:nvSpPr>
          <p:cNvPr id="704" name="Rectangle 11"/>
          <p:cNvSpPr/>
          <p:nvPr/>
        </p:nvSpPr>
        <p:spPr>
          <a:xfrm>
            <a:off x="6199560" y="2377440"/>
            <a:ext cx="2514240" cy="25200"/>
          </a:xfrm>
          <a:prstGeom prst="rect">
            <a:avLst/>
          </a:prstGeom>
          <a:solidFill>
            <a:srgbClr val="B547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endParaRPr lang="en-US" sz="1800" b="0" u="none" strike="noStrike">
              <a:solidFill>
                <a:schemeClr val="lt1"/>
              </a:solidFill>
              <a:effectLst/>
              <a:uFillTx/>
              <a:latin typeface="Calibri"/>
            </a:endParaRPr>
          </a:p>
        </p:txBody>
      </p:sp>
      <p:sp>
        <p:nvSpPr>
          <p:cNvPr id="705" name="TextBox 12"/>
          <p:cNvSpPr/>
          <p:nvPr/>
        </p:nvSpPr>
        <p:spPr>
          <a:xfrm>
            <a:off x="6199560" y="2505600"/>
            <a:ext cx="2514240" cy="5025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800" b="1" u="none" strike="noStrike">
                <a:solidFill>
                  <a:srgbClr val="B54708"/>
                </a:solidFill>
                <a:effectLst/>
                <a:uFillTx/>
                <a:latin typeface="Georgia"/>
              </a:rPr>
              <a:t>0 / 6</a:t>
            </a:r>
            <a:endParaRPr lang="en-US" sz="2800" b="0" u="none" strike="noStrike">
              <a:solidFill>
                <a:srgbClr val="000000"/>
              </a:solidFill>
              <a:effectLst/>
              <a:uFillTx/>
              <a:latin typeface="Arial"/>
            </a:endParaRPr>
          </a:p>
        </p:txBody>
      </p:sp>
      <p:sp>
        <p:nvSpPr>
          <p:cNvPr id="706" name="TextBox 13"/>
          <p:cNvSpPr/>
          <p:nvPr/>
        </p:nvSpPr>
        <p:spPr>
          <a:xfrm>
            <a:off x="6199560" y="3035880"/>
            <a:ext cx="2514240" cy="105120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Phase 3 · portfolio risk</a:t>
            </a:r>
            <a:endParaRPr lang="en-US" sz="1000" b="0" u="none" strike="noStrike">
              <a:solidFill>
                <a:srgbClr val="000000"/>
              </a:solidFill>
              <a:effectLst/>
              <a:uFillTx/>
              <a:latin typeface="Arial"/>
            </a:endParaRPr>
          </a:p>
        </p:txBody>
      </p:sp>
      <p:sp>
        <p:nvSpPr>
          <p:cNvPr id="707" name="Rectangle 14"/>
          <p:cNvSpPr/>
          <p:nvPr/>
        </p:nvSpPr>
        <p:spPr>
          <a:xfrm>
            <a:off x="8970120" y="2377440"/>
            <a:ext cx="2514240" cy="25200"/>
          </a:xfrm>
          <a:prstGeom prst="rect">
            <a:avLst/>
          </a:prstGeom>
          <a:solidFill>
            <a:srgbClr val="B547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19440" rIns="90000" bIns="-19440" anchor="ctr">
            <a:noAutofit/>
          </a:bodyPr>
          <a:p>
            <a:endParaRPr lang="en-US" sz="1800" b="0" u="none" strike="noStrike">
              <a:solidFill>
                <a:schemeClr val="lt1"/>
              </a:solidFill>
              <a:effectLst/>
              <a:uFillTx/>
              <a:latin typeface="Calibri"/>
            </a:endParaRPr>
          </a:p>
        </p:txBody>
      </p:sp>
      <p:sp>
        <p:nvSpPr>
          <p:cNvPr id="708" name="TextBox 15"/>
          <p:cNvSpPr/>
          <p:nvPr/>
        </p:nvSpPr>
        <p:spPr>
          <a:xfrm>
            <a:off x="8970120" y="2505600"/>
            <a:ext cx="2514240" cy="5025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2800" b="1" u="none" strike="noStrike">
                <a:solidFill>
                  <a:srgbClr val="B54708"/>
                </a:solidFill>
                <a:effectLst/>
                <a:uFillTx/>
                <a:latin typeface="Georgia"/>
              </a:rPr>
              <a:t>0 / 5</a:t>
            </a:r>
            <a:endParaRPr lang="en-US" sz="2800" b="0" u="none" strike="noStrike">
              <a:solidFill>
                <a:srgbClr val="000000"/>
              </a:solidFill>
              <a:effectLst/>
              <a:uFillTx/>
              <a:latin typeface="Arial"/>
            </a:endParaRPr>
          </a:p>
        </p:txBody>
      </p:sp>
      <p:sp>
        <p:nvSpPr>
          <p:cNvPr id="709" name="TextBox 16"/>
          <p:cNvSpPr/>
          <p:nvPr/>
        </p:nvSpPr>
        <p:spPr>
          <a:xfrm>
            <a:off x="8970120" y="3035880"/>
            <a:ext cx="2514240" cy="105120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00" b="0" u="none" strike="noStrike">
                <a:solidFill>
                  <a:srgbClr val="475467"/>
                </a:solidFill>
                <a:effectLst/>
                <a:uFillTx/>
                <a:latin typeface="Segoe UI"/>
              </a:rPr>
              <a:t>Phase 4 · EWS &amp; recommendations</a:t>
            </a:r>
            <a:endParaRPr lang="en-US" sz="1000" b="0" u="none" strike="noStrike">
              <a:solidFill>
                <a:srgbClr val="000000"/>
              </a:solidFill>
              <a:effectLst/>
              <a:uFillTx/>
              <a:latin typeface="Arial"/>
            </a:endParaRPr>
          </a:p>
        </p:txBody>
      </p:sp>
      <p:sp>
        <p:nvSpPr>
          <p:cNvPr id="710" name="TextBox 17"/>
          <p:cNvSpPr/>
          <p:nvPr/>
        </p:nvSpPr>
        <p:spPr>
          <a:xfrm>
            <a:off x="658440" y="3749040"/>
            <a:ext cx="539460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950" b="0" u="none" strike="noStrike">
                <a:solidFill>
                  <a:srgbClr val="6B7C93"/>
                </a:solidFill>
                <a:effectLst/>
                <a:uFillTx/>
                <a:latin typeface="Consolas"/>
              </a:rPr>
              <a:t>THREE GATE STATES, NOT TWO</a:t>
            </a:r>
            <a:endParaRPr lang="en-US" sz="950" b="0" u="none" strike="noStrike">
              <a:solidFill>
                <a:srgbClr val="000000"/>
              </a:solidFill>
              <a:effectLst/>
              <a:uFillTx/>
              <a:latin typeface="Arial"/>
            </a:endParaRPr>
          </a:p>
        </p:txBody>
      </p:sp>
      <p:sp>
        <p:nvSpPr>
          <p:cNvPr id="711" name="TextBox 18"/>
          <p:cNvSpPr/>
          <p:nvPr/>
        </p:nvSpPr>
        <p:spPr>
          <a:xfrm>
            <a:off x="658440" y="4206240"/>
            <a:ext cx="173700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01828"/>
                </a:solidFill>
                <a:effectLst/>
                <a:uFillTx/>
                <a:latin typeface="Segoe UI"/>
              </a:rPr>
              <a:t>Not measured</a:t>
            </a:r>
            <a:endParaRPr lang="en-US" sz="1200" b="0" u="none" strike="noStrike">
              <a:solidFill>
                <a:srgbClr val="000000"/>
              </a:solidFill>
              <a:effectLst/>
              <a:uFillTx/>
              <a:latin typeface="Arial"/>
            </a:endParaRPr>
          </a:p>
        </p:txBody>
      </p:sp>
      <p:sp>
        <p:nvSpPr>
          <p:cNvPr id="712" name="TextBox 19"/>
          <p:cNvSpPr/>
          <p:nvPr/>
        </p:nvSpPr>
        <p:spPr>
          <a:xfrm>
            <a:off x="2441520" y="4233600"/>
            <a:ext cx="3565800" cy="36540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50" b="0" u="none" strike="noStrike">
                <a:solidFill>
                  <a:srgbClr val="475467"/>
                </a:solidFill>
                <a:effectLst/>
                <a:uFillTx/>
                <a:latin typeface="Segoe UI"/>
              </a:rPr>
              <a:t>the job has not run — a scheduling problem</a:t>
            </a:r>
            <a:endParaRPr lang="en-US" sz="1050" b="0" u="none" strike="noStrike">
              <a:solidFill>
                <a:srgbClr val="000000"/>
              </a:solidFill>
              <a:effectLst/>
              <a:uFillTx/>
              <a:latin typeface="Arial"/>
            </a:endParaRPr>
          </a:p>
        </p:txBody>
      </p:sp>
      <p:sp>
        <p:nvSpPr>
          <p:cNvPr id="713" name="TextBox 20"/>
          <p:cNvSpPr/>
          <p:nvPr/>
        </p:nvSpPr>
        <p:spPr>
          <a:xfrm>
            <a:off x="658440" y="4919400"/>
            <a:ext cx="173700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01828"/>
                </a:solidFill>
                <a:effectLst/>
                <a:uFillTx/>
                <a:latin typeface="Segoe UI"/>
              </a:rPr>
              <a:t>Not measurable</a:t>
            </a:r>
            <a:endParaRPr lang="en-US" sz="1200" b="0" u="none" strike="noStrike">
              <a:solidFill>
                <a:srgbClr val="000000"/>
              </a:solidFill>
              <a:effectLst/>
              <a:uFillTx/>
              <a:latin typeface="Arial"/>
            </a:endParaRPr>
          </a:p>
        </p:txBody>
      </p:sp>
      <p:sp>
        <p:nvSpPr>
          <p:cNvPr id="714" name="TextBox 21"/>
          <p:cNvSpPr/>
          <p:nvPr/>
        </p:nvSpPr>
        <p:spPr>
          <a:xfrm>
            <a:off x="2441520" y="4946760"/>
            <a:ext cx="3565800" cy="36540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50" b="0" u="none" strike="noStrike">
                <a:solidFill>
                  <a:srgbClr val="475467"/>
                </a:solidFill>
                <a:effectLst/>
                <a:uFillTx/>
                <a:latin typeface="Segoe UI"/>
              </a:rPr>
              <a:t>no reachable data produces it — a sourcing problem</a:t>
            </a:r>
            <a:endParaRPr lang="en-US" sz="1050" b="0" u="none" strike="noStrike">
              <a:solidFill>
                <a:srgbClr val="000000"/>
              </a:solidFill>
              <a:effectLst/>
              <a:uFillTx/>
              <a:latin typeface="Arial"/>
            </a:endParaRPr>
          </a:p>
        </p:txBody>
      </p:sp>
      <p:sp>
        <p:nvSpPr>
          <p:cNvPr id="715" name="TextBox 22"/>
          <p:cNvSpPr/>
          <p:nvPr/>
        </p:nvSpPr>
        <p:spPr>
          <a:xfrm>
            <a:off x="658440" y="5632560"/>
            <a:ext cx="1737000" cy="2556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101828"/>
                </a:solidFill>
                <a:effectLst/>
                <a:uFillTx/>
                <a:latin typeface="Segoe UI"/>
              </a:rPr>
              <a:t>Unidentifiable</a:t>
            </a:r>
            <a:endParaRPr lang="en-US" sz="1200" b="0" u="none" strike="noStrike">
              <a:solidFill>
                <a:srgbClr val="000000"/>
              </a:solidFill>
              <a:effectLst/>
              <a:uFillTx/>
              <a:latin typeface="Arial"/>
            </a:endParaRPr>
          </a:p>
        </p:txBody>
      </p:sp>
      <p:sp>
        <p:nvSpPr>
          <p:cNvPr id="716" name="TextBox 23"/>
          <p:cNvSpPr/>
          <p:nvPr/>
        </p:nvSpPr>
        <p:spPr>
          <a:xfrm>
            <a:off x="2441520" y="5660280"/>
            <a:ext cx="3565800" cy="365400"/>
          </a:xfrm>
          <a:prstGeom prst="rect">
            <a:avLst/>
          </a:prstGeom>
          <a:noFill/>
          <a:ln w="0">
            <a:noFill/>
          </a:ln>
        </p:spPr>
        <p:style>
          <a:lnRef idx="0"/>
          <a:fillRef idx="0"/>
          <a:effectRef idx="0"/>
          <a:fontRef idx="minor"/>
        </p:style>
        <p:txBody>
          <a:bodyPr lIns="0" tIns="0" rIns="0" bIns="0" anchor="t">
            <a:spAutoFit/>
          </a:bodyPr>
          <a:p>
            <a:pPr defTabSz="457200">
              <a:lnSpc>
                <a:spcPct val="115000"/>
              </a:lnSpc>
            </a:pPr>
            <a:r>
              <a:rPr lang="en-US" sz="1050" b="0" u="none" strike="noStrike">
                <a:solidFill>
                  <a:srgbClr val="475467"/>
                </a:solidFill>
                <a:effectLst/>
                <a:uFillTx/>
                <a:latin typeface="Segoe UI"/>
              </a:rPr>
              <a:t>no quantity of data produces it — a design problem</a:t>
            </a:r>
            <a:endParaRPr lang="en-US" sz="1050" b="0" u="none" strike="noStrike">
              <a:solidFill>
                <a:srgbClr val="000000"/>
              </a:solidFill>
              <a:effectLst/>
              <a:uFillTx/>
              <a:latin typeface="Arial"/>
            </a:endParaRPr>
          </a:p>
        </p:txBody>
      </p:sp>
      <p:sp>
        <p:nvSpPr>
          <p:cNvPr id="717" name="Rectangle 24"/>
          <p:cNvSpPr/>
          <p:nvPr/>
        </p:nvSpPr>
        <p:spPr>
          <a:xfrm>
            <a:off x="6400800" y="3749040"/>
            <a:ext cx="5120280" cy="2102760"/>
          </a:xfrm>
          <a:prstGeom prst="rect">
            <a:avLst/>
          </a:prstGeom>
          <a:solidFill>
            <a:srgbClr val="E8F5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18" name="Rectangle 25"/>
          <p:cNvSpPr/>
          <p:nvPr/>
        </p:nvSpPr>
        <p:spPr>
          <a:xfrm>
            <a:off x="6400800" y="3749040"/>
            <a:ext cx="36360" cy="2102760"/>
          </a:xfrm>
          <a:prstGeom prst="rect">
            <a:avLst/>
          </a:prstGeom>
          <a:solidFill>
            <a:srgbClr val="06764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19" name="TextBox 26"/>
          <p:cNvSpPr/>
          <p:nvPr/>
        </p:nvSpPr>
        <p:spPr>
          <a:xfrm>
            <a:off x="6602040" y="3867840"/>
            <a:ext cx="4736160" cy="1865160"/>
          </a:xfrm>
          <a:prstGeom prst="rect">
            <a:avLst/>
          </a:prstGeom>
          <a:noFill/>
          <a:ln w="0">
            <a:noFill/>
          </a:ln>
        </p:spPr>
        <p:style>
          <a:lnRef idx="0"/>
          <a:fillRef idx="0"/>
          <a:effectRef idx="0"/>
          <a:fontRef idx="minor"/>
        </p:style>
        <p:txBody>
          <a:bodyPr lIns="0" tIns="0" rIns="0" bIns="0" anchor="t">
            <a:spAutoFit/>
          </a:bodyPr>
          <a:p>
            <a:pPr defTabSz="457200">
              <a:lnSpc>
                <a:spcPct val="118000"/>
              </a:lnSpc>
            </a:pPr>
            <a:r>
              <a:rPr lang="en-US" sz="1150" b="0" u="none" strike="noStrike">
                <a:solidFill>
                  <a:srgbClr val="475467"/>
                </a:solidFill>
                <a:effectLst/>
                <a:uFillTx/>
                <a:latin typeface="Segoe UI"/>
              </a:rPr>
              <a:t>What a bank gets from this. Everything that can be built is built and tested. Everything that cannot names who must decide it. Nothing has to be torn out later because somebody guessed — because nobody guessed.</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A3A68"/>
        </a:solidFill>
      </p:bgPr>
    </p:bg>
    <p:spTree>
      <p:nvGrpSpPr>
        <p:cNvPr id="1" name=""/>
        <p:cNvGrpSpPr/>
        <p:nvPr/>
      </p:nvGrpSpPr>
      <p:grpSpPr>
        <a:xfrm>
          <a:off x="0" y="0"/>
          <a:ext cx="0" cy="0"/>
          <a:chOff x="0" y="0"/>
          <a:chExt cx="0" cy="0"/>
        </a:xfrm>
      </p:grpSpPr>
      <p:sp>
        <p:nvSpPr>
          <p:cNvPr id="720" name="Rectangle 1"/>
          <p:cNvSpPr/>
          <p:nvPr/>
        </p:nvSpPr>
        <p:spPr>
          <a:xfrm>
            <a:off x="0" y="0"/>
            <a:ext cx="12191400" cy="6857640"/>
          </a:xfrm>
          <a:prstGeom prst="rect">
            <a:avLst/>
          </a:prstGeom>
          <a:solidFill>
            <a:srgbClr val="0A3A6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21" name="Rectangle 2"/>
          <p:cNvSpPr/>
          <p:nvPr/>
        </p:nvSpPr>
        <p:spPr>
          <a:xfrm>
            <a:off x="8778240" y="0"/>
            <a:ext cx="3474360" cy="6857640"/>
          </a:xfrm>
          <a:prstGeom prst="rect">
            <a:avLst/>
          </a:prstGeom>
          <a:solidFill>
            <a:srgbClr val="0D4A8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22" name="Rectangle 3"/>
          <p:cNvSpPr/>
          <p:nvPr/>
        </p:nvSpPr>
        <p:spPr>
          <a:xfrm>
            <a:off x="11155680" y="0"/>
            <a:ext cx="1096920" cy="6857640"/>
          </a:xfrm>
          <a:prstGeom prst="rect">
            <a:avLst/>
          </a:prstGeom>
          <a:solidFill>
            <a:srgbClr val="2166A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23" name="TextBox 4"/>
          <p:cNvSpPr/>
          <p:nvPr/>
        </p:nvSpPr>
        <p:spPr>
          <a:xfrm>
            <a:off x="658440" y="1280160"/>
            <a:ext cx="786348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100" b="0" u="none" strike="noStrike">
                <a:solidFill>
                  <a:srgbClr val="ADC9E5"/>
                </a:solidFill>
                <a:effectLst/>
                <a:uFillTx/>
                <a:latin typeface="Consolas"/>
              </a:rPr>
              <a:t>WHY THIS APPROACH</a:t>
            </a:r>
            <a:endParaRPr lang="en-US" sz="1100" b="0" u="none" strike="noStrike">
              <a:solidFill>
                <a:srgbClr val="FFFFFF"/>
              </a:solidFill>
              <a:effectLst/>
              <a:uFillTx/>
              <a:latin typeface="Arial"/>
            </a:endParaRPr>
          </a:p>
        </p:txBody>
      </p:sp>
      <p:sp>
        <p:nvSpPr>
          <p:cNvPr id="724" name="TextBox 5"/>
          <p:cNvSpPr/>
          <p:nvPr/>
        </p:nvSpPr>
        <p:spPr>
          <a:xfrm>
            <a:off x="658440" y="1783080"/>
            <a:ext cx="7772040" cy="173700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3400" b="1" u="none" strike="noStrike">
                <a:solidFill>
                  <a:srgbClr val="FFFFFF"/>
                </a:solidFill>
                <a:effectLst/>
                <a:uFillTx/>
                <a:latin typeface="Georgia"/>
              </a:rPr>
              <a:t>A model that cannot say what</a:t>
            </a:r>
            <a:br>
              <a:rPr sz="1800"/>
            </a:br>
            <a:r>
              <a:rPr lang="en-US" sz="3400" b="1" u="none" strike="noStrike">
                <a:solidFill>
                  <a:srgbClr val="FFFFFF"/>
                </a:solidFill>
                <a:effectLst/>
                <a:uFillTx/>
                <a:latin typeface="Georgia"/>
              </a:rPr>
              <a:t>it does not know is a liability</a:t>
            </a:r>
            <a:endParaRPr lang="en-US" sz="3400" b="0" u="none" strike="noStrike">
              <a:solidFill>
                <a:srgbClr val="FFFFFF"/>
              </a:solidFill>
              <a:effectLst/>
              <a:uFillTx/>
              <a:latin typeface="Arial"/>
            </a:endParaRPr>
          </a:p>
        </p:txBody>
      </p:sp>
      <p:sp>
        <p:nvSpPr>
          <p:cNvPr id="725" name="TextBox 6"/>
          <p:cNvSpPr/>
          <p:nvPr/>
        </p:nvSpPr>
        <p:spPr>
          <a:xfrm>
            <a:off x="658440" y="3749040"/>
            <a:ext cx="7589160" cy="1279800"/>
          </a:xfrm>
          <a:prstGeom prst="rect">
            <a:avLst/>
          </a:prstGeom>
          <a:noFill/>
          <a:ln w="0">
            <a:noFill/>
          </a:ln>
        </p:spPr>
        <p:style>
          <a:lnRef idx="0"/>
          <a:fillRef idx="0"/>
          <a:effectRef idx="0"/>
          <a:fontRef idx="minor"/>
        </p:style>
        <p:txBody>
          <a:bodyPr lIns="0" tIns="0" rIns="0" bIns="0" anchor="t">
            <a:spAutoFit/>
          </a:bodyPr>
          <a:p>
            <a:pPr defTabSz="457200">
              <a:lnSpc>
                <a:spcPct val="130000"/>
              </a:lnSpc>
            </a:pPr>
            <a:r>
              <a:rPr lang="en-US" sz="1300" b="0" u="none" strike="noStrike">
                <a:solidFill>
                  <a:srgbClr val="D6E4F2"/>
                </a:solidFill>
                <a:effectLst/>
                <a:uFillTx/>
                <a:latin typeface="Segoe UI"/>
              </a:rPr>
              <a:t>Lending is a regulated activity. A number on a screen becomes a number in a complaint, a number in an audit, and a number in front of a regulator. This build is engineered so every one of those numbers traces to the script that produced it — or does not appear at all.</a:t>
            </a:r>
            <a:endParaRPr lang="en-US" sz="1300" b="0" u="none" strike="noStrike">
              <a:solidFill>
                <a:srgbClr val="FFFFFF"/>
              </a:solidFill>
              <a:effectLst/>
              <a:uFillTx/>
              <a:latin typeface="Arial"/>
            </a:endParaRPr>
          </a:p>
        </p:txBody>
      </p:sp>
      <p:sp>
        <p:nvSpPr>
          <p:cNvPr id="726" name="Rectangle 7"/>
          <p:cNvSpPr/>
          <p:nvPr/>
        </p:nvSpPr>
        <p:spPr>
          <a:xfrm>
            <a:off x="658440" y="5212080"/>
            <a:ext cx="7589160" cy="9000"/>
          </a:xfrm>
          <a:prstGeom prst="rect">
            <a:avLst/>
          </a:prstGeom>
          <a:solidFill>
            <a:srgbClr val="2166A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5640" rIns="90000" bIns="-35640" anchor="ctr">
            <a:noAutofit/>
          </a:bodyPr>
          <a:p>
            <a:endParaRPr lang="en-US" sz="1800" b="0" u="none" strike="noStrike">
              <a:solidFill>
                <a:schemeClr val="lt1"/>
              </a:solidFill>
              <a:effectLst/>
              <a:uFillTx/>
              <a:latin typeface="Calibri"/>
            </a:endParaRPr>
          </a:p>
        </p:txBody>
      </p:sp>
      <p:sp>
        <p:nvSpPr>
          <p:cNvPr id="727" name="TextBox 8"/>
          <p:cNvSpPr/>
          <p:nvPr/>
        </p:nvSpPr>
        <p:spPr>
          <a:xfrm>
            <a:off x="658440" y="5440680"/>
            <a:ext cx="18284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FFFFFF"/>
                </a:solidFill>
                <a:effectLst/>
                <a:uFillTx/>
                <a:latin typeface="Segoe UI"/>
              </a:rPr>
              <a:t>Refuses, not defaults</a:t>
            </a:r>
            <a:endParaRPr lang="en-US" sz="1200" b="0" u="none" strike="noStrike">
              <a:solidFill>
                <a:srgbClr val="FFFFFF"/>
              </a:solidFill>
              <a:effectLst/>
              <a:uFillTx/>
              <a:latin typeface="Arial"/>
            </a:endParaRPr>
          </a:p>
        </p:txBody>
      </p:sp>
      <p:sp>
        <p:nvSpPr>
          <p:cNvPr id="728" name="TextBox 9"/>
          <p:cNvSpPr/>
          <p:nvPr/>
        </p:nvSpPr>
        <p:spPr>
          <a:xfrm>
            <a:off x="658440" y="5742360"/>
            <a:ext cx="1828440" cy="36540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00" b="0" u="none" strike="noStrike">
                <a:solidFill>
                  <a:srgbClr val="ADC9E5"/>
                </a:solidFill>
                <a:effectLst/>
                <a:uFillTx/>
                <a:latin typeface="Consolas"/>
              </a:rPr>
              <a:t>Missing policy raises an error</a:t>
            </a:r>
            <a:endParaRPr lang="en-US" sz="900" b="0" u="none" strike="noStrike">
              <a:solidFill>
                <a:srgbClr val="FFFFFF"/>
              </a:solidFill>
              <a:effectLst/>
              <a:uFillTx/>
              <a:latin typeface="Arial"/>
            </a:endParaRPr>
          </a:p>
        </p:txBody>
      </p:sp>
      <p:sp>
        <p:nvSpPr>
          <p:cNvPr id="729" name="TextBox 10"/>
          <p:cNvSpPr/>
          <p:nvPr/>
        </p:nvSpPr>
        <p:spPr>
          <a:xfrm>
            <a:off x="2597040" y="5440680"/>
            <a:ext cx="18284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FFFFFF"/>
                </a:solidFill>
                <a:effectLst/>
                <a:uFillTx/>
                <a:latin typeface="Segoe UI"/>
              </a:rPr>
              <a:t>Stamped, not asserted</a:t>
            </a:r>
            <a:endParaRPr lang="en-US" sz="1200" b="0" u="none" strike="noStrike">
              <a:solidFill>
                <a:srgbClr val="FFFFFF"/>
              </a:solidFill>
              <a:effectLst/>
              <a:uFillTx/>
              <a:latin typeface="Arial"/>
            </a:endParaRPr>
          </a:p>
        </p:txBody>
      </p:sp>
      <p:sp>
        <p:nvSpPr>
          <p:cNvPr id="730" name="TextBox 11"/>
          <p:cNvSpPr/>
          <p:nvPr/>
        </p:nvSpPr>
        <p:spPr>
          <a:xfrm>
            <a:off x="2597040" y="5742360"/>
            <a:ext cx="1828440" cy="36540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00" b="0" u="none" strike="noStrike">
                <a:solidFill>
                  <a:srgbClr val="ADC9E5"/>
                </a:solidFill>
                <a:effectLst/>
                <a:uFillTx/>
                <a:latin typeface="Consolas"/>
              </a:rPr>
              <a:t>Every figure names its track</a:t>
            </a:r>
            <a:endParaRPr lang="en-US" sz="900" b="0" u="none" strike="noStrike">
              <a:solidFill>
                <a:srgbClr val="FFFFFF"/>
              </a:solidFill>
              <a:effectLst/>
              <a:uFillTx/>
              <a:latin typeface="Arial"/>
            </a:endParaRPr>
          </a:p>
        </p:txBody>
      </p:sp>
      <p:sp>
        <p:nvSpPr>
          <p:cNvPr id="731" name="TextBox 12"/>
          <p:cNvSpPr/>
          <p:nvPr/>
        </p:nvSpPr>
        <p:spPr>
          <a:xfrm>
            <a:off x="4535280" y="5440680"/>
            <a:ext cx="18284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FFFFFF"/>
                </a:solidFill>
                <a:effectLst/>
                <a:uFillTx/>
                <a:latin typeface="Segoe UI"/>
              </a:rPr>
              <a:t>Ported, not invented</a:t>
            </a:r>
            <a:endParaRPr lang="en-US" sz="1200" b="0" u="none" strike="noStrike">
              <a:solidFill>
                <a:srgbClr val="FFFFFF"/>
              </a:solidFill>
              <a:effectLst/>
              <a:uFillTx/>
              <a:latin typeface="Arial"/>
            </a:endParaRPr>
          </a:p>
        </p:txBody>
      </p:sp>
      <p:sp>
        <p:nvSpPr>
          <p:cNvPr id="732" name="TextBox 13"/>
          <p:cNvSpPr/>
          <p:nvPr/>
        </p:nvSpPr>
        <p:spPr>
          <a:xfrm>
            <a:off x="4535280" y="5742360"/>
            <a:ext cx="1828440" cy="36540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00" b="0" u="none" strike="noStrike">
                <a:solidFill>
                  <a:srgbClr val="ADC9E5"/>
                </a:solidFill>
                <a:effectLst/>
                <a:uFillTx/>
                <a:latin typeface="Consolas"/>
              </a:rPr>
              <a:t>Each algorithm cites its paper</a:t>
            </a:r>
            <a:endParaRPr lang="en-US" sz="900" b="0" u="none" strike="noStrike">
              <a:solidFill>
                <a:srgbClr val="FFFFFF"/>
              </a:solidFill>
              <a:effectLst/>
              <a:uFillTx/>
              <a:latin typeface="Arial"/>
            </a:endParaRPr>
          </a:p>
        </p:txBody>
      </p:sp>
      <p:sp>
        <p:nvSpPr>
          <p:cNvPr id="733" name="TextBox 14"/>
          <p:cNvSpPr/>
          <p:nvPr/>
        </p:nvSpPr>
        <p:spPr>
          <a:xfrm>
            <a:off x="6473880" y="5440680"/>
            <a:ext cx="1828440" cy="273960"/>
          </a:xfrm>
          <a:prstGeom prst="rect">
            <a:avLst/>
          </a:prstGeom>
          <a:noFill/>
          <a:ln w="0">
            <a:noFill/>
          </a:ln>
        </p:spPr>
        <p:style>
          <a:lnRef idx="0"/>
          <a:fillRef idx="0"/>
          <a:effectRef idx="0"/>
          <a:fontRef idx="minor"/>
        </p:style>
        <p:txBody>
          <a:bodyPr lIns="0" tIns="0" rIns="0" bIns="0" anchor="t">
            <a:spAutoFit/>
          </a:bodyPr>
          <a:p>
            <a:pPr defTabSz="457200">
              <a:lnSpc>
                <a:spcPct val="100000"/>
              </a:lnSpc>
            </a:pPr>
            <a:r>
              <a:rPr lang="en-US" sz="1200" b="1" u="none" strike="noStrike">
                <a:solidFill>
                  <a:srgbClr val="FFFFFF"/>
                </a:solidFill>
                <a:effectLst/>
                <a:uFillTx/>
                <a:latin typeface="Segoe UI"/>
              </a:rPr>
              <a:t>Registered, not hidden</a:t>
            </a:r>
            <a:endParaRPr lang="en-US" sz="1200" b="0" u="none" strike="noStrike">
              <a:solidFill>
                <a:srgbClr val="FFFFFF"/>
              </a:solidFill>
              <a:effectLst/>
              <a:uFillTx/>
              <a:latin typeface="Arial"/>
            </a:endParaRPr>
          </a:p>
        </p:txBody>
      </p:sp>
      <p:sp>
        <p:nvSpPr>
          <p:cNvPr id="734" name="TextBox 15"/>
          <p:cNvSpPr/>
          <p:nvPr/>
        </p:nvSpPr>
        <p:spPr>
          <a:xfrm>
            <a:off x="6473880" y="5742360"/>
            <a:ext cx="1828440" cy="365400"/>
          </a:xfrm>
          <a:prstGeom prst="rect">
            <a:avLst/>
          </a:prstGeom>
          <a:noFill/>
          <a:ln w="0">
            <a:noFill/>
          </a:ln>
        </p:spPr>
        <p:style>
          <a:lnRef idx="0"/>
          <a:fillRef idx="0"/>
          <a:effectRef idx="0"/>
          <a:fontRef idx="minor"/>
        </p:style>
        <p:txBody>
          <a:bodyPr lIns="0" tIns="0" rIns="0" bIns="0" anchor="t">
            <a:spAutoFit/>
          </a:bodyPr>
          <a:p>
            <a:pPr defTabSz="457200">
              <a:lnSpc>
                <a:spcPct val="110000"/>
              </a:lnSpc>
            </a:pPr>
            <a:r>
              <a:rPr lang="en-US" sz="900" b="0" u="none" strike="noStrike">
                <a:solidFill>
                  <a:srgbClr val="ADC9E5"/>
                </a:solidFill>
                <a:effectLst/>
                <a:uFillTx/>
                <a:latin typeface="Consolas"/>
              </a:rPr>
              <a:t>98 tickets, each with an owner</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TotalTime>
  <Application>LibreOffice/26.2.5.2$Linux_X86_64 LibreOffice_project/620$Build-2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Figures from committed, rerunnable scripts. Track P results are on public reference data and are not gate evidence for any bank.</dc:description>
  <dc:language>en-US</dc:language>
  <cp:lastModifiedBy/>
  <dcterms:modified xsi:type="dcterms:W3CDTF">2026-09-06T16:02:39Z</dcterms:modified>
  <cp:revision>2</cp:revision>
  <dc:subject>TVS Credit EPIC 8.0 IT Challenge</dc:subject>
  <dc:title>AI-Powered Smart Lending Decision Hub</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