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4E9FFE-E34C-43B2-A913-002A72F3F3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326812-0E9A-4CC3-9FC3-30882A8810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B58C2A-6BC0-41D3-B116-A282A3DF08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E040CF-B98F-4C9F-BB3C-F46CA77D4D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8392F7-1C49-4075-B5A7-083A99AA62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43BB68-0F33-4AD6-BB9B-F6F923DBBF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F571AB-99E3-4EBC-A03A-BEBACAD693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E42838-5B1D-49A1-A0C7-352995F5E3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90198E-B7AD-4BD5-8C3B-FB563C626C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FA1A51-C21E-4A6D-840F-48B4E062C0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76D8D3-0407-4B50-B340-D58C460E05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0A3A68"/>
          </a:solidFill>
          <a:ln w="8890">
            <a:solidFill>
              <a:srgbClr val="0A3A6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502920" y="34740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166A3"/>
                </a:solidFill>
                <a:effectLst/>
                <a:uFillTx/>
                <a:latin typeface="Consolas"/>
              </a:rPr>
              <a:t>TVS CREDIT EPIC 8.0  ·  AI-POWERED SMART LENDING DECISION HUB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502920" y="621720"/>
            <a:ext cx="7589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0A3A68"/>
                </a:solidFill>
                <a:effectLst/>
                <a:uFillTx/>
                <a:latin typeface="Georgia"/>
              </a:rPr>
              <a:t>Agricultural lending has an information gap —</a:t>
            </a:r>
            <a:br>
              <a:rPr sz="1800"/>
            </a:br>
            <a:r>
              <a:rPr lang="en-US" sz="2500" b="1" u="none" strike="noStrike">
                <a:solidFill>
                  <a:srgbClr val="0A3A68"/>
                </a:solidFill>
                <a:effectLst/>
                <a:uFillTx/>
                <a:latin typeface="Georgia"/>
              </a:rPr>
              <a:t>not just a credit-score gap.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521280" y="1481400"/>
            <a:ext cx="7360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8667A"/>
                </a:solidFill>
                <a:effectLst/>
                <a:uFillTx/>
                <a:latin typeface="Aptos"/>
              </a:rPr>
              <a:t>Farmers may have limited formal credit history, while lenders lack timely crop, cash-flow and fraud context. The result is slower, less inclusive lending and risk that is discovered after the borrower is already in trouble.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521280" y="213048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B54708"/>
                </a:solidFill>
                <a:effectLst/>
                <a:uFillTx/>
                <a:latin typeface="Consolas"/>
              </a:rPr>
              <a:t>THE LENDING GAP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ounded Rectangle 6"/>
          <p:cNvSpPr/>
          <p:nvPr/>
        </p:nvSpPr>
        <p:spPr>
          <a:xfrm>
            <a:off x="521280" y="2404800"/>
            <a:ext cx="2340360" cy="1279800"/>
          </a:xfrm>
          <a:prstGeom prst="roundRect">
            <a:avLst>
              <a:gd name="adj" fmla="val 16667"/>
            </a:avLst>
          </a:prstGeom>
          <a:solidFill>
            <a:srgbClr val="FDF3EA"/>
          </a:solidFill>
          <a:ln w="8890">
            <a:solidFill>
              <a:srgbClr val="F0D7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Oval 7"/>
          <p:cNvSpPr/>
          <p:nvPr/>
        </p:nvSpPr>
        <p:spPr>
          <a:xfrm>
            <a:off x="667440" y="2578680"/>
            <a:ext cx="310680" cy="310680"/>
          </a:xfrm>
          <a:prstGeom prst="ellipse">
            <a:avLst/>
          </a:prstGeom>
          <a:solidFill>
            <a:srgbClr val="B547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667440" y="261972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01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1088280" y="2551320"/>
            <a:ext cx="159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Thin borrower evidence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676800" y="2926080"/>
            <a:ext cx="1992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30" b="0" u="none" strike="noStrike">
                <a:solidFill>
                  <a:srgbClr val="58667A"/>
                </a:solidFill>
                <a:effectLst/>
                <a:uFillTx/>
                <a:latin typeface="Aptos"/>
              </a:rPr>
              <a:t>Limited bureau history, seasonal income and fragmented records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1" name="Connector 11"/>
          <p:cNvCxnSpPr/>
          <p:nvPr/>
        </p:nvCxnSpPr>
        <p:spPr>
          <a:xfrm>
            <a:off x="2880000" y="3044880"/>
            <a:ext cx="311400" cy="360"/>
          </a:xfrm>
          <a:prstGeom prst="straightConnector1">
            <a:avLst/>
          </a:prstGeom>
          <a:ln w="17780">
            <a:solidFill>
              <a:srgbClr val="B54708"/>
            </a:solidFill>
            <a:round/>
          </a:ln>
        </p:spPr>
      </p:cxnSp>
      <p:sp>
        <p:nvSpPr>
          <p:cNvPr id="72" name="Rounded Rectangle 12"/>
          <p:cNvSpPr/>
          <p:nvPr/>
        </p:nvSpPr>
        <p:spPr>
          <a:xfrm>
            <a:off x="3246120" y="2404800"/>
            <a:ext cx="2340360" cy="1279800"/>
          </a:xfrm>
          <a:prstGeom prst="roundRect">
            <a:avLst>
              <a:gd name="adj" fmla="val 16667"/>
            </a:avLst>
          </a:prstGeom>
          <a:solidFill>
            <a:srgbClr val="FDF3EA"/>
          </a:solidFill>
          <a:ln w="8890">
            <a:solidFill>
              <a:srgbClr val="F0D7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Oval 13"/>
          <p:cNvSpPr/>
          <p:nvPr/>
        </p:nvSpPr>
        <p:spPr>
          <a:xfrm>
            <a:off x="3392280" y="2578680"/>
            <a:ext cx="310680" cy="310680"/>
          </a:xfrm>
          <a:prstGeom prst="ellipse">
            <a:avLst/>
          </a:prstGeom>
          <a:solidFill>
            <a:srgbClr val="B547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3392280" y="261972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5"/>
          <p:cNvSpPr/>
          <p:nvPr/>
        </p:nvSpPr>
        <p:spPr>
          <a:xfrm>
            <a:off x="3813120" y="2551320"/>
            <a:ext cx="159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Uncertain lending decision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6"/>
          <p:cNvSpPr/>
          <p:nvPr/>
        </p:nvSpPr>
        <p:spPr>
          <a:xfrm>
            <a:off x="3401640" y="2926080"/>
            <a:ext cx="1992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30" b="0" u="none" strike="noStrike">
                <a:solidFill>
                  <a:srgbClr val="58667A"/>
                </a:solidFill>
                <a:effectLst/>
                <a:uFillTx/>
                <a:latin typeface="Aptos"/>
              </a:rPr>
              <a:t>Slow manual review or a generic score misses the farm context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7" name="Connector 17"/>
          <p:cNvCxnSpPr/>
          <p:nvPr/>
        </p:nvCxnSpPr>
        <p:spPr>
          <a:xfrm>
            <a:off x="5605200" y="3044880"/>
            <a:ext cx="311040" cy="360"/>
          </a:xfrm>
          <a:prstGeom prst="straightConnector1">
            <a:avLst/>
          </a:prstGeom>
          <a:ln w="17780">
            <a:solidFill>
              <a:srgbClr val="B54708"/>
            </a:solidFill>
            <a:round/>
          </a:ln>
        </p:spPr>
      </p:cxnSp>
      <p:sp>
        <p:nvSpPr>
          <p:cNvPr id="78" name="Rounded Rectangle 18"/>
          <p:cNvSpPr/>
          <p:nvPr/>
        </p:nvSpPr>
        <p:spPr>
          <a:xfrm>
            <a:off x="5970960" y="2404800"/>
            <a:ext cx="2340360" cy="1279800"/>
          </a:xfrm>
          <a:prstGeom prst="roundRect">
            <a:avLst>
              <a:gd name="adj" fmla="val 16667"/>
            </a:avLst>
          </a:prstGeom>
          <a:solidFill>
            <a:srgbClr val="FDF3EA"/>
          </a:solidFill>
          <a:ln w="8890">
            <a:solidFill>
              <a:srgbClr val="F0D7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Oval 19"/>
          <p:cNvSpPr/>
          <p:nvPr/>
        </p:nvSpPr>
        <p:spPr>
          <a:xfrm>
            <a:off x="6117480" y="2578680"/>
            <a:ext cx="310680" cy="310680"/>
          </a:xfrm>
          <a:prstGeom prst="ellipse">
            <a:avLst/>
          </a:prstGeom>
          <a:solidFill>
            <a:srgbClr val="B547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0"/>
          <p:cNvSpPr/>
          <p:nvPr/>
        </p:nvSpPr>
        <p:spPr>
          <a:xfrm>
            <a:off x="6117480" y="261972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1"/>
          <p:cNvSpPr/>
          <p:nvPr/>
        </p:nvSpPr>
        <p:spPr>
          <a:xfrm>
            <a:off x="6537960" y="2551320"/>
            <a:ext cx="159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Late risk visibility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2"/>
          <p:cNvSpPr/>
          <p:nvPr/>
        </p:nvSpPr>
        <p:spPr>
          <a:xfrm>
            <a:off x="6126480" y="2926080"/>
            <a:ext cx="1992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30" b="0" u="none" strike="noStrike">
                <a:solidFill>
                  <a:srgbClr val="58667A"/>
                </a:solidFill>
                <a:effectLst/>
                <a:uFillTx/>
                <a:latin typeface="Aptos"/>
              </a:rPr>
              <a:t>Fraud, crop stress and repayment deterioration appear too late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23"/>
          <p:cNvSpPr/>
          <p:nvPr/>
        </p:nvSpPr>
        <p:spPr>
          <a:xfrm>
            <a:off x="8705160" y="457200"/>
            <a:ext cx="2907360" cy="3227400"/>
          </a:xfrm>
          <a:prstGeom prst="roundRect">
            <a:avLst>
              <a:gd name="adj" fmla="val 16667"/>
            </a:avLst>
          </a:prstGeom>
          <a:solidFill>
            <a:srgbClr val="0A3A68"/>
          </a:solidFill>
          <a:ln w="8890">
            <a:solidFill>
              <a:srgbClr val="0A3A6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24"/>
          <p:cNvSpPr/>
          <p:nvPr/>
        </p:nvSpPr>
        <p:spPr>
          <a:xfrm>
            <a:off x="8979480" y="71316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ADC9E5"/>
                </a:solidFill>
                <a:effectLst/>
                <a:uFillTx/>
                <a:latin typeface="Consolas"/>
              </a:rPr>
              <a:t>WHAT THIS COSTS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5"/>
          <p:cNvSpPr/>
          <p:nvPr/>
        </p:nvSpPr>
        <p:spPr>
          <a:xfrm>
            <a:off x="8979480" y="10058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For farmers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6"/>
          <p:cNvSpPr/>
          <p:nvPr/>
        </p:nvSpPr>
        <p:spPr>
          <a:xfrm>
            <a:off x="8979480" y="1298520"/>
            <a:ext cx="2304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E6F0F8"/>
                </a:solidFill>
                <a:effectLst/>
                <a:uFillTx/>
                <a:latin typeface="Aptos"/>
              </a:rPr>
              <a:t>• Delayed or declined credit</a:t>
            </a:r>
            <a:br>
              <a:rPr sz="1800"/>
            </a:br>
            <a:r>
              <a:rPr lang="en-US" sz="1000" b="0" u="none" strike="noStrike">
                <a:solidFill>
                  <a:srgbClr val="E6F0F8"/>
                </a:solidFill>
                <a:effectLst/>
                <a:uFillTx/>
                <a:latin typeface="Aptos"/>
              </a:rPr>
              <a:t>• One-size-fits-all offers</a:t>
            </a:r>
            <a:br>
              <a:rPr sz="1800"/>
            </a:br>
            <a:r>
              <a:rPr lang="en-US" sz="1000" b="0" u="none" strike="noStrike">
                <a:solidFill>
                  <a:srgbClr val="E6F0F8"/>
                </a:solidFill>
                <a:effectLst/>
                <a:uFillTx/>
                <a:latin typeface="Aptos"/>
              </a:rPr>
              <a:t>• No early support when stress starts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7" name="Connector 27"/>
          <p:cNvCxnSpPr/>
          <p:nvPr/>
        </p:nvCxnSpPr>
        <p:spPr>
          <a:xfrm>
            <a:off x="8979120" y="2221920"/>
            <a:ext cx="2314080" cy="360"/>
          </a:xfrm>
          <a:prstGeom prst="straightConnector1">
            <a:avLst/>
          </a:prstGeom>
          <a:ln w="10160">
            <a:solidFill>
              <a:srgbClr val="4D78A5"/>
            </a:solidFill>
            <a:round/>
          </a:ln>
        </p:spPr>
      </p:cxnSp>
      <p:sp>
        <p:nvSpPr>
          <p:cNvPr id="88" name="TextBox 28"/>
          <p:cNvSpPr/>
          <p:nvPr/>
        </p:nvSpPr>
        <p:spPr>
          <a:xfrm>
            <a:off x="8979480" y="240480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For lenders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9"/>
          <p:cNvSpPr/>
          <p:nvPr/>
        </p:nvSpPr>
        <p:spPr>
          <a:xfrm>
            <a:off x="8979480" y="2697480"/>
            <a:ext cx="2304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E6F0F8"/>
                </a:solidFill>
                <a:effectLst/>
                <a:uFillTx/>
                <a:latin typeface="Aptos"/>
              </a:rPr>
              <a:t>• Higher manual effort</a:t>
            </a:r>
            <a:br>
              <a:rPr sz="1800"/>
            </a:br>
            <a:r>
              <a:rPr lang="en-US" sz="1000" b="0" u="none" strike="noStrike">
                <a:solidFill>
                  <a:srgbClr val="E6F0F8"/>
                </a:solidFill>
                <a:effectLst/>
                <a:uFillTx/>
                <a:latin typeface="Aptos"/>
              </a:rPr>
              <a:t>• Hidden fraud and concentration risk</a:t>
            </a:r>
            <a:br>
              <a:rPr sz="1800"/>
            </a:br>
            <a:r>
              <a:rPr lang="en-US" sz="1000" b="0" u="none" strike="noStrike">
                <a:solidFill>
                  <a:srgbClr val="E6F0F8"/>
                </a:solidFill>
                <a:effectLst/>
                <a:uFillTx/>
                <a:latin typeface="Aptos"/>
              </a:rPr>
              <a:t>• Intervention arrives after default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30"/>
          <p:cNvSpPr/>
          <p:nvPr/>
        </p:nvSpPr>
        <p:spPr>
          <a:xfrm>
            <a:off x="521280" y="4114800"/>
            <a:ext cx="11091240" cy="1755360"/>
          </a:xfrm>
          <a:prstGeom prst="roundRect">
            <a:avLst>
              <a:gd name="adj" fmla="val 16667"/>
            </a:avLst>
          </a:prstGeom>
          <a:solidFill>
            <a:srgbClr val="EEF4FA"/>
          </a:solidFill>
          <a:ln w="8890">
            <a:solidFill>
              <a:srgbClr val="C4D8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31"/>
          <p:cNvSpPr/>
          <p:nvPr/>
        </p:nvSpPr>
        <p:spPr>
          <a:xfrm>
            <a:off x="768240" y="435240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166A3"/>
                </a:solidFill>
                <a:effectLst/>
                <a:uFillTx/>
                <a:latin typeface="Consolas"/>
              </a:rPr>
              <a:t>THE DESIGN PRINCIPLE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32"/>
          <p:cNvSpPr/>
          <p:nvPr/>
        </p:nvSpPr>
        <p:spPr>
          <a:xfrm>
            <a:off x="768240" y="4608720"/>
            <a:ext cx="5166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A3A68"/>
                </a:solidFill>
                <a:effectLst/>
                <a:uFillTx/>
                <a:latin typeface="Georgia"/>
              </a:rPr>
              <a:t>A lending model is easy to build. Knowing whether you are allowed to trust it is the hard part.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3"/>
          <p:cNvSpPr/>
          <p:nvPr/>
        </p:nvSpPr>
        <p:spPr>
          <a:xfrm>
            <a:off x="740160" y="5381640"/>
            <a:ext cx="5211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30" b="0" u="none" strike="noStrike">
                <a:solidFill>
                  <a:srgbClr val="58667A"/>
                </a:solidFill>
                <a:effectLst/>
                <a:uFillTx/>
                <a:latin typeface="Aptos"/>
              </a:rPr>
              <a:t>Every output must be grounded in one of three sources — otherwise the platform refuses to invent a number.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34"/>
          <p:cNvSpPr/>
          <p:nvPr/>
        </p:nvSpPr>
        <p:spPr>
          <a:xfrm>
            <a:off x="6263640" y="4572000"/>
            <a:ext cx="1481040" cy="86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35"/>
          <p:cNvSpPr/>
          <p:nvPr/>
        </p:nvSpPr>
        <p:spPr>
          <a:xfrm>
            <a:off x="6373440" y="4736520"/>
            <a:ext cx="1243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39" b="1" u="none" strike="noStrike">
                <a:solidFill>
                  <a:srgbClr val="2166A3"/>
                </a:solidFill>
                <a:effectLst/>
                <a:uFillTx/>
                <a:latin typeface="Consolas"/>
              </a:rPr>
              <a:t>[SPEC]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6"/>
          <p:cNvSpPr/>
          <p:nvPr/>
        </p:nvSpPr>
        <p:spPr>
          <a:xfrm>
            <a:off x="6364080" y="5056560"/>
            <a:ext cx="1279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58667A"/>
                </a:solidFill>
                <a:effectLst/>
                <a:uFillTx/>
                <a:latin typeface="Aptos"/>
              </a:rPr>
              <a:t>written rule / formula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37"/>
          <p:cNvSpPr/>
          <p:nvPr/>
        </p:nvSpPr>
        <p:spPr>
          <a:xfrm>
            <a:off x="7973640" y="4572000"/>
            <a:ext cx="1481040" cy="86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38"/>
          <p:cNvSpPr/>
          <p:nvPr/>
        </p:nvSpPr>
        <p:spPr>
          <a:xfrm>
            <a:off x="8083440" y="4736520"/>
            <a:ext cx="1243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39" b="1" u="none" strike="noStrike">
                <a:solidFill>
                  <a:srgbClr val="2166A3"/>
                </a:solidFill>
                <a:effectLst/>
                <a:uFillTx/>
                <a:latin typeface="Consolas"/>
              </a:rPr>
              <a:t>[DATA]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39"/>
          <p:cNvSpPr/>
          <p:nvPr/>
        </p:nvSpPr>
        <p:spPr>
          <a:xfrm>
            <a:off x="8074080" y="5056560"/>
            <a:ext cx="1279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58667A"/>
                </a:solidFill>
                <a:effectLst/>
                <a:uFillTx/>
                <a:latin typeface="Aptos"/>
              </a:rPr>
              <a:t>rerunnable computation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40"/>
          <p:cNvSpPr/>
          <p:nvPr/>
        </p:nvSpPr>
        <p:spPr>
          <a:xfrm>
            <a:off x="9683640" y="4572000"/>
            <a:ext cx="1481040" cy="86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41"/>
          <p:cNvSpPr/>
          <p:nvPr/>
        </p:nvSpPr>
        <p:spPr>
          <a:xfrm>
            <a:off x="9793080" y="4736520"/>
            <a:ext cx="1243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39" b="1" u="none" strike="noStrike">
                <a:solidFill>
                  <a:srgbClr val="B54708"/>
                </a:solidFill>
                <a:effectLst/>
                <a:uFillTx/>
                <a:latin typeface="Consolas"/>
              </a:rPr>
              <a:t>[POLICY]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42"/>
          <p:cNvSpPr/>
          <p:nvPr/>
        </p:nvSpPr>
        <p:spPr>
          <a:xfrm>
            <a:off x="9784080" y="5056560"/>
            <a:ext cx="1279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58667A"/>
                </a:solidFill>
                <a:effectLst/>
                <a:uFillTx/>
                <a:latin typeface="Aptos"/>
              </a:rPr>
              <a:t>named owner approval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3" name="Connector 43"/>
          <p:cNvCxnSpPr/>
          <p:nvPr/>
        </p:nvCxnSpPr>
        <p:spPr>
          <a:xfrm>
            <a:off x="438840" y="6327360"/>
            <a:ext cx="11311560" cy="360"/>
          </a:xfrm>
          <a:prstGeom prst="straightConnector1">
            <a:avLst/>
          </a:prstGeom>
          <a:ln w="8890">
            <a:solidFill>
              <a:srgbClr val="DBE3EC"/>
            </a:solidFill>
            <a:round/>
          </a:ln>
        </p:spPr>
      </p:cxnSp>
      <p:sp>
        <p:nvSpPr>
          <p:cNvPr id="104" name="TextBox 44"/>
          <p:cNvSpPr/>
          <p:nvPr/>
        </p:nvSpPr>
        <p:spPr>
          <a:xfrm>
            <a:off x="457200" y="6446520"/>
            <a:ext cx="3840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30" b="0" u="none" strike="noStrike">
                <a:solidFill>
                  <a:srgbClr val="58667A"/>
                </a:solidFill>
                <a:effectLst/>
                <a:uFillTx/>
                <a:latin typeface="Consolas"/>
              </a:rPr>
              <a:t>TEAM: &lt;MEMBER 1 NAME&gt;  •  &lt;MEMBER 2 NAME&gt;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45"/>
          <p:cNvSpPr/>
          <p:nvPr/>
        </p:nvSpPr>
        <p:spPr>
          <a:xfrm>
            <a:off x="4343400" y="6446520"/>
            <a:ext cx="3245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30" b="0" u="none" strike="noStrike">
                <a:solidFill>
                  <a:srgbClr val="2166A3"/>
                </a:solidFill>
                <a:effectLst/>
                <a:uFillTx/>
                <a:latin typeface="Consolas"/>
              </a:rPr>
              <a:t>GITHUB: &lt;PASTE REPOSITORY URL&gt;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46"/>
          <p:cNvSpPr/>
          <p:nvPr/>
        </p:nvSpPr>
        <p:spPr>
          <a:xfrm>
            <a:off x="7635240" y="6446520"/>
            <a:ext cx="3520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30" b="0" u="none" strike="noStrike">
                <a:solidFill>
                  <a:srgbClr val="2166A3"/>
                </a:solidFill>
                <a:effectLst/>
                <a:uFillTx/>
                <a:latin typeface="Consolas"/>
              </a:rPr>
              <a:t>YOUTUBE DEMO: &lt;PASTE VIDEO URL&gt;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47"/>
          <p:cNvSpPr/>
          <p:nvPr/>
        </p:nvSpPr>
        <p:spPr>
          <a:xfrm>
            <a:off x="11292840" y="641916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8667A"/>
                </a:solidFill>
                <a:effectLst/>
                <a:uFillTx/>
                <a:latin typeface="Consolas"/>
              </a:rPr>
              <a:t>01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0A3A68"/>
          </a:solidFill>
          <a:ln w="8890">
            <a:solidFill>
              <a:srgbClr val="0A3A6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474480" y="25308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166A3"/>
                </a:solidFill>
                <a:effectLst/>
                <a:uFillTx/>
                <a:latin typeface="Consolas"/>
              </a:rPr>
              <a:t>THE SOLUTION  ·  ONE GOVERNED DECISION FLOW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502920" y="457200"/>
            <a:ext cx="7680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A3A68"/>
                </a:solidFill>
                <a:effectLst/>
                <a:uFillTx/>
                <a:latin typeface="Georgia"/>
              </a:rPr>
              <a:t>From fragmented signals to earlier, explainable action.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4"/>
          <p:cNvSpPr/>
          <p:nvPr/>
        </p:nvSpPr>
        <p:spPr>
          <a:xfrm>
            <a:off x="521280" y="1218240"/>
            <a:ext cx="8457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58667A"/>
                </a:solidFill>
                <a:effectLst/>
                <a:uFillTx/>
                <a:latin typeface="Aptos"/>
              </a:rPr>
              <a:t>AI-Powered Smart Lending Decision Hub unifies agricultural intelligence, risk models and human-ready evidence through one decision orchestrator.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5"/>
          <p:cNvSpPr/>
          <p:nvPr/>
        </p:nvSpPr>
        <p:spPr>
          <a:xfrm>
            <a:off x="521280" y="1645920"/>
            <a:ext cx="1462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166A3"/>
                </a:solidFill>
                <a:effectLst/>
                <a:uFillTx/>
                <a:latin typeface="Consolas"/>
              </a:rPr>
              <a:t>1. EVIDENCE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6"/>
          <p:cNvSpPr/>
          <p:nvPr/>
        </p:nvSpPr>
        <p:spPr>
          <a:xfrm>
            <a:off x="521280" y="1938600"/>
            <a:ext cx="1919880" cy="383760"/>
          </a:xfrm>
          <a:prstGeom prst="roundRect">
            <a:avLst>
              <a:gd name="adj" fmla="val 16667"/>
            </a:avLst>
          </a:prstGeom>
          <a:solidFill>
            <a:srgbClr val="EEF4FA"/>
          </a:solidFill>
          <a:ln w="8890">
            <a:solidFill>
              <a:srgbClr val="C4D8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7"/>
          <p:cNvSpPr/>
          <p:nvPr/>
        </p:nvSpPr>
        <p:spPr>
          <a:xfrm>
            <a:off x="667440" y="2048400"/>
            <a:ext cx="3106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2166A3"/>
                </a:solidFill>
                <a:effectLst/>
                <a:uFillTx/>
                <a:latin typeface="Consolas"/>
              </a:rPr>
              <a:t>SAT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8"/>
          <p:cNvSpPr/>
          <p:nvPr/>
        </p:nvSpPr>
        <p:spPr>
          <a:xfrm>
            <a:off x="1033200" y="2034720"/>
            <a:ext cx="11883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Satellite + crop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6" name="Connector 9"/>
          <p:cNvCxnSpPr/>
          <p:nvPr/>
        </p:nvCxnSpPr>
        <p:spPr>
          <a:xfrm>
            <a:off x="2468880" y="2130480"/>
            <a:ext cx="384120" cy="360"/>
          </a:xfrm>
          <a:prstGeom prst="straightConnector1">
            <a:avLst/>
          </a:prstGeom>
          <a:ln w="12700">
            <a:solidFill>
              <a:srgbClr val="2166A3"/>
            </a:solidFill>
            <a:round/>
          </a:ln>
        </p:spPr>
      </p:cxnSp>
      <p:sp>
        <p:nvSpPr>
          <p:cNvPr id="117" name="Rounded Rectangle 10"/>
          <p:cNvSpPr/>
          <p:nvPr/>
        </p:nvSpPr>
        <p:spPr>
          <a:xfrm>
            <a:off x="521280" y="2450520"/>
            <a:ext cx="1919880" cy="383760"/>
          </a:xfrm>
          <a:prstGeom prst="roundRect">
            <a:avLst>
              <a:gd name="adj" fmla="val 16667"/>
            </a:avLst>
          </a:prstGeom>
          <a:solidFill>
            <a:srgbClr val="EEF4FA"/>
          </a:solidFill>
          <a:ln w="8890">
            <a:solidFill>
              <a:srgbClr val="C4D8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11"/>
          <p:cNvSpPr/>
          <p:nvPr/>
        </p:nvSpPr>
        <p:spPr>
          <a:xfrm>
            <a:off x="667440" y="2560320"/>
            <a:ext cx="3106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2166A3"/>
                </a:solidFill>
                <a:effectLst/>
                <a:uFillTx/>
                <a:latin typeface="Consolas"/>
              </a:rPr>
              <a:t>WX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2"/>
          <p:cNvSpPr/>
          <p:nvPr/>
        </p:nvSpPr>
        <p:spPr>
          <a:xfrm>
            <a:off x="1033200" y="2546640"/>
            <a:ext cx="11883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Weather + location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0" name="Connector 13"/>
          <p:cNvCxnSpPr/>
          <p:nvPr/>
        </p:nvCxnSpPr>
        <p:spPr>
          <a:xfrm>
            <a:off x="2468880" y="2642400"/>
            <a:ext cx="384120" cy="360"/>
          </a:xfrm>
          <a:prstGeom prst="straightConnector1">
            <a:avLst/>
          </a:prstGeom>
          <a:ln w="12700">
            <a:solidFill>
              <a:srgbClr val="2166A3"/>
            </a:solidFill>
            <a:round/>
          </a:ln>
        </p:spPr>
      </p:cxnSp>
      <p:sp>
        <p:nvSpPr>
          <p:cNvPr id="121" name="Rounded Rectangle 14"/>
          <p:cNvSpPr/>
          <p:nvPr/>
        </p:nvSpPr>
        <p:spPr>
          <a:xfrm>
            <a:off x="521280" y="2962800"/>
            <a:ext cx="1919880" cy="383760"/>
          </a:xfrm>
          <a:prstGeom prst="roundRect">
            <a:avLst>
              <a:gd name="adj" fmla="val 16667"/>
            </a:avLst>
          </a:prstGeom>
          <a:solidFill>
            <a:srgbClr val="EEF4FA"/>
          </a:solidFill>
          <a:ln w="8890">
            <a:solidFill>
              <a:srgbClr val="C4D8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15"/>
          <p:cNvSpPr/>
          <p:nvPr/>
        </p:nvSpPr>
        <p:spPr>
          <a:xfrm>
            <a:off x="667440" y="3072240"/>
            <a:ext cx="3106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2166A3"/>
                </a:solidFill>
                <a:effectLst/>
                <a:uFillTx/>
                <a:latin typeface="Consolas"/>
              </a:rPr>
              <a:t>CR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6"/>
          <p:cNvSpPr/>
          <p:nvPr/>
        </p:nvSpPr>
        <p:spPr>
          <a:xfrm>
            <a:off x="1033200" y="3058560"/>
            <a:ext cx="11883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Credit + cash flow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4" name="Connector 17"/>
          <p:cNvCxnSpPr/>
          <p:nvPr/>
        </p:nvCxnSpPr>
        <p:spPr>
          <a:xfrm>
            <a:off x="2468880" y="3154680"/>
            <a:ext cx="384120" cy="360"/>
          </a:xfrm>
          <a:prstGeom prst="straightConnector1">
            <a:avLst/>
          </a:prstGeom>
          <a:ln w="12700">
            <a:solidFill>
              <a:srgbClr val="2166A3"/>
            </a:solidFill>
            <a:round/>
          </a:ln>
        </p:spPr>
      </p:cxnSp>
      <p:sp>
        <p:nvSpPr>
          <p:cNvPr id="125" name="Rounded Rectangle 18"/>
          <p:cNvSpPr/>
          <p:nvPr/>
        </p:nvSpPr>
        <p:spPr>
          <a:xfrm>
            <a:off x="521280" y="3474720"/>
            <a:ext cx="1919880" cy="383760"/>
          </a:xfrm>
          <a:prstGeom prst="roundRect">
            <a:avLst>
              <a:gd name="adj" fmla="val 16667"/>
            </a:avLst>
          </a:prstGeom>
          <a:solidFill>
            <a:srgbClr val="EEF4FA"/>
          </a:solidFill>
          <a:ln w="8890">
            <a:solidFill>
              <a:srgbClr val="C4D8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19"/>
          <p:cNvSpPr/>
          <p:nvPr/>
        </p:nvSpPr>
        <p:spPr>
          <a:xfrm>
            <a:off x="667440" y="3584520"/>
            <a:ext cx="3106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2166A3"/>
                </a:solidFill>
                <a:effectLst/>
                <a:uFillTx/>
                <a:latin typeface="Consolas"/>
              </a:rPr>
              <a:t>FR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20"/>
          <p:cNvSpPr/>
          <p:nvPr/>
        </p:nvSpPr>
        <p:spPr>
          <a:xfrm>
            <a:off x="1033200" y="3570840"/>
            <a:ext cx="11883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Device + documents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8" name="Connector 21"/>
          <p:cNvCxnSpPr/>
          <p:nvPr/>
        </p:nvCxnSpPr>
        <p:spPr>
          <a:xfrm>
            <a:off x="2468880" y="3666600"/>
            <a:ext cx="384120" cy="360"/>
          </a:xfrm>
          <a:prstGeom prst="straightConnector1">
            <a:avLst/>
          </a:prstGeom>
          <a:ln w="12700">
            <a:solidFill>
              <a:srgbClr val="2166A3"/>
            </a:solidFill>
            <a:round/>
          </a:ln>
        </p:spPr>
      </p:cxnSp>
      <p:sp>
        <p:nvSpPr>
          <p:cNvPr id="129" name="Rounded Rectangle 22"/>
          <p:cNvSpPr/>
          <p:nvPr/>
        </p:nvSpPr>
        <p:spPr>
          <a:xfrm>
            <a:off x="2898720" y="1883520"/>
            <a:ext cx="2239920" cy="2304000"/>
          </a:xfrm>
          <a:prstGeom prst="roundRect">
            <a:avLst>
              <a:gd name="adj" fmla="val 16667"/>
            </a:avLst>
          </a:prstGeom>
          <a:solidFill>
            <a:srgbClr val="0A3A68"/>
          </a:solidFill>
          <a:ln w="8890">
            <a:solidFill>
              <a:srgbClr val="0A3A6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23"/>
          <p:cNvSpPr/>
          <p:nvPr/>
        </p:nvSpPr>
        <p:spPr>
          <a:xfrm>
            <a:off x="3182040" y="2194560"/>
            <a:ext cx="1682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DECISION</a:t>
            </a:r>
            <a:br>
              <a:rPr sz="1800"/>
            </a:b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ORCHESTRATOR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24"/>
          <p:cNvSpPr/>
          <p:nvPr/>
        </p:nvSpPr>
        <p:spPr>
          <a:xfrm>
            <a:off x="3246120" y="2971800"/>
            <a:ext cx="1554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39" b="0" u="none" strike="noStrike">
                <a:solidFill>
                  <a:srgbClr val="D6E4F2"/>
                </a:solidFill>
                <a:effectLst/>
                <a:uFillTx/>
                <a:latin typeface="Aptos"/>
              </a:rPr>
              <a:t>One gateway</a:t>
            </a:r>
            <a:br>
              <a:rPr sz="1800"/>
            </a:br>
            <a:r>
              <a:rPr lang="en-US" sz="939" b="0" u="none" strike="noStrike">
                <a:solidFill>
                  <a:srgbClr val="D6E4F2"/>
                </a:solidFill>
                <a:effectLst/>
                <a:uFillTx/>
                <a:latin typeface="Aptos"/>
              </a:rPr>
              <a:t>Attribution on every</a:t>
            </a:r>
            <a:br>
              <a:rPr sz="1800"/>
            </a:br>
            <a:r>
              <a:rPr lang="en-US" sz="939" b="0" u="none" strike="noStrike">
                <a:solidFill>
                  <a:srgbClr val="D6E4F2"/>
                </a:solidFill>
                <a:effectLst/>
                <a:uFillTx/>
                <a:latin typeface="Aptos"/>
              </a:rPr>
              <a:t>model-derived output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25"/>
          <p:cNvSpPr/>
          <p:nvPr/>
        </p:nvSpPr>
        <p:spPr>
          <a:xfrm>
            <a:off x="3063240" y="3803760"/>
            <a:ext cx="19015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40" b="0" u="none" strike="noStrike">
                <a:solidFill>
                  <a:srgbClr val="ADC9E5"/>
                </a:solidFill>
                <a:effectLst/>
                <a:uFillTx/>
                <a:latin typeface="Consolas"/>
              </a:rPr>
              <a:t>evidence → decision → audit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3" name="Connector 26"/>
          <p:cNvCxnSpPr/>
          <p:nvPr/>
        </p:nvCxnSpPr>
        <p:spPr>
          <a:xfrm>
            <a:off x="5166360" y="3035520"/>
            <a:ext cx="375120" cy="360"/>
          </a:xfrm>
          <a:prstGeom prst="straightConnector1">
            <a:avLst/>
          </a:prstGeom>
          <a:ln w="17780">
            <a:solidFill>
              <a:srgbClr val="067647"/>
            </a:solidFill>
            <a:round/>
          </a:ln>
        </p:spPr>
      </p:cxnSp>
      <p:sp>
        <p:nvSpPr>
          <p:cNvPr id="134" name="TextBox 27"/>
          <p:cNvSpPr/>
          <p:nvPr/>
        </p:nvSpPr>
        <p:spPr>
          <a:xfrm>
            <a:off x="5623560" y="1645920"/>
            <a:ext cx="3657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67647"/>
                </a:solidFill>
                <a:effectLst/>
                <a:uFillTx/>
                <a:latin typeface="Consolas"/>
              </a:rPr>
              <a:t>2. CONNECTED INTELLIGENCE LAYER · ALL 8 MODULES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28"/>
          <p:cNvSpPr/>
          <p:nvPr/>
        </p:nvSpPr>
        <p:spPr>
          <a:xfrm>
            <a:off x="5623560" y="1938600"/>
            <a:ext cx="1755360" cy="511560"/>
          </a:xfrm>
          <a:prstGeom prst="roundRect">
            <a:avLst>
              <a:gd name="adj" fmla="val 16667"/>
            </a:avLst>
          </a:prstGeom>
          <a:solidFill>
            <a:srgbClr val="E8F5EF"/>
          </a:solidFill>
          <a:ln w="8890">
            <a:solidFill>
              <a:srgbClr val="B9DF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29"/>
          <p:cNvSpPr/>
          <p:nvPr/>
        </p:nvSpPr>
        <p:spPr>
          <a:xfrm>
            <a:off x="5733360" y="2039040"/>
            <a:ext cx="1535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8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Agri intelligence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30"/>
          <p:cNvSpPr/>
          <p:nvPr/>
        </p:nvSpPr>
        <p:spPr>
          <a:xfrm>
            <a:off x="5733360" y="2221920"/>
            <a:ext cx="15357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10" b="0" u="none" strike="noStrike">
                <a:solidFill>
                  <a:srgbClr val="067647"/>
                </a:solidFill>
                <a:effectLst/>
                <a:uFillTx/>
                <a:latin typeface="Aptos"/>
              </a:rPr>
              <a:t>satellite · weather · crop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31"/>
          <p:cNvSpPr/>
          <p:nvPr/>
        </p:nvSpPr>
        <p:spPr>
          <a:xfrm>
            <a:off x="7589520" y="1938600"/>
            <a:ext cx="1755360" cy="511560"/>
          </a:xfrm>
          <a:prstGeom prst="roundRect">
            <a:avLst>
              <a:gd name="adj" fmla="val 16667"/>
            </a:avLst>
          </a:prstGeom>
          <a:solidFill>
            <a:srgbClr val="E8F5EF"/>
          </a:solidFill>
          <a:ln w="8890">
            <a:solidFill>
              <a:srgbClr val="B9DF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32"/>
          <p:cNvSpPr/>
          <p:nvPr/>
        </p:nvSpPr>
        <p:spPr>
          <a:xfrm>
            <a:off x="7699320" y="2039040"/>
            <a:ext cx="1535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8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Credit scoring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33"/>
          <p:cNvSpPr/>
          <p:nvPr/>
        </p:nvSpPr>
        <p:spPr>
          <a:xfrm>
            <a:off x="7699320" y="2221920"/>
            <a:ext cx="15357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10" b="0" u="none" strike="noStrike">
                <a:solidFill>
                  <a:srgbClr val="067647"/>
                </a:solidFill>
                <a:effectLst/>
                <a:uFillTx/>
                <a:latin typeface="Aptos"/>
              </a:rPr>
              <a:t>risk + explanations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34"/>
          <p:cNvSpPr/>
          <p:nvPr/>
        </p:nvSpPr>
        <p:spPr>
          <a:xfrm>
            <a:off x="5623560" y="2597040"/>
            <a:ext cx="1755360" cy="511560"/>
          </a:xfrm>
          <a:prstGeom prst="roundRect">
            <a:avLst>
              <a:gd name="adj" fmla="val 16667"/>
            </a:avLst>
          </a:prstGeom>
          <a:solidFill>
            <a:srgbClr val="E8F5EF"/>
          </a:solidFill>
          <a:ln w="8890">
            <a:solidFill>
              <a:srgbClr val="B9DF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35"/>
          <p:cNvSpPr/>
          <p:nvPr/>
        </p:nvSpPr>
        <p:spPr>
          <a:xfrm>
            <a:off x="5733360" y="2697480"/>
            <a:ext cx="1535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8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Fraud detection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36"/>
          <p:cNvSpPr/>
          <p:nvPr/>
        </p:nvSpPr>
        <p:spPr>
          <a:xfrm>
            <a:off x="5733360" y="2880360"/>
            <a:ext cx="15357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10" b="0" u="none" strike="noStrike">
                <a:solidFill>
                  <a:srgbClr val="067647"/>
                </a:solidFill>
                <a:effectLst/>
                <a:uFillTx/>
                <a:latin typeface="Aptos"/>
              </a:rPr>
              <a:t>rules · anomaly · graph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37"/>
          <p:cNvSpPr/>
          <p:nvPr/>
        </p:nvSpPr>
        <p:spPr>
          <a:xfrm>
            <a:off x="7589520" y="2597040"/>
            <a:ext cx="1755360" cy="511560"/>
          </a:xfrm>
          <a:prstGeom prst="roundRect">
            <a:avLst>
              <a:gd name="adj" fmla="val 16667"/>
            </a:avLst>
          </a:prstGeom>
          <a:solidFill>
            <a:srgbClr val="E8F5EF"/>
          </a:solidFill>
          <a:ln w="8890">
            <a:solidFill>
              <a:srgbClr val="B9DF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38"/>
          <p:cNvSpPr/>
          <p:nvPr/>
        </p:nvSpPr>
        <p:spPr>
          <a:xfrm>
            <a:off x="7699320" y="2697480"/>
            <a:ext cx="1535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8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Default prediction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39"/>
          <p:cNvSpPr/>
          <p:nvPr/>
        </p:nvSpPr>
        <p:spPr>
          <a:xfrm>
            <a:off x="7699320" y="2880360"/>
            <a:ext cx="15357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10" b="0" u="none" strike="noStrike">
                <a:solidFill>
                  <a:srgbClr val="067647"/>
                </a:solidFill>
                <a:effectLst/>
                <a:uFillTx/>
                <a:latin typeface="Aptos"/>
              </a:rPr>
              <a:t>PD · LGD · EAD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40"/>
          <p:cNvSpPr/>
          <p:nvPr/>
        </p:nvSpPr>
        <p:spPr>
          <a:xfrm>
            <a:off x="5623560" y="3255120"/>
            <a:ext cx="1755360" cy="511560"/>
          </a:xfrm>
          <a:prstGeom prst="roundRect">
            <a:avLst>
              <a:gd name="adj" fmla="val 16667"/>
            </a:avLst>
          </a:prstGeom>
          <a:solidFill>
            <a:srgbClr val="E8F5EF"/>
          </a:solidFill>
          <a:ln w="8890">
            <a:solidFill>
              <a:srgbClr val="B9DF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41"/>
          <p:cNvSpPr/>
          <p:nvPr/>
        </p:nvSpPr>
        <p:spPr>
          <a:xfrm>
            <a:off x="5733360" y="3355920"/>
            <a:ext cx="1535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8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Loan recommendation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42"/>
          <p:cNvSpPr/>
          <p:nvPr/>
        </p:nvSpPr>
        <p:spPr>
          <a:xfrm>
            <a:off x="5733360" y="3538800"/>
            <a:ext cx="15357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10" b="0" u="none" strike="noStrike">
                <a:solidFill>
                  <a:srgbClr val="067647"/>
                </a:solidFill>
                <a:effectLst/>
                <a:uFillTx/>
                <a:latin typeface="Aptos"/>
              </a:rPr>
              <a:t>product · price · tenor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43"/>
          <p:cNvSpPr/>
          <p:nvPr/>
        </p:nvSpPr>
        <p:spPr>
          <a:xfrm>
            <a:off x="7589520" y="3255120"/>
            <a:ext cx="1755360" cy="511560"/>
          </a:xfrm>
          <a:prstGeom prst="roundRect">
            <a:avLst>
              <a:gd name="adj" fmla="val 16667"/>
            </a:avLst>
          </a:prstGeom>
          <a:solidFill>
            <a:srgbClr val="E8F5EF"/>
          </a:solidFill>
          <a:ln w="8890">
            <a:solidFill>
              <a:srgbClr val="B9DF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44"/>
          <p:cNvSpPr/>
          <p:nvPr/>
        </p:nvSpPr>
        <p:spPr>
          <a:xfrm>
            <a:off x="7699320" y="3355920"/>
            <a:ext cx="1535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8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Early warning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45"/>
          <p:cNvSpPr/>
          <p:nvPr/>
        </p:nvSpPr>
        <p:spPr>
          <a:xfrm>
            <a:off x="7699320" y="3538800"/>
            <a:ext cx="15357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10" b="0" u="none" strike="noStrike">
                <a:solidFill>
                  <a:srgbClr val="067647"/>
                </a:solidFill>
                <a:effectLst/>
                <a:uFillTx/>
                <a:latin typeface="Aptos"/>
              </a:rPr>
              <a:t>detect · route · act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46"/>
          <p:cNvSpPr/>
          <p:nvPr/>
        </p:nvSpPr>
        <p:spPr>
          <a:xfrm>
            <a:off x="5623560" y="3913560"/>
            <a:ext cx="1755360" cy="511560"/>
          </a:xfrm>
          <a:prstGeom prst="roundRect">
            <a:avLst>
              <a:gd name="adj" fmla="val 16667"/>
            </a:avLst>
          </a:prstGeom>
          <a:solidFill>
            <a:srgbClr val="E8F5EF"/>
          </a:solidFill>
          <a:ln w="8890">
            <a:solidFill>
              <a:srgbClr val="B9DF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47"/>
          <p:cNvSpPr/>
          <p:nvPr/>
        </p:nvSpPr>
        <p:spPr>
          <a:xfrm>
            <a:off x="5733360" y="4014360"/>
            <a:ext cx="1535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8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GenAI assistant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48"/>
          <p:cNvSpPr/>
          <p:nvPr/>
        </p:nvSpPr>
        <p:spPr>
          <a:xfrm>
            <a:off x="5733360" y="4197240"/>
            <a:ext cx="15357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10" b="0" u="none" strike="noStrike">
                <a:solidFill>
                  <a:srgbClr val="067647"/>
                </a:solidFill>
                <a:effectLst/>
                <a:uFillTx/>
                <a:latin typeface="Aptos"/>
              </a:rPr>
              <a:t>grounded guidance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49"/>
          <p:cNvSpPr/>
          <p:nvPr/>
        </p:nvSpPr>
        <p:spPr>
          <a:xfrm>
            <a:off x="7589520" y="3913560"/>
            <a:ext cx="1755360" cy="511560"/>
          </a:xfrm>
          <a:prstGeom prst="roundRect">
            <a:avLst>
              <a:gd name="adj" fmla="val 16667"/>
            </a:avLst>
          </a:prstGeom>
          <a:solidFill>
            <a:srgbClr val="E8F5EF"/>
          </a:solidFill>
          <a:ln w="8890">
            <a:solidFill>
              <a:srgbClr val="B9DF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50"/>
          <p:cNvSpPr/>
          <p:nvPr/>
        </p:nvSpPr>
        <p:spPr>
          <a:xfrm>
            <a:off x="7699320" y="4014360"/>
            <a:ext cx="1535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8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Risk dashboards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51"/>
          <p:cNvSpPr/>
          <p:nvPr/>
        </p:nvSpPr>
        <p:spPr>
          <a:xfrm>
            <a:off x="7699320" y="4197240"/>
            <a:ext cx="15357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10" b="0" u="none" strike="noStrike">
                <a:solidFill>
                  <a:srgbClr val="067647"/>
                </a:solidFill>
                <a:effectLst/>
                <a:uFillTx/>
                <a:latin typeface="Aptos"/>
              </a:rPr>
              <a:t>portfolio · drill-down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9" name="Connector 52"/>
          <p:cNvCxnSpPr/>
          <p:nvPr/>
        </p:nvCxnSpPr>
        <p:spPr>
          <a:xfrm>
            <a:off x="9418320" y="3035520"/>
            <a:ext cx="356760" cy="360"/>
          </a:xfrm>
          <a:prstGeom prst="straightConnector1">
            <a:avLst/>
          </a:prstGeom>
          <a:ln w="17780">
            <a:solidFill>
              <a:srgbClr val="067647"/>
            </a:solidFill>
            <a:round/>
          </a:ln>
        </p:spPr>
      </p:cxnSp>
      <p:sp>
        <p:nvSpPr>
          <p:cNvPr id="160" name="TextBox 53"/>
          <p:cNvSpPr/>
          <p:nvPr/>
        </p:nvSpPr>
        <p:spPr>
          <a:xfrm>
            <a:off x="9848160" y="1645920"/>
            <a:ext cx="1554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B54708"/>
                </a:solidFill>
                <a:effectLst/>
                <a:uFillTx/>
                <a:latin typeface="Consolas"/>
              </a:rPr>
              <a:t>3. OUTCOMES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54"/>
          <p:cNvSpPr/>
          <p:nvPr/>
        </p:nvSpPr>
        <p:spPr>
          <a:xfrm>
            <a:off x="9820800" y="1965960"/>
            <a:ext cx="1782720" cy="511560"/>
          </a:xfrm>
          <a:prstGeom prst="roundRect">
            <a:avLst>
              <a:gd name="adj" fmla="val 16667"/>
            </a:avLst>
          </a:prstGeom>
          <a:solidFill>
            <a:srgbClr val="FDF3EA"/>
          </a:solidFill>
          <a:ln w="8890">
            <a:solidFill>
              <a:srgbClr val="F0D7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55"/>
          <p:cNvSpPr/>
          <p:nvPr/>
        </p:nvSpPr>
        <p:spPr>
          <a:xfrm>
            <a:off x="9948600" y="2057400"/>
            <a:ext cx="15084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B54708"/>
                </a:solidFill>
                <a:effectLst/>
                <a:uFillTx/>
                <a:latin typeface="Consolas"/>
              </a:rPr>
              <a:t>FASTER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56"/>
          <p:cNvSpPr/>
          <p:nvPr/>
        </p:nvSpPr>
        <p:spPr>
          <a:xfrm>
            <a:off x="9948600" y="2258640"/>
            <a:ext cx="150840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58667A"/>
                </a:solidFill>
                <a:effectLst/>
                <a:uFillTx/>
                <a:latin typeface="Aptos"/>
              </a:rPr>
              <a:t>informed approval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57"/>
          <p:cNvSpPr/>
          <p:nvPr/>
        </p:nvSpPr>
        <p:spPr>
          <a:xfrm>
            <a:off x="9820800" y="2670120"/>
            <a:ext cx="1782720" cy="511560"/>
          </a:xfrm>
          <a:prstGeom prst="roundRect">
            <a:avLst>
              <a:gd name="adj" fmla="val 16667"/>
            </a:avLst>
          </a:prstGeom>
          <a:solidFill>
            <a:srgbClr val="FDF3EA"/>
          </a:solidFill>
          <a:ln w="8890">
            <a:solidFill>
              <a:srgbClr val="F0D7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58"/>
          <p:cNvSpPr/>
          <p:nvPr/>
        </p:nvSpPr>
        <p:spPr>
          <a:xfrm>
            <a:off x="9948600" y="2761560"/>
            <a:ext cx="15084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B54708"/>
                </a:solidFill>
                <a:effectLst/>
                <a:uFillTx/>
                <a:latin typeface="Consolas"/>
              </a:rPr>
              <a:t>SAFER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59"/>
          <p:cNvSpPr/>
          <p:nvPr/>
        </p:nvSpPr>
        <p:spPr>
          <a:xfrm>
            <a:off x="9948600" y="2962800"/>
            <a:ext cx="150840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58667A"/>
                </a:solidFill>
                <a:effectLst/>
                <a:uFillTx/>
                <a:latin typeface="Aptos"/>
              </a:rPr>
              <a:t>fraud-aware review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60"/>
          <p:cNvSpPr/>
          <p:nvPr/>
        </p:nvSpPr>
        <p:spPr>
          <a:xfrm>
            <a:off x="9820800" y="3374280"/>
            <a:ext cx="1782720" cy="511560"/>
          </a:xfrm>
          <a:prstGeom prst="roundRect">
            <a:avLst>
              <a:gd name="adj" fmla="val 16667"/>
            </a:avLst>
          </a:prstGeom>
          <a:solidFill>
            <a:srgbClr val="FDF3EA"/>
          </a:solidFill>
          <a:ln w="8890">
            <a:solidFill>
              <a:srgbClr val="F0D7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61"/>
          <p:cNvSpPr/>
          <p:nvPr/>
        </p:nvSpPr>
        <p:spPr>
          <a:xfrm>
            <a:off x="9948600" y="3465720"/>
            <a:ext cx="15084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B54708"/>
                </a:solidFill>
                <a:effectLst/>
                <a:uFillTx/>
                <a:latin typeface="Consolas"/>
              </a:rPr>
              <a:t>EARLIER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62"/>
          <p:cNvSpPr/>
          <p:nvPr/>
        </p:nvSpPr>
        <p:spPr>
          <a:xfrm>
            <a:off x="9948600" y="3666600"/>
            <a:ext cx="150840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58667A"/>
                </a:solidFill>
                <a:effectLst/>
                <a:uFillTx/>
                <a:latin typeface="Aptos"/>
              </a:rPr>
              <a:t>risk intervention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63"/>
          <p:cNvSpPr/>
          <p:nvPr/>
        </p:nvSpPr>
        <p:spPr>
          <a:xfrm>
            <a:off x="521280" y="4645080"/>
            <a:ext cx="11082240" cy="1206720"/>
          </a:xfrm>
          <a:prstGeom prst="roundRect">
            <a:avLst>
              <a:gd name="adj" fmla="val 16667"/>
            </a:avLst>
          </a:prstGeom>
          <a:solidFill>
            <a:srgbClr val="EEF4FA"/>
          </a:solidFill>
          <a:ln w="8890">
            <a:solidFill>
              <a:srgbClr val="C4D8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64"/>
          <p:cNvSpPr/>
          <p:nvPr/>
        </p:nvSpPr>
        <p:spPr>
          <a:xfrm>
            <a:off x="768240" y="4855320"/>
            <a:ext cx="4114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166A3"/>
                </a:solidFill>
                <a:effectLst/>
                <a:uFillTx/>
                <a:latin typeface="Consolas"/>
              </a:rPr>
              <a:t>BUILT, MEASURED, AND DESIGNED FOR GOVERNANCE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65"/>
          <p:cNvSpPr/>
          <p:nvPr/>
        </p:nvSpPr>
        <p:spPr>
          <a:xfrm>
            <a:off x="777240" y="5184720"/>
            <a:ext cx="776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A3A68"/>
                </a:solidFill>
                <a:effectLst/>
                <a:uFillTx/>
                <a:latin typeface="Georgia"/>
              </a:rPr>
              <a:t>19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66"/>
          <p:cNvSpPr/>
          <p:nvPr/>
        </p:nvSpPr>
        <p:spPr>
          <a:xfrm>
            <a:off x="1618560" y="5239440"/>
            <a:ext cx="1572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58667A"/>
                </a:solidFill>
                <a:effectLst/>
                <a:uFillTx/>
                <a:latin typeface="Aptos"/>
              </a:rPr>
              <a:t>models across 4 families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67"/>
          <p:cNvSpPr/>
          <p:nvPr/>
        </p:nvSpPr>
        <p:spPr>
          <a:xfrm>
            <a:off x="3429000" y="5184720"/>
            <a:ext cx="776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67647"/>
                </a:solidFill>
                <a:effectLst/>
                <a:uFillTx/>
                <a:latin typeface="Georgia"/>
              </a:rPr>
              <a:t>590K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68"/>
          <p:cNvSpPr/>
          <p:nvPr/>
        </p:nvSpPr>
        <p:spPr>
          <a:xfrm>
            <a:off x="4270320" y="5239440"/>
            <a:ext cx="1572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58667A"/>
                </a:solidFill>
                <a:effectLst/>
                <a:uFillTx/>
                <a:latin typeface="Aptos"/>
              </a:rPr>
              <a:t>fraud transactions · 0.9564 AUC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69"/>
          <p:cNvSpPr/>
          <p:nvPr/>
        </p:nvSpPr>
        <p:spPr>
          <a:xfrm>
            <a:off x="6080760" y="5184720"/>
            <a:ext cx="776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A3A68"/>
                </a:solidFill>
                <a:effectLst/>
                <a:uFillTx/>
                <a:latin typeface="Georgia"/>
              </a:rPr>
              <a:t>307K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70"/>
          <p:cNvSpPr/>
          <p:nvPr/>
        </p:nvSpPr>
        <p:spPr>
          <a:xfrm>
            <a:off x="6922080" y="5239440"/>
            <a:ext cx="1572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58667A"/>
                </a:solidFill>
                <a:effectLst/>
                <a:uFillTx/>
                <a:latin typeface="Aptos"/>
              </a:rPr>
              <a:t>loan applications for credit scoring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71"/>
          <p:cNvSpPr/>
          <p:nvPr/>
        </p:nvSpPr>
        <p:spPr>
          <a:xfrm>
            <a:off x="8732520" y="5184720"/>
            <a:ext cx="776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A3A68"/>
                </a:solidFill>
                <a:effectLst/>
                <a:uFillTx/>
                <a:latin typeface="Georgia"/>
              </a:rPr>
              <a:t>365d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72"/>
          <p:cNvSpPr/>
          <p:nvPr/>
        </p:nvSpPr>
        <p:spPr>
          <a:xfrm>
            <a:off x="9573840" y="5239440"/>
            <a:ext cx="1572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58667A"/>
                </a:solidFill>
                <a:effectLst/>
                <a:uFillTx/>
                <a:latin typeface="Aptos"/>
              </a:rPr>
              <a:t>median EWS lead time at p95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0" name="Connector 73"/>
          <p:cNvCxnSpPr/>
          <p:nvPr/>
        </p:nvCxnSpPr>
        <p:spPr>
          <a:xfrm>
            <a:off x="438840" y="6327360"/>
            <a:ext cx="11311560" cy="360"/>
          </a:xfrm>
          <a:prstGeom prst="straightConnector1">
            <a:avLst/>
          </a:prstGeom>
          <a:ln w="8890">
            <a:solidFill>
              <a:srgbClr val="DBE3EC"/>
            </a:solidFill>
            <a:round/>
          </a:ln>
        </p:spPr>
      </p:cxnSp>
      <p:sp>
        <p:nvSpPr>
          <p:cNvPr id="181" name="TextBox 74"/>
          <p:cNvSpPr/>
          <p:nvPr/>
        </p:nvSpPr>
        <p:spPr>
          <a:xfrm>
            <a:off x="457200" y="6446520"/>
            <a:ext cx="384012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30" b="0" u="none" strike="noStrike">
                <a:solidFill>
                  <a:srgbClr val="58667A"/>
                </a:solidFill>
                <a:effectLst/>
                <a:uFillTx/>
                <a:latin typeface="Consolas"/>
              </a:rPr>
              <a:t>TEAM: &lt;MEMBER 1 NAME&gt;  •  &lt;MEMBER 2 NAME&gt;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75"/>
          <p:cNvSpPr/>
          <p:nvPr/>
        </p:nvSpPr>
        <p:spPr>
          <a:xfrm>
            <a:off x="4343400" y="6446520"/>
            <a:ext cx="3245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30" b="0" u="none" strike="noStrike">
                <a:solidFill>
                  <a:srgbClr val="2166A3"/>
                </a:solidFill>
                <a:effectLst/>
                <a:uFillTx/>
                <a:latin typeface="Consolas"/>
              </a:rPr>
              <a:t>GITHUB: &lt;PASTE REPOSITORY URL&gt;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76"/>
          <p:cNvSpPr/>
          <p:nvPr/>
        </p:nvSpPr>
        <p:spPr>
          <a:xfrm>
            <a:off x="7635240" y="6446520"/>
            <a:ext cx="3520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30" b="0" u="none" strike="noStrike">
                <a:solidFill>
                  <a:srgbClr val="2166A3"/>
                </a:solidFill>
                <a:effectLst/>
                <a:uFillTx/>
                <a:latin typeface="Consolas"/>
              </a:rPr>
              <a:t>YOUTUBE DEMO: &lt;PASTE VIDEO URL&gt;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77"/>
          <p:cNvSpPr/>
          <p:nvPr/>
        </p:nvSpPr>
        <p:spPr>
          <a:xfrm>
            <a:off x="11292840" y="641916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8667A"/>
                </a:solidFill>
                <a:effectLst/>
                <a:uFillTx/>
                <a:latin typeface="Consola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LibreOffice/26.2.5.2$Linux_X86_64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2026-09-06T21:37:55Z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